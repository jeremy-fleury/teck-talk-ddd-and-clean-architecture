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2"/>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316"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43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49"/>
    <p:restoredTop sz="94610"/>
  </p:normalViewPr>
  <p:slideViewPr>
    <p:cSldViewPr snapToGrid="0" snapToObjects="1">
      <p:cViewPr varScale="1">
        <p:scale>
          <a:sx n="215" d="100"/>
          <a:sy n="215" d="100"/>
        </p:scale>
        <p:origin x="39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9110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732F7-7DF3-AEAC-8410-64035B5428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CDDA0E-8590-CABA-6BEF-3DE8D01071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523801-FDEA-6705-D7A3-29428EBE1E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47AA92-3C27-BE62-A40A-A5A15DA14CB2}"/>
              </a:ext>
            </a:extLst>
          </p:cNvPr>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4702590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5AC8D-824C-F171-AEB2-D8029134E0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9394D7-BB8B-87E4-6B0C-A36914B93F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1D74B4-5C3B-6225-7BE3-1D45DB42C8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79468E-6B7F-0055-6AA9-308911A840CC}"/>
              </a:ext>
            </a:extLst>
          </p:cNvPr>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299261490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A43BB-A8B9-D796-7804-0A5C3A6CFD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B04097-656D-0408-6D85-BCB1291358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8B9E44-AA25-D9D3-5E71-9068EE38F6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C3DADE-4866-5AD9-CB53-E955E1CFAC0C}"/>
              </a:ext>
            </a:extLst>
          </p:cNvPr>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3177989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1097280"/>
            <a:ext cx="9144000" cy="1280160"/>
          </a:xfrm>
          <a:prstGeom prst="rect">
            <a:avLst/>
          </a:prstGeom>
          <a:noFill/>
          <a:ln/>
        </p:spPr>
        <p:txBody>
          <a:bodyPr wrap="square" rtlCol="0" anchor="ctr"/>
          <a:lstStyle/>
          <a:p>
            <a:pPr marL="0" indent="0" algn="ctr">
              <a:buNone/>
            </a:pPr>
            <a:r>
              <a:rPr lang="en-US" sz="6000" b="1" kern="0" spc="1000" dirty="0">
                <a:solidFill>
                  <a:srgbClr val="FFFFFF"/>
                </a:solidFill>
                <a:latin typeface="Calibri" pitchFamily="34" charset="0"/>
                <a:ea typeface="Calibri" pitchFamily="34" charset="-122"/>
                <a:cs typeface="Calibri" pitchFamily="34" charset="-120"/>
              </a:rPr>
              <a:t>TECK TALK</a:t>
            </a:r>
            <a:endParaRPr lang="en-US" sz="6000" dirty="0"/>
          </a:p>
        </p:txBody>
      </p:sp>
      <p:sp>
        <p:nvSpPr>
          <p:cNvPr id="3" name="Shape 1"/>
          <p:cNvSpPr/>
          <p:nvPr/>
        </p:nvSpPr>
        <p:spPr>
          <a:xfrm>
            <a:off x="2743200" y="2377440"/>
            <a:ext cx="3657600" cy="27432"/>
          </a:xfrm>
          <a:prstGeom prst="rect">
            <a:avLst/>
          </a:prstGeom>
          <a:solidFill>
            <a:srgbClr val="1E90FF"/>
          </a:solidFill>
          <a:ln/>
        </p:spPr>
        <p:txBody>
          <a:bodyPr/>
          <a:lstStyle/>
          <a:p>
            <a:endParaRPr lang="en-US"/>
          </a:p>
        </p:txBody>
      </p:sp>
      <p:sp>
        <p:nvSpPr>
          <p:cNvPr id="4" name="Text 2"/>
          <p:cNvSpPr/>
          <p:nvPr/>
        </p:nvSpPr>
        <p:spPr>
          <a:xfrm>
            <a:off x="457200" y="2651760"/>
            <a:ext cx="8229600" cy="731520"/>
          </a:xfrm>
          <a:prstGeom prst="rect">
            <a:avLst/>
          </a:prstGeom>
          <a:noFill/>
          <a:ln/>
        </p:spPr>
        <p:txBody>
          <a:bodyPr wrap="square" rtlCol="0" anchor="ctr"/>
          <a:lstStyle/>
          <a:p>
            <a:pPr marL="0" indent="0" algn="ctr">
              <a:buNone/>
            </a:pPr>
            <a:r>
              <a:rPr lang="en-US" sz="2200" dirty="0">
                <a:solidFill>
                  <a:srgbClr val="00BFFF"/>
                </a:solidFill>
                <a:latin typeface="Calibri" pitchFamily="34" charset="0"/>
                <a:ea typeface="Calibri" pitchFamily="34" charset="-122"/>
                <a:cs typeface="Calibri" pitchFamily="34" charset="-120"/>
              </a:rPr>
              <a:t>Initiation au DDD et à la Clean Architecture</a:t>
            </a:r>
            <a:endParaRPr lang="en-US" sz="2200" dirty="0"/>
          </a:p>
        </p:txBody>
      </p:sp>
      <p:sp>
        <p:nvSpPr>
          <p:cNvPr id="5" name="Text 3"/>
          <p:cNvSpPr/>
          <p:nvPr/>
        </p:nvSpPr>
        <p:spPr>
          <a:xfrm>
            <a:off x="0" y="3474720"/>
            <a:ext cx="9144000" cy="457200"/>
          </a:xfrm>
          <a:prstGeom prst="rect">
            <a:avLst/>
          </a:prstGeom>
          <a:noFill/>
          <a:ln/>
        </p:spPr>
        <p:txBody>
          <a:bodyPr wrap="square" rtlCol="0" anchor="ctr"/>
          <a:lstStyle/>
          <a:p>
            <a:pPr marL="0" indent="0" algn="ctr">
              <a:buNone/>
            </a:pPr>
            <a:r>
              <a:rPr lang="en-US" sz="1600" dirty="0">
                <a:solidFill>
                  <a:srgbClr val="8B99B8"/>
                </a:solidFill>
                <a:latin typeface="Calibri" pitchFamily="34" charset="0"/>
                <a:ea typeface="Calibri" pitchFamily="34" charset="-122"/>
                <a:cs typeface="Calibri" pitchFamily="34" charset="-120"/>
              </a:rPr>
              <a:t>Partie 1</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1371600"/>
            <a:ext cx="9144000" cy="1097280"/>
          </a:xfrm>
          <a:prstGeom prst="rect">
            <a:avLst/>
          </a:prstGeom>
          <a:noFill/>
          <a:ln/>
        </p:spPr>
        <p:txBody>
          <a:bodyPr wrap="square" rtlCol="0" anchor="ctr"/>
          <a:lstStyle/>
          <a:p>
            <a:pPr marL="0" indent="0" algn="ctr">
              <a:buNone/>
            </a:pPr>
            <a:r>
              <a:rPr lang="en-US" sz="6000" b="1" kern="0" spc="800" dirty="0">
                <a:solidFill>
                  <a:srgbClr val="FFFFFF"/>
                </a:solidFill>
                <a:latin typeface="Calibri" pitchFamily="34" charset="0"/>
                <a:ea typeface="Calibri" pitchFamily="34" charset="-122"/>
                <a:cs typeface="Calibri" pitchFamily="34" charset="-120"/>
              </a:rPr>
              <a:t>BLOC 1</a:t>
            </a:r>
            <a:endParaRPr lang="en-US" sz="6000" dirty="0"/>
          </a:p>
        </p:txBody>
      </p:sp>
      <p:sp>
        <p:nvSpPr>
          <p:cNvPr id="3" name="Text 1"/>
          <p:cNvSpPr/>
          <p:nvPr/>
        </p:nvSpPr>
        <p:spPr>
          <a:xfrm>
            <a:off x="914400" y="2560320"/>
            <a:ext cx="7315200" cy="731520"/>
          </a:xfrm>
          <a:prstGeom prst="rect">
            <a:avLst/>
          </a:prstGeom>
          <a:noFill/>
          <a:ln/>
        </p:spPr>
        <p:txBody>
          <a:bodyPr wrap="square" rtlCol="0" anchor="ctr"/>
          <a:lstStyle/>
          <a:p>
            <a:pPr marL="0" indent="0" algn="ctr">
              <a:buNone/>
            </a:pPr>
            <a:r>
              <a:rPr lang="en-US" sz="2400" dirty="0">
                <a:solidFill>
                  <a:srgbClr val="00BFFF"/>
                </a:solidFill>
                <a:latin typeface="Calibri" pitchFamily="34" charset="0"/>
                <a:ea typeface="Calibri" pitchFamily="34" charset="-122"/>
                <a:cs typeface="Calibri" pitchFamily="34" charset="-120"/>
              </a:rPr>
              <a:t>Le constat</a:t>
            </a:r>
            <a:endParaRPr lang="en-US" sz="2400" dirty="0"/>
          </a:p>
        </p:txBody>
      </p:sp>
      <p:sp>
        <p:nvSpPr>
          <p:cNvPr id="4" name="Shape 2"/>
          <p:cNvSpPr/>
          <p:nvPr/>
        </p:nvSpPr>
        <p:spPr>
          <a:xfrm>
            <a:off x="3200400" y="3474720"/>
            <a:ext cx="2743200" cy="27432"/>
          </a:xfrm>
          <a:prstGeom prst="rect">
            <a:avLst/>
          </a:prstGeom>
          <a:solidFill>
            <a:srgbClr val="1E90FF">
              <a:alpha val="60000"/>
            </a:srgbClr>
          </a:solidFill>
          <a:ln/>
        </p:spPr>
        <p:txBody>
          <a:bodyPr/>
          <a:lstStyle/>
          <a:p>
            <a:endParaRPr lang="en-US"/>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6"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3</a:t>
            </a:r>
            <a:endParaRPr lang="en-US" sz="900" dirty="0"/>
          </a:p>
        </p:txBody>
      </p:sp>
      <p:pic>
        <p:nvPicPr>
          <p:cNvPr id="8" name="Picture 7" descr="A screen shot of a computer program&#10;&#10;AI-generated content may be incorrect.">
            <a:extLst>
              <a:ext uri="{FF2B5EF4-FFF2-40B4-BE49-F238E27FC236}">
                <a16:creationId xmlns:a16="http://schemas.microsoft.com/office/drawing/2014/main" id="{B8C59A14-DFCB-1A3C-D7BC-F74489509EA9}"/>
              </a:ext>
            </a:extLst>
          </p:cNvPr>
          <p:cNvPicPr>
            <a:picLocks noChangeAspect="1"/>
          </p:cNvPicPr>
          <p:nvPr/>
        </p:nvPicPr>
        <p:blipFill>
          <a:blip r:embed="rId4"/>
          <a:stretch>
            <a:fillRect/>
          </a:stretch>
        </p:blipFill>
        <p:spPr>
          <a:xfrm>
            <a:off x="1962995" y="228600"/>
            <a:ext cx="5218010" cy="46634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Ce qu'on constate ensemble</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5</a:t>
            </a:r>
            <a:endParaRPr lang="en-US" sz="900" dirty="0"/>
          </a:p>
        </p:txBody>
      </p:sp>
      <p:sp>
        <p:nvSpPr>
          <p:cNvPr id="6" name="Text 4"/>
          <p:cNvSpPr/>
          <p:nvPr/>
        </p:nvSpPr>
        <p:spPr>
          <a:xfrm>
            <a:off x="548640" y="1005840"/>
            <a:ext cx="8046720" cy="365760"/>
          </a:xfrm>
          <a:prstGeom prst="rect">
            <a:avLst/>
          </a:prstGeom>
          <a:noFill/>
          <a:ln/>
        </p:spPr>
        <p:txBody>
          <a:bodyPr wrap="square" rtlCol="0" anchor="ctr"/>
          <a:lstStyle/>
          <a:p>
            <a:pPr marL="0" indent="0">
              <a:buNone/>
            </a:pPr>
            <a:r>
              <a:rPr lang="en-US" sz="1400" b="1" dirty="0">
                <a:solidFill>
                  <a:schemeClr val="bg1"/>
                </a:solidFill>
                <a:latin typeface="Calibri" pitchFamily="34" charset="0"/>
                <a:ea typeface="Calibri" pitchFamily="34" charset="-122"/>
                <a:cs typeface="Calibri" pitchFamily="34" charset="-120"/>
              </a:rPr>
              <a:t>Ce code a 5 </a:t>
            </a:r>
            <a:r>
              <a:rPr lang="en-US" sz="1400" b="1" dirty="0" err="1">
                <a:solidFill>
                  <a:schemeClr val="bg1"/>
                </a:solidFill>
                <a:latin typeface="Calibri" pitchFamily="34" charset="0"/>
                <a:ea typeface="Calibri" pitchFamily="34" charset="-122"/>
                <a:cs typeface="Calibri" pitchFamily="34" charset="-120"/>
              </a:rPr>
              <a:t>problèmes</a:t>
            </a:r>
            <a:r>
              <a:rPr lang="en-US" sz="1400" b="1" dirty="0">
                <a:solidFill>
                  <a:schemeClr val="bg1"/>
                </a:solidFill>
                <a:latin typeface="Calibri" pitchFamily="34" charset="0"/>
                <a:ea typeface="Calibri" pitchFamily="34" charset="-122"/>
                <a:cs typeface="Calibri" pitchFamily="34" charset="-120"/>
              </a:rPr>
              <a:t> :</a:t>
            </a:r>
            <a:endParaRPr lang="en-US" sz="1400" dirty="0">
              <a:solidFill>
                <a:schemeClr val="bg1"/>
              </a:solidFill>
            </a:endParaRPr>
          </a:p>
        </p:txBody>
      </p:sp>
      <p:sp>
        <p:nvSpPr>
          <p:cNvPr id="7" name="Shape 5"/>
          <p:cNvSpPr/>
          <p:nvPr/>
        </p:nvSpPr>
        <p:spPr>
          <a:xfrm>
            <a:off x="548640" y="1463040"/>
            <a:ext cx="8046720" cy="621792"/>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8" name="Shape 6"/>
          <p:cNvSpPr/>
          <p:nvPr/>
        </p:nvSpPr>
        <p:spPr>
          <a:xfrm>
            <a:off x="685800" y="1627632"/>
            <a:ext cx="292608" cy="292608"/>
          </a:xfrm>
          <a:prstGeom prst="ellipse">
            <a:avLst/>
          </a:prstGeom>
          <a:solidFill>
            <a:srgbClr val="1E90FF">
              <a:alpha val="80000"/>
            </a:srgbClr>
          </a:solidFill>
          <a:ln/>
        </p:spPr>
        <p:txBody>
          <a:bodyPr/>
          <a:lstStyle/>
          <a:p>
            <a:endParaRPr lang="en-US"/>
          </a:p>
        </p:txBody>
      </p:sp>
      <p:sp>
        <p:nvSpPr>
          <p:cNvPr id="9" name="Text 7"/>
          <p:cNvSpPr/>
          <p:nvPr/>
        </p:nvSpPr>
        <p:spPr>
          <a:xfrm>
            <a:off x="685800" y="1627632"/>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1097280" y="1517904"/>
            <a:ext cx="7406640" cy="512064"/>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Logique métier dans le service</a:t>
            </a:r>
            <a:endParaRPr lang="en-US" sz="1300" dirty="0"/>
          </a:p>
          <a:p>
            <a:pPr marL="0" indent="0">
              <a:buNone/>
            </a:pPr>
            <a:r>
              <a:rPr lang="en-US" sz="1100" dirty="0">
                <a:solidFill>
                  <a:srgbClr val="8B99B8"/>
                </a:solidFill>
                <a:latin typeface="Calibri" pitchFamily="34" charset="0"/>
                <a:ea typeface="Calibri" pitchFamily="34" charset="-122"/>
                <a:cs typeface="Calibri" pitchFamily="34" charset="-120"/>
              </a:rPr>
              <a:t>Les règles de validation, le calcul du total, la vérification du statut… tout est mélangé avec l'accès à la base.</a:t>
            </a:r>
            <a:endParaRPr lang="en-US" sz="1300" dirty="0"/>
          </a:p>
        </p:txBody>
      </p:sp>
      <p:sp>
        <p:nvSpPr>
          <p:cNvPr id="11" name="Shape 9"/>
          <p:cNvSpPr/>
          <p:nvPr/>
        </p:nvSpPr>
        <p:spPr>
          <a:xfrm>
            <a:off x="548640" y="2176272"/>
            <a:ext cx="8046720" cy="621792"/>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2" name="Shape 10"/>
          <p:cNvSpPr/>
          <p:nvPr/>
        </p:nvSpPr>
        <p:spPr>
          <a:xfrm>
            <a:off x="685800" y="2340864"/>
            <a:ext cx="292608" cy="292608"/>
          </a:xfrm>
          <a:prstGeom prst="ellipse">
            <a:avLst/>
          </a:prstGeom>
          <a:solidFill>
            <a:srgbClr val="1E90FF">
              <a:alpha val="80000"/>
            </a:srgbClr>
          </a:solidFill>
          <a:ln/>
        </p:spPr>
        <p:txBody>
          <a:bodyPr/>
          <a:lstStyle/>
          <a:p>
            <a:endParaRPr lang="en-US"/>
          </a:p>
        </p:txBody>
      </p:sp>
      <p:sp>
        <p:nvSpPr>
          <p:cNvPr id="13" name="Text 11"/>
          <p:cNvSpPr/>
          <p:nvPr/>
        </p:nvSpPr>
        <p:spPr>
          <a:xfrm>
            <a:off x="685800" y="2340864"/>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1097280" y="2231136"/>
            <a:ext cx="7406640" cy="512064"/>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Objet order sans comportement</a:t>
            </a:r>
            <a:endParaRPr lang="en-US" sz="1300" dirty="0"/>
          </a:p>
          <a:p>
            <a:pPr marL="0" indent="0">
              <a:buNone/>
            </a:pPr>
            <a:r>
              <a:rPr lang="en-US" sz="1100" dirty="0">
                <a:solidFill>
                  <a:srgbClr val="8B99B8"/>
                </a:solidFill>
                <a:latin typeface="Calibri" pitchFamily="34" charset="0"/>
                <a:ea typeface="Calibri" pitchFamily="34" charset="-122"/>
                <a:cs typeface="Calibri" pitchFamily="34" charset="-120"/>
              </a:rPr>
              <a:t>C'est un objet brut retourné par la DB. Il a des propriétés, mais il ne "</a:t>
            </a:r>
            <a:r>
              <a:rPr lang="en-US" sz="1100" dirty="0" err="1">
                <a:solidFill>
                  <a:srgbClr val="8B99B8"/>
                </a:solidFill>
                <a:latin typeface="Calibri" pitchFamily="34" charset="0"/>
                <a:ea typeface="Calibri" pitchFamily="34" charset="-122"/>
                <a:cs typeface="Calibri" pitchFamily="34" charset="-120"/>
              </a:rPr>
              <a:t>sait</a:t>
            </a:r>
            <a:r>
              <a:rPr lang="en-US" sz="1100" dirty="0">
                <a:solidFill>
                  <a:srgbClr val="8B99B8"/>
                </a:solidFill>
                <a:latin typeface="Calibri" pitchFamily="34" charset="0"/>
                <a:ea typeface="Calibri" pitchFamily="34" charset="-122"/>
                <a:cs typeface="Calibri" pitchFamily="34" charset="-120"/>
              </a:rPr>
              <a:t>" rien faire. On appelle ça un </a:t>
            </a:r>
            <a:r>
              <a:rPr lang="en-US" sz="1100" dirty="0">
                <a:solidFill>
                  <a:schemeClr val="bg1"/>
                </a:solidFill>
                <a:latin typeface="Calibri" pitchFamily="34" charset="0"/>
                <a:ea typeface="Calibri" pitchFamily="34" charset="-122"/>
                <a:cs typeface="Calibri" pitchFamily="34" charset="-120"/>
              </a:rPr>
              <a:t>modèle anémique</a:t>
            </a:r>
            <a:r>
              <a:rPr lang="en-US" sz="1100" dirty="0">
                <a:solidFill>
                  <a:srgbClr val="8B99B8"/>
                </a:solidFill>
                <a:latin typeface="Calibri" pitchFamily="34" charset="0"/>
                <a:ea typeface="Calibri" pitchFamily="34" charset="-122"/>
                <a:cs typeface="Calibri" pitchFamily="34" charset="-120"/>
              </a:rPr>
              <a:t>.</a:t>
            </a:r>
            <a:endParaRPr lang="en-US" sz="1300" dirty="0"/>
          </a:p>
        </p:txBody>
      </p:sp>
      <p:sp>
        <p:nvSpPr>
          <p:cNvPr id="15" name="Shape 13"/>
          <p:cNvSpPr/>
          <p:nvPr/>
        </p:nvSpPr>
        <p:spPr>
          <a:xfrm>
            <a:off x="548640" y="2889504"/>
            <a:ext cx="8046720" cy="621792"/>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6" name="Shape 14"/>
          <p:cNvSpPr/>
          <p:nvPr/>
        </p:nvSpPr>
        <p:spPr>
          <a:xfrm>
            <a:off x="685800" y="3054096"/>
            <a:ext cx="292608" cy="292608"/>
          </a:xfrm>
          <a:prstGeom prst="ellipse">
            <a:avLst/>
          </a:prstGeom>
          <a:solidFill>
            <a:srgbClr val="1E90FF">
              <a:alpha val="80000"/>
            </a:srgbClr>
          </a:solidFill>
          <a:ln/>
        </p:spPr>
        <p:txBody>
          <a:bodyPr/>
          <a:lstStyle/>
          <a:p>
            <a:endParaRPr lang="en-US"/>
          </a:p>
        </p:txBody>
      </p:sp>
      <p:sp>
        <p:nvSpPr>
          <p:cNvPr id="17" name="Text 15"/>
          <p:cNvSpPr/>
          <p:nvPr/>
        </p:nvSpPr>
        <p:spPr>
          <a:xfrm>
            <a:off x="685800" y="3054096"/>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1097280" y="2944368"/>
            <a:ext cx="7406640" cy="512064"/>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Impossible de tester unitairement</a:t>
            </a:r>
            <a:endParaRPr lang="en-US" sz="1300" dirty="0"/>
          </a:p>
          <a:p>
            <a:pPr marL="0" indent="0">
              <a:buNone/>
            </a:pPr>
            <a:r>
              <a:rPr lang="en-US" sz="1100" dirty="0">
                <a:solidFill>
                  <a:srgbClr val="8B99B8"/>
                </a:solidFill>
                <a:latin typeface="Calibri" pitchFamily="34" charset="0"/>
                <a:ea typeface="Calibri" pitchFamily="34" charset="-122"/>
                <a:cs typeface="Calibri" pitchFamily="34" charset="-120"/>
              </a:rPr>
              <a:t>Pour vérifier une règle métier, on doit instancier toute l'infrastructure.</a:t>
            </a:r>
            <a:endParaRPr lang="en-US" sz="1300" dirty="0"/>
          </a:p>
        </p:txBody>
      </p:sp>
      <p:sp>
        <p:nvSpPr>
          <p:cNvPr id="19" name="Shape 17"/>
          <p:cNvSpPr/>
          <p:nvPr/>
        </p:nvSpPr>
        <p:spPr>
          <a:xfrm>
            <a:off x="548640" y="3602736"/>
            <a:ext cx="8046720" cy="621792"/>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20" name="Shape 18"/>
          <p:cNvSpPr/>
          <p:nvPr/>
        </p:nvSpPr>
        <p:spPr>
          <a:xfrm>
            <a:off x="685800" y="3767328"/>
            <a:ext cx="292608" cy="292608"/>
          </a:xfrm>
          <a:prstGeom prst="ellipse">
            <a:avLst/>
          </a:prstGeom>
          <a:solidFill>
            <a:srgbClr val="1E90FF">
              <a:alpha val="80000"/>
            </a:srgbClr>
          </a:solidFill>
          <a:ln/>
        </p:spPr>
        <p:txBody>
          <a:bodyPr/>
          <a:lstStyle/>
          <a:p>
            <a:endParaRPr lang="en-US"/>
          </a:p>
        </p:txBody>
      </p:sp>
      <p:sp>
        <p:nvSpPr>
          <p:cNvPr id="21" name="Text 19"/>
          <p:cNvSpPr/>
          <p:nvPr/>
        </p:nvSpPr>
        <p:spPr>
          <a:xfrm>
            <a:off x="685800" y="3767328"/>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p:nvPr/>
        </p:nvSpPr>
        <p:spPr>
          <a:xfrm>
            <a:off x="1097280" y="3657600"/>
            <a:ext cx="7406640" cy="512064"/>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Couplage ORM ↔ métier</a:t>
            </a:r>
            <a:endParaRPr lang="en-US" sz="1300" dirty="0"/>
          </a:p>
          <a:p>
            <a:pPr marL="0" indent="0">
              <a:buNone/>
            </a:pPr>
            <a:r>
              <a:rPr lang="en-US" sz="1100" dirty="0">
                <a:solidFill>
                  <a:srgbClr val="8B99B8"/>
                </a:solidFill>
                <a:latin typeface="Calibri" pitchFamily="34" charset="0"/>
                <a:ea typeface="Calibri" pitchFamily="34" charset="-122"/>
                <a:cs typeface="Calibri" pitchFamily="34" charset="-120"/>
              </a:rPr>
              <a:t>Changer de base ou d'ORM impose de réécrire la logique métier.</a:t>
            </a:r>
            <a:endParaRPr lang="en-US" sz="1300" dirty="0"/>
          </a:p>
        </p:txBody>
      </p:sp>
      <p:sp>
        <p:nvSpPr>
          <p:cNvPr id="23" name="Shape 21"/>
          <p:cNvSpPr/>
          <p:nvPr/>
        </p:nvSpPr>
        <p:spPr>
          <a:xfrm>
            <a:off x="548640" y="4315968"/>
            <a:ext cx="8046720" cy="621792"/>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24" name="Shape 22"/>
          <p:cNvSpPr/>
          <p:nvPr/>
        </p:nvSpPr>
        <p:spPr>
          <a:xfrm>
            <a:off x="685800" y="4480560"/>
            <a:ext cx="292608" cy="292608"/>
          </a:xfrm>
          <a:prstGeom prst="ellipse">
            <a:avLst/>
          </a:prstGeom>
          <a:solidFill>
            <a:srgbClr val="1E90FF">
              <a:alpha val="80000"/>
            </a:srgbClr>
          </a:solidFill>
          <a:ln/>
        </p:spPr>
        <p:txBody>
          <a:bodyPr/>
          <a:lstStyle/>
          <a:p>
            <a:endParaRPr lang="en-US"/>
          </a:p>
        </p:txBody>
      </p:sp>
      <p:sp>
        <p:nvSpPr>
          <p:cNvPr id="25" name="Text 23"/>
          <p:cNvSpPr/>
          <p:nvPr/>
        </p:nvSpPr>
        <p:spPr>
          <a:xfrm>
            <a:off x="685800" y="4480560"/>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6" name="Text 24"/>
          <p:cNvSpPr/>
          <p:nvPr/>
        </p:nvSpPr>
        <p:spPr>
          <a:xfrm>
            <a:off x="1097280" y="4370832"/>
            <a:ext cx="7406640" cy="512064"/>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Duplication inévitable</a:t>
            </a:r>
            <a:endParaRPr lang="en-US" sz="1300" dirty="0"/>
          </a:p>
          <a:p>
            <a:pPr marL="0" indent="0">
              <a:buNone/>
            </a:pPr>
            <a:r>
              <a:rPr lang="en-US" sz="1100" dirty="0">
                <a:solidFill>
                  <a:srgbClr val="8B99B8"/>
                </a:solidFill>
                <a:latin typeface="Calibri" pitchFamily="34" charset="0"/>
                <a:ea typeface="Calibri" pitchFamily="34" charset="-122"/>
                <a:cs typeface="Calibri" pitchFamily="34" charset="-120"/>
              </a:rPr>
              <a:t>Chaque nouveau endpoint qui touche aux commandes va redécouvrir et ré-implémenter les mêmes règles.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1371600"/>
            <a:ext cx="9144000" cy="1097280"/>
          </a:xfrm>
          <a:prstGeom prst="rect">
            <a:avLst/>
          </a:prstGeom>
          <a:noFill/>
          <a:ln/>
        </p:spPr>
        <p:txBody>
          <a:bodyPr wrap="square" rtlCol="0" anchor="ctr"/>
          <a:lstStyle/>
          <a:p>
            <a:pPr marL="0" indent="0" algn="ctr">
              <a:buNone/>
            </a:pPr>
            <a:r>
              <a:rPr lang="en-US" sz="6000" b="1" kern="0" spc="800" dirty="0">
                <a:solidFill>
                  <a:srgbClr val="FFFFFF"/>
                </a:solidFill>
                <a:latin typeface="Calibri" pitchFamily="34" charset="0"/>
                <a:ea typeface="Calibri" pitchFamily="34" charset="-122"/>
                <a:cs typeface="Calibri" pitchFamily="34" charset="-120"/>
              </a:rPr>
              <a:t>BLOC 2</a:t>
            </a:r>
            <a:endParaRPr lang="en-US" sz="6000" dirty="0"/>
          </a:p>
        </p:txBody>
      </p:sp>
      <p:sp>
        <p:nvSpPr>
          <p:cNvPr id="3" name="Text 1"/>
          <p:cNvSpPr/>
          <p:nvPr/>
        </p:nvSpPr>
        <p:spPr>
          <a:xfrm>
            <a:off x="914400" y="2560320"/>
            <a:ext cx="7315200" cy="731520"/>
          </a:xfrm>
          <a:prstGeom prst="rect">
            <a:avLst/>
          </a:prstGeom>
          <a:noFill/>
          <a:ln/>
        </p:spPr>
        <p:txBody>
          <a:bodyPr wrap="square" rtlCol="0" anchor="ctr"/>
          <a:lstStyle/>
          <a:p>
            <a:pPr marL="0" indent="0" algn="ctr">
              <a:buNone/>
            </a:pPr>
            <a:r>
              <a:rPr lang="en-US" sz="2400" dirty="0">
                <a:solidFill>
                  <a:srgbClr val="00BFFF"/>
                </a:solidFill>
                <a:latin typeface="Calibri" pitchFamily="34" charset="0"/>
                <a:ea typeface="Calibri" pitchFamily="34" charset="-122"/>
                <a:cs typeface="Calibri" pitchFamily="34" charset="-120"/>
              </a:rPr>
              <a:t>DDD vs Clean Architecture</a:t>
            </a:r>
            <a:endParaRPr lang="en-US" sz="2400" dirty="0"/>
          </a:p>
        </p:txBody>
      </p:sp>
      <p:sp>
        <p:nvSpPr>
          <p:cNvPr id="4" name="Shape 2"/>
          <p:cNvSpPr/>
          <p:nvPr/>
        </p:nvSpPr>
        <p:spPr>
          <a:xfrm>
            <a:off x="3200400" y="3474720"/>
            <a:ext cx="2743200" cy="27432"/>
          </a:xfrm>
          <a:prstGeom prst="rect">
            <a:avLst/>
          </a:prstGeom>
          <a:solidFill>
            <a:srgbClr val="1E90FF">
              <a:alpha val="60000"/>
            </a:srgbClr>
          </a:solidFill>
          <a:ln/>
        </p:spPr>
        <p:txBody>
          <a:bodyPr/>
          <a:lstStyle/>
          <a:p>
            <a:endParaRPr lang="en-US"/>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DDD vs Clean Architecture</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548640" y="1097280"/>
            <a:ext cx="8046720" cy="164592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7" name="Shape 5"/>
          <p:cNvSpPr/>
          <p:nvPr/>
        </p:nvSpPr>
        <p:spPr>
          <a:xfrm>
            <a:off x="548640" y="1097280"/>
            <a:ext cx="54864" cy="1645920"/>
          </a:xfrm>
          <a:prstGeom prst="rect">
            <a:avLst/>
          </a:prstGeom>
          <a:solidFill>
            <a:srgbClr val="1E90FF"/>
          </a:solidFill>
          <a:ln/>
        </p:spPr>
        <p:txBody>
          <a:bodyPr/>
          <a:lstStyle/>
          <a:p>
            <a:endParaRPr lang="en-US"/>
          </a:p>
        </p:txBody>
      </p:sp>
      <p:sp>
        <p:nvSpPr>
          <p:cNvPr id="8" name="Text 6"/>
          <p:cNvSpPr/>
          <p:nvPr/>
        </p:nvSpPr>
        <p:spPr>
          <a:xfrm>
            <a:off x="822960" y="1188720"/>
            <a:ext cx="7589520" cy="1463040"/>
          </a:xfrm>
          <a:prstGeom prst="rect">
            <a:avLst/>
          </a:prstGeom>
          <a:noFill/>
          <a:ln/>
        </p:spPr>
        <p:txBody>
          <a:bodyPr wrap="square" rtlCol="0" anchor="ctr"/>
          <a:lstStyle/>
          <a:p>
            <a:pPr marL="0" indent="0">
              <a:buNone/>
            </a:pPr>
            <a:r>
              <a:rPr lang="en-US" sz="1500" b="1" dirty="0">
                <a:solidFill>
                  <a:srgbClr val="00BFFF"/>
                </a:solidFill>
                <a:latin typeface="Calibri" pitchFamily="34" charset="0"/>
                <a:ea typeface="Calibri" pitchFamily="34" charset="-122"/>
                <a:cs typeface="Calibri" pitchFamily="34" charset="-120"/>
              </a:rPr>
              <a:t>Domain-Driven Design (DDD)</a:t>
            </a:r>
            <a:endParaRPr lang="en-US" sz="1500" dirty="0"/>
          </a:p>
          <a:p>
            <a:pPr marL="0" indent="0">
              <a:buNone/>
            </a:pPr>
            <a:r>
              <a:rPr lang="en-US" sz="1300" dirty="0">
                <a:solidFill>
                  <a:srgbClr val="E8ECF4"/>
                </a:solidFill>
                <a:latin typeface="Calibri" pitchFamily="34" charset="0"/>
                <a:ea typeface="Calibri" pitchFamily="34" charset="-122"/>
                <a:cs typeface="Calibri" pitchFamily="34" charset="-120"/>
              </a:rPr>
              <a:t>Vient d'Eric Evans, popularisé au début des années 2000 avec son livre qui propose de concevoir le logiciel autour du "domaine métier" (modèle, langage commun, règles) plutôt qu'autour de la technique.</a:t>
            </a:r>
            <a:endParaRPr lang="en-US" sz="1500" dirty="0"/>
          </a:p>
        </p:txBody>
      </p:sp>
      <p:sp>
        <p:nvSpPr>
          <p:cNvPr id="9" name="Shape 7"/>
          <p:cNvSpPr/>
          <p:nvPr/>
        </p:nvSpPr>
        <p:spPr>
          <a:xfrm>
            <a:off x="548640" y="2926080"/>
            <a:ext cx="8046720" cy="164592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0" name="Shape 8"/>
          <p:cNvSpPr/>
          <p:nvPr/>
        </p:nvSpPr>
        <p:spPr>
          <a:xfrm>
            <a:off x="548640" y="2926080"/>
            <a:ext cx="54864" cy="1645920"/>
          </a:xfrm>
          <a:prstGeom prst="rect">
            <a:avLst/>
          </a:prstGeom>
          <a:solidFill>
            <a:srgbClr val="00BFFF"/>
          </a:solidFill>
          <a:ln/>
        </p:spPr>
        <p:txBody>
          <a:bodyPr/>
          <a:lstStyle/>
          <a:p>
            <a:endParaRPr lang="en-US"/>
          </a:p>
        </p:txBody>
      </p:sp>
      <p:sp>
        <p:nvSpPr>
          <p:cNvPr id="11" name="Text 9"/>
          <p:cNvSpPr/>
          <p:nvPr/>
        </p:nvSpPr>
        <p:spPr>
          <a:xfrm>
            <a:off x="822960" y="3017520"/>
            <a:ext cx="7589520" cy="1463040"/>
          </a:xfrm>
          <a:prstGeom prst="rect">
            <a:avLst/>
          </a:prstGeom>
          <a:noFill/>
          <a:ln/>
        </p:spPr>
        <p:txBody>
          <a:bodyPr wrap="square" rtlCol="0" anchor="ctr"/>
          <a:lstStyle/>
          <a:p>
            <a:pPr marL="0" indent="0">
              <a:buNone/>
            </a:pPr>
            <a:r>
              <a:rPr lang="en-US" sz="1500" b="1" dirty="0">
                <a:solidFill>
                  <a:srgbClr val="00BFFF"/>
                </a:solidFill>
                <a:latin typeface="Calibri" pitchFamily="34" charset="0"/>
                <a:ea typeface="Calibri" pitchFamily="34" charset="-122"/>
                <a:cs typeface="Calibri" pitchFamily="34" charset="-120"/>
              </a:rPr>
              <a:t>Clean Architecture</a:t>
            </a:r>
            <a:endParaRPr lang="en-US" sz="1500" dirty="0"/>
          </a:p>
          <a:p>
            <a:pPr marL="0" indent="0">
              <a:buNone/>
            </a:pPr>
            <a:r>
              <a:rPr lang="en-US" sz="1300" dirty="0">
                <a:solidFill>
                  <a:srgbClr val="E8ECF4"/>
                </a:solidFill>
                <a:latin typeface="Calibri" pitchFamily="34" charset="0"/>
                <a:ea typeface="Calibri" pitchFamily="34" charset="-122"/>
                <a:cs typeface="Calibri" pitchFamily="34" charset="-120"/>
              </a:rPr>
              <a:t>Vient de Robert C. Martin ("Uncle Bob") sortie en 2017 et formalise une manière d'organiser le code en couches dépendant vers l'intérieur (entités / use cases) pour garder le métier indépendant des frameworks, de la base de données et de l'UI.</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L'évolution vers la Clean Architecture</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1188720" y="1005840"/>
            <a:ext cx="18288" cy="3931920"/>
          </a:xfrm>
          <a:prstGeom prst="rect">
            <a:avLst/>
          </a:prstGeom>
          <a:solidFill>
            <a:srgbClr val="1E90FF">
              <a:alpha val="60000"/>
            </a:srgbClr>
          </a:solidFill>
          <a:ln/>
        </p:spPr>
        <p:txBody>
          <a:bodyPr/>
          <a:lstStyle/>
          <a:p>
            <a:endParaRPr lang="en-US"/>
          </a:p>
        </p:txBody>
      </p:sp>
      <p:sp>
        <p:nvSpPr>
          <p:cNvPr id="7" name="Shape 5"/>
          <p:cNvSpPr/>
          <p:nvPr/>
        </p:nvSpPr>
        <p:spPr>
          <a:xfrm>
            <a:off x="1097280" y="1115568"/>
            <a:ext cx="201168" cy="201168"/>
          </a:xfrm>
          <a:prstGeom prst="ellipse">
            <a:avLst/>
          </a:prstGeom>
          <a:solidFill>
            <a:srgbClr val="1E90FF"/>
          </a:solidFill>
          <a:ln/>
        </p:spPr>
        <p:txBody>
          <a:bodyPr/>
          <a:lstStyle/>
          <a:p>
            <a:endParaRPr lang="en-US"/>
          </a:p>
        </p:txBody>
      </p:sp>
      <p:sp>
        <p:nvSpPr>
          <p:cNvPr id="8" name="Text 6"/>
          <p:cNvSpPr/>
          <p:nvPr/>
        </p:nvSpPr>
        <p:spPr>
          <a:xfrm>
            <a:off x="274320" y="1051560"/>
            <a:ext cx="731520" cy="320040"/>
          </a:xfrm>
          <a:prstGeom prst="rect">
            <a:avLst/>
          </a:prstGeom>
          <a:noFill/>
          <a:ln/>
        </p:spPr>
        <p:txBody>
          <a:bodyPr wrap="square" rtlCol="0" anchor="ctr"/>
          <a:lstStyle/>
          <a:p>
            <a:pPr marL="0" indent="0" algn="r">
              <a:buNone/>
            </a:pPr>
            <a:r>
              <a:rPr lang="en-US" sz="1100" b="1" dirty="0">
                <a:solidFill>
                  <a:srgbClr val="00BFFF"/>
                </a:solidFill>
                <a:latin typeface="Calibri" pitchFamily="34" charset="0"/>
                <a:ea typeface="Calibri" pitchFamily="34" charset="-122"/>
                <a:cs typeface="Calibri" pitchFamily="34" charset="-120"/>
              </a:rPr>
              <a:t>1972</a:t>
            </a:r>
            <a:endParaRPr lang="en-US" sz="1100" dirty="0"/>
          </a:p>
        </p:txBody>
      </p:sp>
      <p:sp>
        <p:nvSpPr>
          <p:cNvPr id="9" name="Text 7"/>
          <p:cNvSpPr/>
          <p:nvPr/>
        </p:nvSpPr>
        <p:spPr>
          <a:xfrm>
            <a:off x="1463040" y="1005840"/>
            <a:ext cx="7132320" cy="47548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Information Hiding</a:t>
            </a:r>
            <a:endParaRPr lang="en-US" sz="1100" dirty="0"/>
          </a:p>
          <a:p>
            <a:pPr marL="0" indent="0">
              <a:buNone/>
            </a:pPr>
            <a:r>
              <a:rPr lang="en-US" sz="900" dirty="0">
                <a:solidFill>
                  <a:srgbClr val="8B99B8"/>
                </a:solidFill>
                <a:latin typeface="Calibri" pitchFamily="34" charset="0"/>
                <a:ea typeface="Calibri" pitchFamily="34" charset="-122"/>
                <a:cs typeface="Calibri" pitchFamily="34" charset="-120"/>
              </a:rPr>
              <a:t>David Parnas — </a:t>
            </a:r>
            <a:r>
              <a:rPr lang="en-US" sz="900" dirty="0" err="1">
                <a:solidFill>
                  <a:srgbClr val="8B99B8"/>
                </a:solidFill>
                <a:latin typeface="Calibri" pitchFamily="34" charset="0"/>
                <a:ea typeface="Calibri" pitchFamily="34" charset="-122"/>
                <a:cs typeface="Calibri" pitchFamily="34" charset="-120"/>
              </a:rPr>
              <a:t>Séparation</a:t>
            </a:r>
            <a:r>
              <a:rPr lang="en-US" sz="900" dirty="0">
                <a:solidFill>
                  <a:srgbClr val="8B99B8"/>
                </a:solidFill>
                <a:latin typeface="Calibri" pitchFamily="34" charset="0"/>
                <a:ea typeface="Calibri" pitchFamily="34" charset="-122"/>
                <a:cs typeface="Calibri" pitchFamily="34" charset="-120"/>
              </a:rPr>
              <a:t> des </a:t>
            </a:r>
            <a:r>
              <a:rPr lang="en-US" sz="900" dirty="0" err="1">
                <a:solidFill>
                  <a:srgbClr val="8B99B8"/>
                </a:solidFill>
                <a:latin typeface="Calibri" pitchFamily="34" charset="0"/>
                <a:ea typeface="Calibri" pitchFamily="34" charset="-122"/>
                <a:cs typeface="Calibri" pitchFamily="34" charset="-120"/>
              </a:rPr>
              <a:t>préoccupations</a:t>
            </a:r>
            <a:r>
              <a:rPr lang="en-US" sz="900" dirty="0">
                <a:solidFill>
                  <a:srgbClr val="8B99B8"/>
                </a:solidFill>
                <a:latin typeface="Calibri" pitchFamily="34" charset="0"/>
                <a:ea typeface="Calibri" pitchFamily="34" charset="-122"/>
                <a:cs typeface="Calibri" pitchFamily="34" charset="-120"/>
              </a:rPr>
              <a:t>, </a:t>
            </a:r>
            <a:r>
              <a:rPr lang="en-US" sz="900" dirty="0" err="1">
                <a:solidFill>
                  <a:srgbClr val="8B99B8"/>
                </a:solidFill>
                <a:latin typeface="Calibri" pitchFamily="34" charset="0"/>
                <a:ea typeface="Calibri" pitchFamily="34" charset="-122"/>
                <a:cs typeface="Calibri" pitchFamily="34" charset="-120"/>
              </a:rPr>
              <a:t>fondation</a:t>
            </a:r>
            <a:r>
              <a:rPr lang="en-US" sz="900" dirty="0">
                <a:solidFill>
                  <a:srgbClr val="8B99B8"/>
                </a:solidFill>
                <a:latin typeface="Calibri" pitchFamily="34" charset="0"/>
                <a:ea typeface="Calibri" pitchFamily="34" charset="-122"/>
                <a:cs typeface="Calibri" pitchFamily="34" charset="-120"/>
              </a:rPr>
              <a:t> </a:t>
            </a:r>
            <a:r>
              <a:rPr lang="en-US" sz="900" dirty="0" err="1">
                <a:solidFill>
                  <a:srgbClr val="8B99B8"/>
                </a:solidFill>
                <a:latin typeface="Calibri" pitchFamily="34" charset="0"/>
                <a:ea typeface="Calibri" pitchFamily="34" charset="-122"/>
                <a:cs typeface="Calibri" pitchFamily="34" charset="-120"/>
              </a:rPr>
              <a:t>théorique</a:t>
            </a:r>
            <a:r>
              <a:rPr lang="en-US" sz="900" dirty="0">
                <a:solidFill>
                  <a:srgbClr val="8B99B8"/>
                </a:solidFill>
                <a:latin typeface="Calibri" pitchFamily="34" charset="0"/>
                <a:ea typeface="Calibri" pitchFamily="34" charset="-122"/>
                <a:cs typeface="Calibri" pitchFamily="34" charset="-120"/>
              </a:rPr>
              <a:t>.</a:t>
            </a:r>
            <a:endParaRPr lang="en-US" sz="1100" dirty="0"/>
          </a:p>
        </p:txBody>
      </p:sp>
      <p:sp>
        <p:nvSpPr>
          <p:cNvPr id="10" name="Shape 8"/>
          <p:cNvSpPr/>
          <p:nvPr/>
        </p:nvSpPr>
        <p:spPr>
          <a:xfrm>
            <a:off x="1097280" y="1609344"/>
            <a:ext cx="201168" cy="201168"/>
          </a:xfrm>
          <a:prstGeom prst="ellipse">
            <a:avLst/>
          </a:prstGeom>
          <a:solidFill>
            <a:srgbClr val="1E90FF"/>
          </a:solidFill>
          <a:ln/>
        </p:spPr>
        <p:txBody>
          <a:bodyPr/>
          <a:lstStyle/>
          <a:p>
            <a:endParaRPr lang="en-US"/>
          </a:p>
        </p:txBody>
      </p:sp>
      <p:sp>
        <p:nvSpPr>
          <p:cNvPr id="11" name="Text 9"/>
          <p:cNvSpPr/>
          <p:nvPr/>
        </p:nvSpPr>
        <p:spPr>
          <a:xfrm>
            <a:off x="274320" y="1545336"/>
            <a:ext cx="731520" cy="320040"/>
          </a:xfrm>
          <a:prstGeom prst="rect">
            <a:avLst/>
          </a:prstGeom>
          <a:noFill/>
          <a:ln/>
        </p:spPr>
        <p:txBody>
          <a:bodyPr wrap="square" rtlCol="0" anchor="ctr"/>
          <a:lstStyle/>
          <a:p>
            <a:pPr marL="0" indent="0" algn="r">
              <a:buNone/>
            </a:pPr>
            <a:r>
              <a:rPr lang="en-US" sz="1100" b="1" dirty="0">
                <a:solidFill>
                  <a:srgbClr val="00BFFF"/>
                </a:solidFill>
                <a:latin typeface="Calibri" pitchFamily="34" charset="0"/>
                <a:ea typeface="Calibri" pitchFamily="34" charset="-122"/>
                <a:cs typeface="Calibri" pitchFamily="34" charset="-120"/>
              </a:rPr>
              <a:t>1993</a:t>
            </a:r>
            <a:endParaRPr lang="en-US" sz="1100" dirty="0"/>
          </a:p>
        </p:txBody>
      </p:sp>
      <p:sp>
        <p:nvSpPr>
          <p:cNvPr id="12" name="Text 10"/>
          <p:cNvSpPr/>
          <p:nvPr/>
        </p:nvSpPr>
        <p:spPr>
          <a:xfrm>
            <a:off x="1463040" y="1499616"/>
            <a:ext cx="7132320" cy="47548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Principes SOLID</a:t>
            </a:r>
            <a:endParaRPr lang="en-US" sz="1100" dirty="0"/>
          </a:p>
          <a:p>
            <a:pPr marL="0" indent="0">
              <a:buNone/>
            </a:pPr>
            <a:r>
              <a:rPr lang="en-US" sz="900" dirty="0">
                <a:solidFill>
                  <a:srgbClr val="8B99B8"/>
                </a:solidFill>
                <a:latin typeface="Calibri" pitchFamily="34" charset="0"/>
                <a:ea typeface="Calibri" pitchFamily="34" charset="-122"/>
                <a:cs typeface="Calibri" pitchFamily="34" charset="-120"/>
              </a:rPr>
              <a:t>Robert C. Martin — Règles de conception OO qui structureront tout le reste.</a:t>
            </a:r>
            <a:endParaRPr lang="en-US" sz="1100" dirty="0"/>
          </a:p>
        </p:txBody>
      </p:sp>
      <p:sp>
        <p:nvSpPr>
          <p:cNvPr id="13" name="Shape 11"/>
          <p:cNvSpPr/>
          <p:nvPr/>
        </p:nvSpPr>
        <p:spPr>
          <a:xfrm>
            <a:off x="1097280" y="2103120"/>
            <a:ext cx="201168" cy="201168"/>
          </a:xfrm>
          <a:prstGeom prst="ellipse">
            <a:avLst/>
          </a:prstGeom>
          <a:solidFill>
            <a:srgbClr val="1E90FF"/>
          </a:solidFill>
          <a:ln/>
        </p:spPr>
        <p:txBody>
          <a:bodyPr/>
          <a:lstStyle/>
          <a:p>
            <a:endParaRPr lang="en-US"/>
          </a:p>
        </p:txBody>
      </p:sp>
      <p:sp>
        <p:nvSpPr>
          <p:cNvPr id="14" name="Text 12"/>
          <p:cNvSpPr/>
          <p:nvPr/>
        </p:nvSpPr>
        <p:spPr>
          <a:xfrm>
            <a:off x="274320" y="2039112"/>
            <a:ext cx="731520" cy="320040"/>
          </a:xfrm>
          <a:prstGeom prst="rect">
            <a:avLst/>
          </a:prstGeom>
          <a:noFill/>
          <a:ln/>
        </p:spPr>
        <p:txBody>
          <a:bodyPr wrap="square" rtlCol="0" anchor="ctr"/>
          <a:lstStyle/>
          <a:p>
            <a:pPr marL="0" indent="0" algn="r">
              <a:buNone/>
            </a:pPr>
            <a:r>
              <a:rPr lang="en-US" sz="1100" b="1" dirty="0">
                <a:solidFill>
                  <a:srgbClr val="00BFFF"/>
                </a:solidFill>
                <a:latin typeface="Calibri" pitchFamily="34" charset="0"/>
                <a:ea typeface="Calibri" pitchFamily="34" charset="-122"/>
                <a:cs typeface="Calibri" pitchFamily="34" charset="-120"/>
              </a:rPr>
              <a:t>2003</a:t>
            </a:r>
            <a:endParaRPr lang="en-US" sz="1100" dirty="0"/>
          </a:p>
        </p:txBody>
      </p:sp>
      <p:sp>
        <p:nvSpPr>
          <p:cNvPr id="15" name="Text 13"/>
          <p:cNvSpPr/>
          <p:nvPr/>
        </p:nvSpPr>
        <p:spPr>
          <a:xfrm>
            <a:off x="1463040" y="1993392"/>
            <a:ext cx="7132320" cy="47548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Domain-Driven Design</a:t>
            </a:r>
            <a:endParaRPr lang="en-US" sz="1100" dirty="0"/>
          </a:p>
          <a:p>
            <a:pPr marL="0" indent="0">
              <a:buNone/>
            </a:pPr>
            <a:r>
              <a:rPr lang="en-US" sz="900" dirty="0">
                <a:solidFill>
                  <a:srgbClr val="8B99B8"/>
                </a:solidFill>
                <a:latin typeface="Calibri" pitchFamily="34" charset="0"/>
                <a:ea typeface="Calibri" pitchFamily="34" charset="-122"/>
                <a:cs typeface="Calibri" pitchFamily="34" charset="-120"/>
              </a:rPr>
              <a:t>Eric Evans — Le domaine métier au centre. Bounded Contexts, Aggregates, Ubiquitous Language.</a:t>
            </a:r>
            <a:endParaRPr lang="en-US" sz="1100" dirty="0"/>
          </a:p>
        </p:txBody>
      </p:sp>
      <p:sp>
        <p:nvSpPr>
          <p:cNvPr id="16" name="Shape 14"/>
          <p:cNvSpPr/>
          <p:nvPr/>
        </p:nvSpPr>
        <p:spPr>
          <a:xfrm>
            <a:off x="1097280" y="2596896"/>
            <a:ext cx="201168" cy="201168"/>
          </a:xfrm>
          <a:prstGeom prst="ellipse">
            <a:avLst/>
          </a:prstGeom>
          <a:solidFill>
            <a:srgbClr val="1E90FF"/>
          </a:solidFill>
          <a:ln/>
        </p:spPr>
        <p:txBody>
          <a:bodyPr/>
          <a:lstStyle/>
          <a:p>
            <a:endParaRPr lang="en-US"/>
          </a:p>
        </p:txBody>
      </p:sp>
      <p:sp>
        <p:nvSpPr>
          <p:cNvPr id="17" name="Text 15"/>
          <p:cNvSpPr/>
          <p:nvPr/>
        </p:nvSpPr>
        <p:spPr>
          <a:xfrm>
            <a:off x="274320" y="2532888"/>
            <a:ext cx="731520" cy="320040"/>
          </a:xfrm>
          <a:prstGeom prst="rect">
            <a:avLst/>
          </a:prstGeom>
          <a:noFill/>
          <a:ln/>
        </p:spPr>
        <p:txBody>
          <a:bodyPr wrap="square" rtlCol="0" anchor="ctr"/>
          <a:lstStyle/>
          <a:p>
            <a:pPr marL="0" indent="0" algn="r">
              <a:buNone/>
            </a:pPr>
            <a:r>
              <a:rPr lang="en-US" sz="1100" b="1" dirty="0">
                <a:solidFill>
                  <a:srgbClr val="00BFFF"/>
                </a:solidFill>
                <a:latin typeface="Calibri" pitchFamily="34" charset="0"/>
                <a:ea typeface="Calibri" pitchFamily="34" charset="-122"/>
                <a:cs typeface="Calibri" pitchFamily="34" charset="-120"/>
              </a:rPr>
              <a:t>2005</a:t>
            </a:r>
            <a:endParaRPr lang="en-US" sz="1100" dirty="0"/>
          </a:p>
        </p:txBody>
      </p:sp>
      <p:sp>
        <p:nvSpPr>
          <p:cNvPr id="18" name="Text 16"/>
          <p:cNvSpPr/>
          <p:nvPr/>
        </p:nvSpPr>
        <p:spPr>
          <a:xfrm>
            <a:off x="1463040" y="2487168"/>
            <a:ext cx="7132320" cy="47548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Architecture Hexagonale</a:t>
            </a:r>
            <a:endParaRPr lang="en-US" sz="1100" dirty="0"/>
          </a:p>
          <a:p>
            <a:pPr marL="0" indent="0">
              <a:buNone/>
            </a:pPr>
            <a:r>
              <a:rPr lang="en-US" sz="900" dirty="0">
                <a:solidFill>
                  <a:srgbClr val="8B99B8"/>
                </a:solidFill>
                <a:latin typeface="Calibri" pitchFamily="34" charset="0"/>
                <a:ea typeface="Calibri" pitchFamily="34" charset="-122"/>
                <a:cs typeface="Calibri" pitchFamily="34" charset="-120"/>
              </a:rPr>
              <a:t>Alistair Cockburn — Ports &amp; Adapters : isoler le cœur métier des détails techniques.</a:t>
            </a:r>
            <a:endParaRPr lang="en-US" sz="1100" dirty="0"/>
          </a:p>
        </p:txBody>
      </p:sp>
      <p:sp>
        <p:nvSpPr>
          <p:cNvPr id="19" name="Shape 17"/>
          <p:cNvSpPr/>
          <p:nvPr/>
        </p:nvSpPr>
        <p:spPr>
          <a:xfrm>
            <a:off x="1097280" y="3090672"/>
            <a:ext cx="201168" cy="201168"/>
          </a:xfrm>
          <a:prstGeom prst="ellipse">
            <a:avLst/>
          </a:prstGeom>
          <a:solidFill>
            <a:srgbClr val="1E90FF"/>
          </a:solidFill>
          <a:ln/>
        </p:spPr>
        <p:txBody>
          <a:bodyPr/>
          <a:lstStyle/>
          <a:p>
            <a:endParaRPr lang="en-US"/>
          </a:p>
        </p:txBody>
      </p:sp>
      <p:sp>
        <p:nvSpPr>
          <p:cNvPr id="20" name="Text 18"/>
          <p:cNvSpPr/>
          <p:nvPr/>
        </p:nvSpPr>
        <p:spPr>
          <a:xfrm>
            <a:off x="274320" y="3026664"/>
            <a:ext cx="731520" cy="320040"/>
          </a:xfrm>
          <a:prstGeom prst="rect">
            <a:avLst/>
          </a:prstGeom>
          <a:noFill/>
          <a:ln/>
        </p:spPr>
        <p:txBody>
          <a:bodyPr wrap="square" rtlCol="0" anchor="ctr"/>
          <a:lstStyle/>
          <a:p>
            <a:pPr marL="0" indent="0" algn="r">
              <a:buNone/>
            </a:pPr>
            <a:r>
              <a:rPr lang="en-US" sz="1100" b="1" dirty="0">
                <a:solidFill>
                  <a:srgbClr val="00BFFF"/>
                </a:solidFill>
                <a:latin typeface="Calibri" pitchFamily="34" charset="0"/>
                <a:ea typeface="Calibri" pitchFamily="34" charset="-122"/>
                <a:cs typeface="Calibri" pitchFamily="34" charset="-120"/>
              </a:rPr>
              <a:t>2008</a:t>
            </a:r>
            <a:endParaRPr lang="en-US" sz="1100" dirty="0"/>
          </a:p>
        </p:txBody>
      </p:sp>
      <p:sp>
        <p:nvSpPr>
          <p:cNvPr id="21" name="Text 19"/>
          <p:cNvSpPr/>
          <p:nvPr/>
        </p:nvSpPr>
        <p:spPr>
          <a:xfrm>
            <a:off x="1463040" y="2980944"/>
            <a:ext cx="7132320" cy="47548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Onion Architecture</a:t>
            </a:r>
            <a:endParaRPr lang="en-US" sz="1100" dirty="0"/>
          </a:p>
          <a:p>
            <a:pPr marL="0" indent="0">
              <a:buNone/>
            </a:pPr>
            <a:r>
              <a:rPr lang="en-US" sz="900" dirty="0">
                <a:solidFill>
                  <a:srgbClr val="8B99B8"/>
                </a:solidFill>
                <a:latin typeface="Calibri" pitchFamily="34" charset="0"/>
                <a:ea typeface="Calibri" pitchFamily="34" charset="-122"/>
                <a:cs typeface="Calibri" pitchFamily="34" charset="-120"/>
              </a:rPr>
              <a:t>Jeffrey Palermo — Couches concentriques, dépendances vers l'intérieur.</a:t>
            </a:r>
            <a:endParaRPr lang="en-US" sz="1100" dirty="0"/>
          </a:p>
        </p:txBody>
      </p:sp>
      <p:sp>
        <p:nvSpPr>
          <p:cNvPr id="22" name="Shape 20"/>
          <p:cNvSpPr/>
          <p:nvPr/>
        </p:nvSpPr>
        <p:spPr>
          <a:xfrm>
            <a:off x="1097280" y="3584448"/>
            <a:ext cx="201168" cy="201168"/>
          </a:xfrm>
          <a:prstGeom prst="ellipse">
            <a:avLst/>
          </a:prstGeom>
          <a:solidFill>
            <a:srgbClr val="1E90FF"/>
          </a:solidFill>
          <a:ln/>
        </p:spPr>
        <p:txBody>
          <a:bodyPr/>
          <a:lstStyle/>
          <a:p>
            <a:endParaRPr lang="en-US"/>
          </a:p>
        </p:txBody>
      </p:sp>
      <p:sp>
        <p:nvSpPr>
          <p:cNvPr id="23" name="Text 21"/>
          <p:cNvSpPr/>
          <p:nvPr/>
        </p:nvSpPr>
        <p:spPr>
          <a:xfrm>
            <a:off x="274320" y="3520440"/>
            <a:ext cx="731520" cy="320040"/>
          </a:xfrm>
          <a:prstGeom prst="rect">
            <a:avLst/>
          </a:prstGeom>
          <a:noFill/>
          <a:ln/>
        </p:spPr>
        <p:txBody>
          <a:bodyPr wrap="square" rtlCol="0" anchor="ctr"/>
          <a:lstStyle/>
          <a:p>
            <a:pPr marL="0" indent="0" algn="r">
              <a:buNone/>
            </a:pPr>
            <a:r>
              <a:rPr lang="en-US" sz="1100" b="1" dirty="0">
                <a:solidFill>
                  <a:srgbClr val="00BFFF"/>
                </a:solidFill>
                <a:latin typeface="Calibri" pitchFamily="34" charset="0"/>
                <a:ea typeface="Calibri" pitchFamily="34" charset="-122"/>
                <a:cs typeface="Calibri" pitchFamily="34" charset="-120"/>
              </a:rPr>
              <a:t>2012</a:t>
            </a:r>
            <a:endParaRPr lang="en-US" sz="1100" dirty="0"/>
          </a:p>
        </p:txBody>
      </p:sp>
      <p:sp>
        <p:nvSpPr>
          <p:cNvPr id="24" name="Text 22"/>
          <p:cNvSpPr/>
          <p:nvPr/>
        </p:nvSpPr>
        <p:spPr>
          <a:xfrm>
            <a:off x="1463040" y="3474720"/>
            <a:ext cx="7132320" cy="47548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"The Clean Architecture"</a:t>
            </a:r>
            <a:endParaRPr lang="en-US" sz="1100" dirty="0"/>
          </a:p>
          <a:p>
            <a:pPr marL="0" indent="0">
              <a:buNone/>
            </a:pPr>
            <a:r>
              <a:rPr lang="en-US" sz="900" dirty="0">
                <a:solidFill>
                  <a:srgbClr val="8B99B8"/>
                </a:solidFill>
                <a:latin typeface="Calibri" pitchFamily="34" charset="0"/>
                <a:ea typeface="Calibri" pitchFamily="34" charset="-122"/>
                <a:cs typeface="Calibri" pitchFamily="34" charset="-120"/>
              </a:rPr>
              <a:t>Robert C. Martin — Article qui synthétise Hexagonale + Onion + DDD en un modèle unifié.</a:t>
            </a:r>
            <a:endParaRPr lang="en-US" sz="1100" dirty="0"/>
          </a:p>
        </p:txBody>
      </p:sp>
      <p:sp>
        <p:nvSpPr>
          <p:cNvPr id="25" name="Shape 23"/>
          <p:cNvSpPr/>
          <p:nvPr/>
        </p:nvSpPr>
        <p:spPr>
          <a:xfrm>
            <a:off x="1097280" y="4078224"/>
            <a:ext cx="201168" cy="201168"/>
          </a:xfrm>
          <a:prstGeom prst="ellipse">
            <a:avLst/>
          </a:prstGeom>
          <a:solidFill>
            <a:srgbClr val="1E90FF"/>
          </a:solidFill>
          <a:ln/>
        </p:spPr>
        <p:txBody>
          <a:bodyPr/>
          <a:lstStyle/>
          <a:p>
            <a:endParaRPr lang="en-US"/>
          </a:p>
        </p:txBody>
      </p:sp>
      <p:sp>
        <p:nvSpPr>
          <p:cNvPr id="26" name="Text 24"/>
          <p:cNvSpPr/>
          <p:nvPr/>
        </p:nvSpPr>
        <p:spPr>
          <a:xfrm>
            <a:off x="274320" y="4014216"/>
            <a:ext cx="731520" cy="320040"/>
          </a:xfrm>
          <a:prstGeom prst="rect">
            <a:avLst/>
          </a:prstGeom>
          <a:noFill/>
          <a:ln/>
        </p:spPr>
        <p:txBody>
          <a:bodyPr wrap="square" rtlCol="0" anchor="ctr"/>
          <a:lstStyle/>
          <a:p>
            <a:pPr marL="0" indent="0" algn="r">
              <a:buNone/>
            </a:pPr>
            <a:r>
              <a:rPr lang="en-US" sz="1100" b="1" dirty="0">
                <a:solidFill>
                  <a:srgbClr val="00BFFF"/>
                </a:solidFill>
                <a:latin typeface="Calibri" pitchFamily="34" charset="0"/>
                <a:ea typeface="Calibri" pitchFamily="34" charset="-122"/>
                <a:cs typeface="Calibri" pitchFamily="34" charset="-120"/>
              </a:rPr>
              <a:t>2013</a:t>
            </a:r>
            <a:endParaRPr lang="en-US" sz="1100" dirty="0"/>
          </a:p>
        </p:txBody>
      </p:sp>
      <p:sp>
        <p:nvSpPr>
          <p:cNvPr id="27" name="Text 25"/>
          <p:cNvSpPr/>
          <p:nvPr/>
        </p:nvSpPr>
        <p:spPr>
          <a:xfrm>
            <a:off x="1463040" y="3968496"/>
            <a:ext cx="7132320" cy="47548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Implementing DDD</a:t>
            </a:r>
            <a:endParaRPr lang="en-US" sz="1100" dirty="0"/>
          </a:p>
          <a:p>
            <a:pPr marL="0" indent="0">
              <a:buNone/>
            </a:pPr>
            <a:r>
              <a:rPr lang="en-US" sz="900" dirty="0">
                <a:solidFill>
                  <a:srgbClr val="8B99B8"/>
                </a:solidFill>
                <a:latin typeface="Calibri" pitchFamily="34" charset="0"/>
                <a:ea typeface="Calibri" pitchFamily="34" charset="-122"/>
                <a:cs typeface="Calibri" pitchFamily="34" charset="-120"/>
              </a:rPr>
              <a:t>Vaughn Vernon — Le "Red Book" qui rend le DDD concret et implémentable.</a:t>
            </a:r>
            <a:endParaRPr lang="en-US" sz="1100" dirty="0"/>
          </a:p>
        </p:txBody>
      </p:sp>
      <p:sp>
        <p:nvSpPr>
          <p:cNvPr id="28" name="Shape 26"/>
          <p:cNvSpPr/>
          <p:nvPr/>
        </p:nvSpPr>
        <p:spPr>
          <a:xfrm>
            <a:off x="1097280" y="4572000"/>
            <a:ext cx="201168" cy="201168"/>
          </a:xfrm>
          <a:prstGeom prst="ellipse">
            <a:avLst/>
          </a:prstGeom>
          <a:solidFill>
            <a:srgbClr val="1E90FF"/>
          </a:solidFill>
          <a:ln/>
        </p:spPr>
        <p:txBody>
          <a:bodyPr/>
          <a:lstStyle/>
          <a:p>
            <a:endParaRPr lang="en-US"/>
          </a:p>
        </p:txBody>
      </p:sp>
      <p:sp>
        <p:nvSpPr>
          <p:cNvPr id="29" name="Text 27"/>
          <p:cNvSpPr/>
          <p:nvPr/>
        </p:nvSpPr>
        <p:spPr>
          <a:xfrm>
            <a:off x="274320" y="4507992"/>
            <a:ext cx="731520" cy="320040"/>
          </a:xfrm>
          <a:prstGeom prst="rect">
            <a:avLst/>
          </a:prstGeom>
          <a:noFill/>
          <a:ln/>
        </p:spPr>
        <p:txBody>
          <a:bodyPr wrap="square" rtlCol="0" anchor="ctr"/>
          <a:lstStyle/>
          <a:p>
            <a:pPr marL="0" indent="0" algn="r">
              <a:buNone/>
            </a:pPr>
            <a:r>
              <a:rPr lang="en-US" sz="1100" b="1" dirty="0">
                <a:solidFill>
                  <a:srgbClr val="00BFFF"/>
                </a:solidFill>
                <a:latin typeface="Calibri" pitchFamily="34" charset="0"/>
                <a:ea typeface="Calibri" pitchFamily="34" charset="-122"/>
                <a:cs typeface="Calibri" pitchFamily="34" charset="-120"/>
              </a:rPr>
              <a:t>2017</a:t>
            </a:r>
            <a:endParaRPr lang="en-US" sz="1100" dirty="0"/>
          </a:p>
        </p:txBody>
      </p:sp>
      <p:sp>
        <p:nvSpPr>
          <p:cNvPr id="30" name="Text 28"/>
          <p:cNvSpPr/>
          <p:nvPr/>
        </p:nvSpPr>
        <p:spPr>
          <a:xfrm>
            <a:off x="1463040" y="4462272"/>
            <a:ext cx="7132320" cy="47548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Clean Architecture, le livre</a:t>
            </a:r>
            <a:endParaRPr lang="en-US" sz="1100" dirty="0"/>
          </a:p>
          <a:p>
            <a:pPr marL="0" indent="0">
              <a:buNone/>
            </a:pPr>
            <a:r>
              <a:rPr lang="en-US" sz="900" dirty="0">
                <a:solidFill>
                  <a:srgbClr val="8B99B8"/>
                </a:solidFill>
                <a:latin typeface="Calibri" pitchFamily="34" charset="0"/>
                <a:ea typeface="Calibri" pitchFamily="34" charset="-122"/>
                <a:cs typeface="Calibri" pitchFamily="34" charset="-120"/>
              </a:rPr>
              <a:t>Robert C. Martin — Formalisation complète de l'approche.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DDD (le quoi) vs Clean Architecture (le où)</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548640" y="1097280"/>
            <a:ext cx="3840480" cy="256032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7" name="Text 5"/>
          <p:cNvSpPr/>
          <p:nvPr/>
        </p:nvSpPr>
        <p:spPr>
          <a:xfrm>
            <a:off x="731520" y="1188720"/>
            <a:ext cx="3474720" cy="365760"/>
          </a:xfrm>
          <a:prstGeom prst="rect">
            <a:avLst/>
          </a:prstGeom>
          <a:noFill/>
          <a:ln/>
        </p:spPr>
        <p:txBody>
          <a:bodyPr wrap="square" rtlCol="0" anchor="ctr"/>
          <a:lstStyle/>
          <a:p>
            <a:pPr marL="0" indent="0">
              <a:buNone/>
            </a:pPr>
            <a:r>
              <a:rPr lang="en-US" sz="1800" b="1" dirty="0">
                <a:solidFill>
                  <a:srgbClr val="00BFFF"/>
                </a:solidFill>
                <a:latin typeface="Calibri" pitchFamily="34" charset="0"/>
                <a:ea typeface="Calibri" pitchFamily="34" charset="-122"/>
                <a:cs typeface="Calibri" pitchFamily="34" charset="-120"/>
              </a:rPr>
              <a:t>DDD</a:t>
            </a:r>
            <a:endParaRPr lang="en-US" sz="1800" dirty="0"/>
          </a:p>
        </p:txBody>
      </p:sp>
      <p:sp>
        <p:nvSpPr>
          <p:cNvPr id="8" name="Text 6"/>
          <p:cNvSpPr/>
          <p:nvPr/>
        </p:nvSpPr>
        <p:spPr>
          <a:xfrm>
            <a:off x="731520" y="1554480"/>
            <a:ext cx="3474720" cy="1097280"/>
          </a:xfrm>
          <a:prstGeom prst="rect">
            <a:avLst/>
          </a:prstGeom>
          <a:noFill/>
          <a:ln/>
        </p:spPr>
        <p:txBody>
          <a:bodyPr wrap="square" rtlCol="0" anchor="ctr"/>
          <a:lstStyle/>
          <a:p>
            <a:pPr marL="0" indent="0">
              <a:buNone/>
            </a:pPr>
            <a:r>
              <a:rPr lang="en-US" sz="1200" dirty="0">
                <a:solidFill>
                  <a:srgbClr val="E8ECF4"/>
                </a:solidFill>
                <a:latin typeface="Calibri" pitchFamily="34" charset="0"/>
                <a:ea typeface="Calibri" pitchFamily="34" charset="-122"/>
                <a:cs typeface="Calibri" pitchFamily="34" charset="-120"/>
              </a:rPr>
              <a:t>Dit comment modéliser le métier : quelles briques utiliser (Value Object, Entity, Aggregate), comment nommer les choses, où mettre la logique. C'est la substance.</a:t>
            </a:r>
            <a:endParaRPr lang="en-US" sz="1200" dirty="0"/>
          </a:p>
        </p:txBody>
      </p:sp>
      <p:sp>
        <p:nvSpPr>
          <p:cNvPr id="9" name="Text 7"/>
          <p:cNvSpPr/>
          <p:nvPr/>
        </p:nvSpPr>
        <p:spPr>
          <a:xfrm>
            <a:off x="731520" y="2743200"/>
            <a:ext cx="3474720" cy="548640"/>
          </a:xfrm>
          <a:prstGeom prst="rect">
            <a:avLst/>
          </a:prstGeom>
          <a:noFill/>
          <a:ln/>
        </p:spPr>
        <p:txBody>
          <a:bodyPr wrap="square" rtlCol="0" anchor="ctr"/>
          <a:lstStyle/>
          <a:p>
            <a:pPr marL="0" indent="0">
              <a:buNone/>
            </a:pPr>
            <a:r>
              <a:rPr lang="en-US" sz="1100" dirty="0">
                <a:solidFill>
                  <a:srgbClr val="8B99B8"/>
                </a:solidFill>
                <a:latin typeface="Calibri" pitchFamily="34" charset="0"/>
                <a:ea typeface="Calibri" pitchFamily="34" charset="-122"/>
                <a:cs typeface="Calibri" pitchFamily="34" charset="-120"/>
              </a:rPr>
              <a:t>DDD sans Clean Archi → domaine riche mais couplé à l'infrastructure.</a:t>
            </a:r>
            <a:endParaRPr lang="en-US" sz="1100" dirty="0"/>
          </a:p>
        </p:txBody>
      </p:sp>
      <p:sp>
        <p:nvSpPr>
          <p:cNvPr id="10" name="Shape 8"/>
          <p:cNvSpPr/>
          <p:nvPr/>
        </p:nvSpPr>
        <p:spPr>
          <a:xfrm>
            <a:off x="4754880" y="1097280"/>
            <a:ext cx="3840480" cy="256032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1" name="Text 9"/>
          <p:cNvSpPr/>
          <p:nvPr/>
        </p:nvSpPr>
        <p:spPr>
          <a:xfrm>
            <a:off x="4937760" y="1188720"/>
            <a:ext cx="3474720" cy="365760"/>
          </a:xfrm>
          <a:prstGeom prst="rect">
            <a:avLst/>
          </a:prstGeom>
          <a:noFill/>
          <a:ln/>
        </p:spPr>
        <p:txBody>
          <a:bodyPr wrap="square" rtlCol="0" anchor="ctr"/>
          <a:lstStyle/>
          <a:p>
            <a:pPr marL="0" indent="0">
              <a:buNone/>
            </a:pPr>
            <a:r>
              <a:rPr lang="en-US" sz="1800" b="1" dirty="0">
                <a:solidFill>
                  <a:srgbClr val="00BFFF"/>
                </a:solidFill>
                <a:latin typeface="Calibri" pitchFamily="34" charset="0"/>
                <a:ea typeface="Calibri" pitchFamily="34" charset="-122"/>
                <a:cs typeface="Calibri" pitchFamily="34" charset="-120"/>
              </a:rPr>
              <a:t>Clean Architecture</a:t>
            </a:r>
            <a:endParaRPr lang="en-US" sz="1800" dirty="0"/>
          </a:p>
        </p:txBody>
      </p:sp>
      <p:sp>
        <p:nvSpPr>
          <p:cNvPr id="12" name="Text 10"/>
          <p:cNvSpPr/>
          <p:nvPr/>
        </p:nvSpPr>
        <p:spPr>
          <a:xfrm>
            <a:off x="4937760" y="1554480"/>
            <a:ext cx="3474720" cy="1097280"/>
          </a:xfrm>
          <a:prstGeom prst="rect">
            <a:avLst/>
          </a:prstGeom>
          <a:noFill/>
          <a:ln/>
        </p:spPr>
        <p:txBody>
          <a:bodyPr wrap="square" rtlCol="0" anchor="ctr"/>
          <a:lstStyle/>
          <a:p>
            <a:pPr marL="0" indent="0">
              <a:buNone/>
            </a:pPr>
            <a:r>
              <a:rPr lang="en-US" sz="1200" dirty="0">
                <a:solidFill>
                  <a:srgbClr val="E8ECF4"/>
                </a:solidFill>
                <a:latin typeface="Calibri" pitchFamily="34" charset="0"/>
                <a:ea typeface="Calibri" pitchFamily="34" charset="-122"/>
                <a:cs typeface="Calibri" pitchFamily="34" charset="-120"/>
              </a:rPr>
              <a:t>Dit comment organiser les couches : le domaine au centre, l'infra à l'extérieur, les dépendances toujours vers l'intérieur. C'est la structure.</a:t>
            </a:r>
            <a:endParaRPr lang="en-US" sz="1200" dirty="0"/>
          </a:p>
        </p:txBody>
      </p:sp>
      <p:sp>
        <p:nvSpPr>
          <p:cNvPr id="13" name="Text 11"/>
          <p:cNvSpPr/>
          <p:nvPr/>
        </p:nvSpPr>
        <p:spPr>
          <a:xfrm>
            <a:off x="4937760" y="2743200"/>
            <a:ext cx="3474720" cy="548640"/>
          </a:xfrm>
          <a:prstGeom prst="rect">
            <a:avLst/>
          </a:prstGeom>
          <a:noFill/>
          <a:ln/>
        </p:spPr>
        <p:txBody>
          <a:bodyPr wrap="square" rtlCol="0" anchor="ctr"/>
          <a:lstStyle/>
          <a:p>
            <a:pPr marL="0" indent="0">
              <a:buNone/>
            </a:pPr>
            <a:r>
              <a:rPr lang="en-US" sz="1100" dirty="0">
                <a:solidFill>
                  <a:srgbClr val="8B99B8"/>
                </a:solidFill>
                <a:latin typeface="Calibri" pitchFamily="34" charset="0"/>
                <a:ea typeface="Calibri" pitchFamily="34" charset="-122"/>
                <a:cs typeface="Calibri" pitchFamily="34" charset="-120"/>
              </a:rPr>
              <a:t>Clean Archi sans DDD → couches bien séparées mais modèles anémiques.</a:t>
            </a:r>
            <a:endParaRPr lang="en-US" sz="1100" dirty="0"/>
          </a:p>
        </p:txBody>
      </p:sp>
      <p:sp>
        <p:nvSpPr>
          <p:cNvPr id="14" name="Shape 12"/>
          <p:cNvSpPr/>
          <p:nvPr/>
        </p:nvSpPr>
        <p:spPr>
          <a:xfrm>
            <a:off x="548640" y="3840480"/>
            <a:ext cx="8046720" cy="9144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nchor="ctr"/>
          <a:lstStyle/>
          <a:p>
            <a:endParaRPr lang="en-US" dirty="0"/>
          </a:p>
        </p:txBody>
      </p:sp>
      <p:sp>
        <p:nvSpPr>
          <p:cNvPr id="15" name="Text 13"/>
          <p:cNvSpPr/>
          <p:nvPr/>
        </p:nvSpPr>
        <p:spPr>
          <a:xfrm>
            <a:off x="731520" y="4023360"/>
            <a:ext cx="7680960" cy="548640"/>
          </a:xfrm>
          <a:prstGeom prst="rect">
            <a:avLst/>
          </a:prstGeom>
          <a:noFill/>
          <a:ln/>
        </p:spPr>
        <p:txBody>
          <a:bodyPr wrap="square" rtlCol="0" anchor="ctr"/>
          <a:lstStyle/>
          <a:p>
            <a:pPr marL="0" indent="0" algn="ctr">
              <a:buNone/>
            </a:pPr>
            <a:r>
              <a:rPr lang="en-US" sz="1400" b="1" dirty="0">
                <a:solidFill>
                  <a:srgbClr val="00BFFF"/>
                </a:solidFill>
                <a:latin typeface="Calibri" pitchFamily="34" charset="0"/>
                <a:ea typeface="Calibri" pitchFamily="34" charset="-122"/>
                <a:cs typeface="Calibri" pitchFamily="34" charset="-120"/>
              </a:rPr>
              <a:t>Les deux ensemble → un domaine riche ET isolé de </a:t>
            </a:r>
            <a:r>
              <a:rPr lang="en-US" sz="1400" b="1" dirty="0" err="1">
                <a:solidFill>
                  <a:srgbClr val="00BFFF"/>
                </a:solidFill>
                <a:latin typeface="Calibri" pitchFamily="34" charset="0"/>
                <a:ea typeface="Calibri" pitchFamily="34" charset="-122"/>
                <a:cs typeface="Calibri" pitchFamily="34" charset="-120"/>
              </a:rPr>
              <a:t>l'infrastructure</a:t>
            </a:r>
            <a:r>
              <a:rPr lang="en-US" sz="1400" b="1" dirty="0">
                <a:solidFill>
                  <a:srgbClr val="00BFFF"/>
                </a:solidFill>
                <a:latin typeface="Calibri" pitchFamily="34" charset="0"/>
                <a:ea typeface="Calibri" pitchFamily="34" charset="-122"/>
                <a:cs typeface="Calibri" pitchFamily="34" charset="-120"/>
              </a:rPr>
              <a:t>.</a:t>
            </a:r>
            <a:br>
              <a:rPr lang="en-US" sz="1400" b="1" dirty="0">
                <a:solidFill>
                  <a:srgbClr val="00BFFF"/>
                </a:solidFill>
                <a:latin typeface="Calibri" pitchFamily="34" charset="0"/>
                <a:ea typeface="Calibri" pitchFamily="34" charset="-122"/>
                <a:cs typeface="Calibri" pitchFamily="34" charset="-120"/>
              </a:rPr>
            </a:br>
            <a:r>
              <a:rPr lang="en-US" sz="1400" b="1" dirty="0" err="1">
                <a:solidFill>
                  <a:srgbClr val="00BFFF"/>
                </a:solidFill>
                <a:latin typeface="Calibri" pitchFamily="34" charset="0"/>
                <a:ea typeface="Calibri" pitchFamily="34" charset="-122"/>
                <a:cs typeface="Calibri" pitchFamily="34" charset="-120"/>
              </a:rPr>
              <a:t>C'est</a:t>
            </a:r>
            <a:r>
              <a:rPr lang="en-US" sz="1400" b="1" dirty="0">
                <a:solidFill>
                  <a:srgbClr val="00BFFF"/>
                </a:solidFill>
                <a:latin typeface="Calibri" pitchFamily="34" charset="0"/>
                <a:ea typeface="Calibri" pitchFamily="34" charset="-122"/>
                <a:cs typeface="Calibri" pitchFamily="34" charset="-120"/>
              </a:rPr>
              <a:t> ce </a:t>
            </a:r>
            <a:r>
              <a:rPr lang="en-US" sz="1400" b="1" dirty="0" err="1">
                <a:solidFill>
                  <a:srgbClr val="00BFFF"/>
                </a:solidFill>
                <a:latin typeface="Calibri" pitchFamily="34" charset="0"/>
                <a:ea typeface="Calibri" pitchFamily="34" charset="-122"/>
                <a:cs typeface="Calibri" pitchFamily="34" charset="-120"/>
              </a:rPr>
              <a:t>qu'on</a:t>
            </a:r>
            <a:r>
              <a:rPr lang="en-US" sz="1400" b="1" dirty="0">
                <a:solidFill>
                  <a:srgbClr val="00BFFF"/>
                </a:solidFill>
                <a:latin typeface="Calibri" pitchFamily="34" charset="0"/>
                <a:ea typeface="Calibri" pitchFamily="34" charset="-122"/>
                <a:cs typeface="Calibri" pitchFamily="34" charset="-120"/>
              </a:rPr>
              <a:t> vise.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DDD — Le quoi</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10</a:t>
            </a:r>
            <a:endParaRPr lang="en-US" sz="900" dirty="0"/>
          </a:p>
        </p:txBody>
      </p:sp>
      <p:sp>
        <p:nvSpPr>
          <p:cNvPr id="6" name="Text 4"/>
          <p:cNvSpPr/>
          <p:nvPr/>
        </p:nvSpPr>
        <p:spPr>
          <a:xfrm>
            <a:off x="548640" y="1005840"/>
            <a:ext cx="8046720" cy="2743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Le Domain-Driven Design répond à la question :</a:t>
            </a:r>
            <a:endParaRPr lang="en-US" sz="1300" dirty="0"/>
          </a:p>
        </p:txBody>
      </p:sp>
      <p:sp>
        <p:nvSpPr>
          <p:cNvPr id="7" name="Text 5"/>
          <p:cNvSpPr/>
          <p:nvPr/>
        </p:nvSpPr>
        <p:spPr>
          <a:xfrm>
            <a:off x="548640" y="1280160"/>
            <a:ext cx="8046720" cy="365760"/>
          </a:xfrm>
          <a:prstGeom prst="rect">
            <a:avLst/>
          </a:prstGeom>
          <a:noFill/>
          <a:ln/>
        </p:spPr>
        <p:txBody>
          <a:bodyPr wrap="square" rtlCol="0" anchor="ctr"/>
          <a:lstStyle/>
          <a:p>
            <a:pPr marL="0" indent="0">
              <a:buNone/>
            </a:pPr>
            <a:r>
              <a:rPr lang="en-US" sz="1600" b="1" dirty="0">
                <a:solidFill>
                  <a:srgbClr val="00BFFF"/>
                </a:solidFill>
                <a:latin typeface="Calibri" pitchFamily="34" charset="0"/>
                <a:ea typeface="Calibri" pitchFamily="34" charset="-122"/>
                <a:cs typeface="Calibri" pitchFamily="34" charset="-120"/>
              </a:rPr>
              <a:t>Comment modéliser mon métier dans le code ?</a:t>
            </a:r>
            <a:endParaRPr lang="en-US" sz="1600" dirty="0"/>
          </a:p>
        </p:txBody>
      </p:sp>
      <p:sp>
        <p:nvSpPr>
          <p:cNvPr id="8" name="Shape 6"/>
          <p:cNvSpPr/>
          <p:nvPr/>
        </p:nvSpPr>
        <p:spPr>
          <a:xfrm>
            <a:off x="548640" y="1760220"/>
            <a:ext cx="8046720" cy="50292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9" name="Shape 7"/>
          <p:cNvSpPr/>
          <p:nvPr/>
        </p:nvSpPr>
        <p:spPr>
          <a:xfrm>
            <a:off x="548640" y="1760220"/>
            <a:ext cx="54864" cy="502920"/>
          </a:xfrm>
          <a:prstGeom prst="rect">
            <a:avLst/>
          </a:prstGeom>
          <a:solidFill>
            <a:srgbClr val="1E90FF"/>
          </a:solidFill>
          <a:ln/>
        </p:spPr>
        <p:txBody>
          <a:bodyPr/>
          <a:lstStyle/>
          <a:p>
            <a:endParaRPr lang="en-US"/>
          </a:p>
        </p:txBody>
      </p:sp>
      <p:sp>
        <p:nvSpPr>
          <p:cNvPr id="10" name="Text 8"/>
          <p:cNvSpPr/>
          <p:nvPr/>
        </p:nvSpPr>
        <p:spPr>
          <a:xfrm>
            <a:off x="822960" y="1760220"/>
            <a:ext cx="7589520" cy="502920"/>
          </a:xfrm>
          <a:prstGeom prst="rect">
            <a:avLst/>
          </a:prstGeom>
          <a:noFill/>
          <a:ln/>
        </p:spPr>
        <p:txBody>
          <a:bodyPr wrap="square" rtlCol="0" anchor="ctr"/>
          <a:lstStyle/>
          <a:p>
            <a:pPr marL="0" indent="0">
              <a:buNone/>
            </a:pPr>
            <a:r>
              <a:rPr lang="en-US" sz="1300" b="1" dirty="0">
                <a:solidFill>
                  <a:srgbClr val="00BFFF"/>
                </a:solidFill>
                <a:latin typeface="Calibri" pitchFamily="34" charset="0"/>
                <a:ea typeface="Calibri" pitchFamily="34" charset="-122"/>
                <a:cs typeface="Calibri" pitchFamily="34" charset="-120"/>
              </a:rPr>
              <a:t>Value Object — </a:t>
            </a:r>
            <a:r>
              <a:rPr lang="en-US" sz="1300" dirty="0">
                <a:solidFill>
                  <a:srgbClr val="E8ECF4"/>
                </a:solidFill>
                <a:latin typeface="Calibri" pitchFamily="34" charset="0"/>
                <a:ea typeface="Calibri" pitchFamily="34" charset="-122"/>
                <a:cs typeface="Calibri" pitchFamily="34" charset="-120"/>
              </a:rPr>
              <a:t>un objet défini par ses valeurs (Email, Money, IBAN)</a:t>
            </a:r>
            <a:endParaRPr lang="en-US" sz="1300" dirty="0"/>
          </a:p>
        </p:txBody>
      </p:sp>
      <p:sp>
        <p:nvSpPr>
          <p:cNvPr id="11" name="Shape 9"/>
          <p:cNvSpPr/>
          <p:nvPr/>
        </p:nvSpPr>
        <p:spPr>
          <a:xfrm>
            <a:off x="548640" y="2354580"/>
            <a:ext cx="8046720" cy="50292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2" name="Shape 10"/>
          <p:cNvSpPr/>
          <p:nvPr/>
        </p:nvSpPr>
        <p:spPr>
          <a:xfrm>
            <a:off x="548640" y="2354580"/>
            <a:ext cx="54864" cy="502920"/>
          </a:xfrm>
          <a:prstGeom prst="rect">
            <a:avLst/>
          </a:prstGeom>
          <a:solidFill>
            <a:srgbClr val="1E90FF"/>
          </a:solidFill>
          <a:ln/>
        </p:spPr>
        <p:txBody>
          <a:bodyPr/>
          <a:lstStyle/>
          <a:p>
            <a:endParaRPr lang="en-US"/>
          </a:p>
        </p:txBody>
      </p:sp>
      <p:sp>
        <p:nvSpPr>
          <p:cNvPr id="13" name="Text 11"/>
          <p:cNvSpPr/>
          <p:nvPr/>
        </p:nvSpPr>
        <p:spPr>
          <a:xfrm>
            <a:off x="822960" y="2354580"/>
            <a:ext cx="7589520" cy="502920"/>
          </a:xfrm>
          <a:prstGeom prst="rect">
            <a:avLst/>
          </a:prstGeom>
          <a:noFill/>
          <a:ln/>
        </p:spPr>
        <p:txBody>
          <a:bodyPr wrap="square" rtlCol="0" anchor="ctr"/>
          <a:lstStyle/>
          <a:p>
            <a:pPr marL="0" indent="0">
              <a:buNone/>
            </a:pPr>
            <a:r>
              <a:rPr lang="en-US" sz="1300" b="1" dirty="0">
                <a:solidFill>
                  <a:srgbClr val="00BFFF"/>
                </a:solidFill>
                <a:latin typeface="Calibri" pitchFamily="34" charset="0"/>
                <a:ea typeface="Calibri" pitchFamily="34" charset="-122"/>
                <a:cs typeface="Calibri" pitchFamily="34" charset="-120"/>
              </a:rPr>
              <a:t>Entity — </a:t>
            </a:r>
            <a:r>
              <a:rPr lang="en-US" sz="1300" dirty="0">
                <a:solidFill>
                  <a:srgbClr val="E8ECF4"/>
                </a:solidFill>
                <a:latin typeface="Calibri" pitchFamily="34" charset="0"/>
                <a:ea typeface="Calibri" pitchFamily="34" charset="-122"/>
                <a:cs typeface="Calibri" pitchFamily="34" charset="-120"/>
              </a:rPr>
              <a:t>un objet avec une identité unique et un cycle de vie (User, Order, BankAccount)</a:t>
            </a:r>
            <a:endParaRPr lang="en-US" sz="1300" dirty="0"/>
          </a:p>
        </p:txBody>
      </p:sp>
      <p:sp>
        <p:nvSpPr>
          <p:cNvPr id="14" name="Shape 12"/>
          <p:cNvSpPr/>
          <p:nvPr/>
        </p:nvSpPr>
        <p:spPr>
          <a:xfrm>
            <a:off x="548640" y="2948940"/>
            <a:ext cx="8046720" cy="50292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5" name="Shape 13"/>
          <p:cNvSpPr/>
          <p:nvPr/>
        </p:nvSpPr>
        <p:spPr>
          <a:xfrm>
            <a:off x="548640" y="2948940"/>
            <a:ext cx="54864" cy="502920"/>
          </a:xfrm>
          <a:prstGeom prst="rect">
            <a:avLst/>
          </a:prstGeom>
          <a:solidFill>
            <a:srgbClr val="1E90FF"/>
          </a:solidFill>
          <a:ln/>
        </p:spPr>
        <p:txBody>
          <a:bodyPr/>
          <a:lstStyle/>
          <a:p>
            <a:endParaRPr lang="en-US"/>
          </a:p>
        </p:txBody>
      </p:sp>
      <p:sp>
        <p:nvSpPr>
          <p:cNvPr id="16" name="Text 14"/>
          <p:cNvSpPr/>
          <p:nvPr/>
        </p:nvSpPr>
        <p:spPr>
          <a:xfrm>
            <a:off x="822960" y="2948940"/>
            <a:ext cx="7589520" cy="502920"/>
          </a:xfrm>
          <a:prstGeom prst="rect">
            <a:avLst/>
          </a:prstGeom>
          <a:noFill/>
          <a:ln/>
        </p:spPr>
        <p:txBody>
          <a:bodyPr wrap="square" rtlCol="0" anchor="ctr"/>
          <a:lstStyle/>
          <a:p>
            <a:pPr marL="0" indent="0">
              <a:buNone/>
            </a:pPr>
            <a:r>
              <a:rPr lang="en-US" sz="1300" b="1" dirty="0">
                <a:solidFill>
                  <a:srgbClr val="00BFFF"/>
                </a:solidFill>
                <a:latin typeface="Calibri" pitchFamily="34" charset="0"/>
                <a:ea typeface="Calibri" pitchFamily="34" charset="-122"/>
                <a:cs typeface="Calibri" pitchFamily="34" charset="-120"/>
              </a:rPr>
              <a:t>Aggregate — </a:t>
            </a:r>
            <a:r>
              <a:rPr lang="en-US" sz="1300" dirty="0">
                <a:solidFill>
                  <a:srgbClr val="E8ECF4"/>
                </a:solidFill>
                <a:latin typeface="Calibri" pitchFamily="34" charset="0"/>
                <a:ea typeface="Calibri" pitchFamily="34" charset="-122"/>
                <a:cs typeface="Calibri" pitchFamily="34" charset="-120"/>
              </a:rPr>
              <a:t>un groupe d'objets qui doivent rester cohérents ensemble</a:t>
            </a:r>
            <a:endParaRPr lang="en-US" sz="1300" dirty="0"/>
          </a:p>
        </p:txBody>
      </p:sp>
      <p:sp>
        <p:nvSpPr>
          <p:cNvPr id="17" name="Shape 15"/>
          <p:cNvSpPr/>
          <p:nvPr/>
        </p:nvSpPr>
        <p:spPr>
          <a:xfrm>
            <a:off x="548640" y="3543300"/>
            <a:ext cx="8046720" cy="50292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8" name="Shape 16"/>
          <p:cNvSpPr/>
          <p:nvPr/>
        </p:nvSpPr>
        <p:spPr>
          <a:xfrm>
            <a:off x="548640" y="3543300"/>
            <a:ext cx="54864" cy="502920"/>
          </a:xfrm>
          <a:prstGeom prst="rect">
            <a:avLst/>
          </a:prstGeom>
          <a:solidFill>
            <a:srgbClr val="1E90FF"/>
          </a:solidFill>
          <a:ln/>
        </p:spPr>
        <p:txBody>
          <a:bodyPr/>
          <a:lstStyle/>
          <a:p>
            <a:endParaRPr lang="en-US"/>
          </a:p>
        </p:txBody>
      </p:sp>
      <p:sp>
        <p:nvSpPr>
          <p:cNvPr id="19" name="Text 17"/>
          <p:cNvSpPr/>
          <p:nvPr/>
        </p:nvSpPr>
        <p:spPr>
          <a:xfrm>
            <a:off x="822960" y="3543300"/>
            <a:ext cx="7589520" cy="502920"/>
          </a:xfrm>
          <a:prstGeom prst="rect">
            <a:avLst/>
          </a:prstGeom>
          <a:noFill/>
          <a:ln/>
        </p:spPr>
        <p:txBody>
          <a:bodyPr wrap="square" rtlCol="0" anchor="ctr"/>
          <a:lstStyle/>
          <a:p>
            <a:pPr marL="0" indent="0">
              <a:buNone/>
            </a:pPr>
            <a:r>
              <a:rPr lang="en-US" sz="1300" b="1" dirty="0">
                <a:solidFill>
                  <a:srgbClr val="00BFFF"/>
                </a:solidFill>
                <a:latin typeface="Calibri" pitchFamily="34" charset="0"/>
                <a:ea typeface="Calibri" pitchFamily="34" charset="-122"/>
                <a:cs typeface="Calibri" pitchFamily="34" charset="-120"/>
              </a:rPr>
              <a:t>Ubiquitous Language — </a:t>
            </a:r>
            <a:r>
              <a:rPr lang="en-US" sz="1300" dirty="0">
                <a:solidFill>
                  <a:srgbClr val="E8ECF4"/>
                </a:solidFill>
                <a:latin typeface="Calibri" pitchFamily="34" charset="0"/>
                <a:ea typeface="Calibri" pitchFamily="34" charset="-122"/>
                <a:cs typeface="Calibri" pitchFamily="34" charset="-120"/>
              </a:rPr>
              <a:t>le vocabulaire partagé entre devs et métier</a:t>
            </a:r>
            <a:endParaRPr lang="en-US" sz="1300" dirty="0"/>
          </a:p>
        </p:txBody>
      </p:sp>
      <p:sp>
        <p:nvSpPr>
          <p:cNvPr id="20" name="Shape 18"/>
          <p:cNvSpPr/>
          <p:nvPr/>
        </p:nvSpPr>
        <p:spPr>
          <a:xfrm>
            <a:off x="548640" y="4137660"/>
            <a:ext cx="8046720" cy="50292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dirty="0"/>
          </a:p>
        </p:txBody>
      </p:sp>
      <p:sp>
        <p:nvSpPr>
          <p:cNvPr id="21" name="Shape 19"/>
          <p:cNvSpPr/>
          <p:nvPr/>
        </p:nvSpPr>
        <p:spPr>
          <a:xfrm>
            <a:off x="548640" y="4137660"/>
            <a:ext cx="54864" cy="502920"/>
          </a:xfrm>
          <a:prstGeom prst="rect">
            <a:avLst/>
          </a:prstGeom>
          <a:solidFill>
            <a:srgbClr val="1E90FF"/>
          </a:solidFill>
          <a:ln/>
        </p:spPr>
        <p:txBody>
          <a:bodyPr/>
          <a:lstStyle/>
          <a:p>
            <a:endParaRPr lang="en-US"/>
          </a:p>
        </p:txBody>
      </p:sp>
      <p:sp>
        <p:nvSpPr>
          <p:cNvPr id="22" name="Text 20"/>
          <p:cNvSpPr/>
          <p:nvPr/>
        </p:nvSpPr>
        <p:spPr>
          <a:xfrm>
            <a:off x="822960" y="4137660"/>
            <a:ext cx="7589520" cy="502920"/>
          </a:xfrm>
          <a:prstGeom prst="rect">
            <a:avLst/>
          </a:prstGeom>
          <a:noFill/>
          <a:ln/>
        </p:spPr>
        <p:txBody>
          <a:bodyPr wrap="square" rtlCol="0" anchor="ctr"/>
          <a:lstStyle/>
          <a:p>
            <a:pPr marL="0" indent="0">
              <a:buNone/>
            </a:pPr>
            <a:r>
              <a:rPr lang="en-US" sz="1300" b="1" dirty="0">
                <a:solidFill>
                  <a:srgbClr val="00BFFF"/>
                </a:solidFill>
                <a:latin typeface="Calibri" pitchFamily="34" charset="0"/>
                <a:ea typeface="Calibri" pitchFamily="34" charset="-122"/>
                <a:cs typeface="Calibri" pitchFamily="34" charset="-120"/>
              </a:rPr>
              <a:t>Bounded Context — </a:t>
            </a:r>
            <a:r>
              <a:rPr lang="en-US" sz="1300" dirty="0">
                <a:solidFill>
                  <a:srgbClr val="E8ECF4"/>
                </a:solidFill>
                <a:latin typeface="Calibri" pitchFamily="34" charset="0"/>
                <a:ea typeface="Calibri" pitchFamily="34" charset="-122"/>
                <a:cs typeface="Calibri" pitchFamily="34" charset="-120"/>
              </a:rPr>
              <a:t>les frontières entre sous-domaines</a:t>
            </a:r>
            <a:endParaRPr lang="en-US" sz="1300" dirty="0"/>
          </a:p>
        </p:txBody>
      </p:sp>
      <p:sp>
        <p:nvSpPr>
          <p:cNvPr id="23" name="Text 21"/>
          <p:cNvSpPr/>
          <p:nvPr/>
        </p:nvSpPr>
        <p:spPr>
          <a:xfrm>
            <a:off x="548640" y="4732020"/>
            <a:ext cx="8046720" cy="274320"/>
          </a:xfrm>
          <a:prstGeom prst="rect">
            <a:avLst/>
          </a:prstGeom>
          <a:noFill/>
          <a:ln/>
        </p:spPr>
        <p:txBody>
          <a:bodyPr wrap="square" rtlCol="0" anchor="ctr"/>
          <a:lstStyle/>
          <a:p>
            <a:pPr marL="0" indent="0">
              <a:buNone/>
            </a:pPr>
            <a:r>
              <a:rPr lang="en-US" sz="1300" dirty="0">
                <a:solidFill>
                  <a:srgbClr val="8B99B8"/>
                </a:solidFill>
                <a:latin typeface="Calibri" pitchFamily="34" charset="0"/>
                <a:ea typeface="Calibri" pitchFamily="34" charset="-122"/>
                <a:cs typeface="Calibri" pitchFamily="34" charset="-120"/>
              </a:rPr>
              <a:t>Le DDD dit quoi mettre dans ton code. Il donne la substance.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Clean Architecture — Le où</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11</a:t>
            </a:r>
            <a:endParaRPr lang="en-US" sz="900" dirty="0"/>
          </a:p>
        </p:txBody>
      </p:sp>
      <p:sp>
        <p:nvSpPr>
          <p:cNvPr id="6" name="Text 4"/>
          <p:cNvSpPr/>
          <p:nvPr/>
        </p:nvSpPr>
        <p:spPr>
          <a:xfrm>
            <a:off x="548639" y="1005841"/>
            <a:ext cx="8046719" cy="1634266"/>
          </a:xfrm>
          <a:prstGeom prst="rect">
            <a:avLst/>
          </a:prstGeom>
          <a:noFill/>
          <a:ln/>
        </p:spPr>
        <p:txBody>
          <a:bodyPr wrap="square" rtlCol="0" anchor="ctr"/>
          <a:lstStyle/>
          <a:p>
            <a:pPr marL="0" indent="0" algn="just">
              <a:buNone/>
            </a:pPr>
            <a:r>
              <a:rPr lang="en-US" sz="1300" dirty="0">
                <a:solidFill>
                  <a:srgbClr val="E8ECF4"/>
                </a:solidFill>
                <a:latin typeface="Calibri" pitchFamily="34" charset="0"/>
                <a:ea typeface="Calibri" pitchFamily="34" charset="-122"/>
                <a:cs typeface="Calibri" pitchFamily="34" charset="-120"/>
              </a:rPr>
              <a:t>La Clean Architecture répond à la question :</a:t>
            </a:r>
            <a:endParaRPr lang="en-US" sz="1300" dirty="0"/>
          </a:p>
          <a:p>
            <a:pPr marL="0" indent="0">
              <a:buNone/>
            </a:pPr>
            <a:r>
              <a:rPr lang="en-US" sz="1500" b="1" dirty="0">
                <a:solidFill>
                  <a:srgbClr val="00BFFF"/>
                </a:solidFill>
                <a:latin typeface="Calibri" pitchFamily="34" charset="0"/>
                <a:ea typeface="Calibri" pitchFamily="34" charset="-122"/>
                <a:cs typeface="Calibri" pitchFamily="34" charset="-120"/>
              </a:rPr>
              <a:t>Comment organiser mes couches pour que le métier ne dépende pas de la technique ?</a:t>
            </a:r>
            <a:endParaRPr lang="en-US" sz="1300" dirty="0"/>
          </a:p>
          <a:p>
            <a:pPr marL="0" indent="0">
              <a:buNone/>
            </a:pPr>
            <a:endParaRPr lang="en-US" sz="1300" dirty="0"/>
          </a:p>
          <a:p>
            <a:pPr marL="0" indent="0">
              <a:buNone/>
            </a:pPr>
            <a:r>
              <a:rPr lang="en-US" sz="1300" b="1" dirty="0">
                <a:solidFill>
                  <a:srgbClr val="FFFFFF"/>
                </a:solidFill>
                <a:latin typeface="Calibri" pitchFamily="34" charset="0"/>
                <a:ea typeface="Calibri" pitchFamily="34" charset="-122"/>
                <a:cs typeface="Calibri" pitchFamily="34" charset="-120"/>
              </a:rPr>
              <a:t>Règle d'or : </a:t>
            </a:r>
            <a:r>
              <a:rPr lang="en-US" sz="1300" dirty="0">
                <a:solidFill>
                  <a:srgbClr val="E8ECF4"/>
                </a:solidFill>
                <a:latin typeface="Calibri" pitchFamily="34" charset="0"/>
                <a:ea typeface="Calibri" pitchFamily="34" charset="-122"/>
                <a:cs typeface="Calibri" pitchFamily="34" charset="-120"/>
              </a:rPr>
              <a:t>les dépendances vont toujours de l'extérieur vers l'intérieur.</a:t>
            </a:r>
            <a:endParaRPr lang="en-US" sz="1300" dirty="0"/>
          </a:p>
          <a:p>
            <a:pPr marL="0" indent="0">
              <a:buNone/>
            </a:pPr>
            <a:r>
              <a:rPr lang="en-US" sz="1300" dirty="0">
                <a:solidFill>
                  <a:srgbClr val="E8ECF4"/>
                </a:solidFill>
                <a:latin typeface="Calibri" pitchFamily="34" charset="0"/>
                <a:ea typeface="Calibri" pitchFamily="34" charset="-122"/>
                <a:cs typeface="Calibri" pitchFamily="34" charset="-120"/>
              </a:rPr>
              <a:t>Le domaine ne connaît ni Prisma, ni NestJS, ni HTTP.</a:t>
            </a:r>
            <a:endParaRPr lang="en-US" sz="1300" dirty="0"/>
          </a:p>
          <a:p>
            <a:pPr marL="0" indent="0">
              <a:buNone/>
            </a:pPr>
            <a:endParaRPr lang="en-US" sz="1300" dirty="0"/>
          </a:p>
          <a:p>
            <a:pPr marL="0" indent="0">
              <a:buNone/>
            </a:pPr>
            <a:r>
              <a:rPr lang="en-US" sz="1300" dirty="0">
                <a:solidFill>
                  <a:srgbClr val="E8ECF4"/>
                </a:solidFill>
                <a:latin typeface="Calibri" pitchFamily="34" charset="0"/>
                <a:ea typeface="Calibri" pitchFamily="34" charset="-122"/>
                <a:cs typeface="Calibri" pitchFamily="34" charset="-120"/>
              </a:rPr>
              <a:t>La Clean Archi dit </a:t>
            </a:r>
            <a:r>
              <a:rPr lang="en-US" sz="1300" b="1" dirty="0">
                <a:solidFill>
                  <a:srgbClr val="00BFFF"/>
                </a:solidFill>
                <a:latin typeface="Calibri" pitchFamily="34" charset="0"/>
                <a:ea typeface="Calibri" pitchFamily="34" charset="-122"/>
                <a:cs typeface="Calibri" pitchFamily="34" charset="-120"/>
              </a:rPr>
              <a:t>où</a:t>
            </a:r>
            <a:r>
              <a:rPr lang="en-US" sz="1300" dirty="0">
                <a:solidFill>
                  <a:srgbClr val="E8ECF4"/>
                </a:solidFill>
                <a:latin typeface="Calibri" pitchFamily="34" charset="0"/>
                <a:ea typeface="Calibri" pitchFamily="34" charset="-122"/>
                <a:cs typeface="Calibri" pitchFamily="34" charset="-120"/>
              </a:rPr>
              <a:t> placer chaque élément. Elle donne la structure.</a:t>
            </a:r>
            <a:endParaRPr lang="en-US" sz="1300" dirty="0"/>
          </a:p>
        </p:txBody>
      </p:sp>
      <p:sp>
        <p:nvSpPr>
          <p:cNvPr id="8" name="Text 5"/>
          <p:cNvSpPr/>
          <p:nvPr/>
        </p:nvSpPr>
        <p:spPr>
          <a:xfrm>
            <a:off x="548639" y="3560333"/>
            <a:ext cx="3474720" cy="274320"/>
          </a:xfrm>
          <a:prstGeom prst="rect">
            <a:avLst/>
          </a:prstGeom>
          <a:noFill/>
          <a:ln/>
        </p:spPr>
        <p:txBody>
          <a:bodyPr wrap="square" rtlCol="0" anchor="ctr"/>
          <a:lstStyle/>
          <a:p>
            <a:pPr marL="0" indent="0">
              <a:buNone/>
            </a:pPr>
            <a:r>
              <a:rPr lang="en-US" sz="1100" dirty="0">
                <a:solidFill>
                  <a:srgbClr val="8B99B8"/>
                </a:solidFill>
                <a:latin typeface="Calibri" pitchFamily="34" charset="0"/>
                <a:ea typeface="Calibri" pitchFamily="34" charset="-122"/>
                <a:cs typeface="Calibri" pitchFamily="34" charset="-120"/>
              </a:rPr>
              <a:t>C'est une architecture en cercles concentriques :</a:t>
            </a:r>
            <a:endParaRPr lang="en-US" sz="1100" dirty="0"/>
          </a:p>
        </p:txBody>
      </p:sp>
      <p:pic>
        <p:nvPicPr>
          <p:cNvPr id="10" name="Picture 9" descr="A diagram of a software application&#10;&#10;AI-generated content may be incorrect.">
            <a:extLst>
              <a:ext uri="{FF2B5EF4-FFF2-40B4-BE49-F238E27FC236}">
                <a16:creationId xmlns:a16="http://schemas.microsoft.com/office/drawing/2014/main" id="{3716C6C1-E2CB-5CFD-F153-5CCD761F9EE3}"/>
              </a:ext>
            </a:extLst>
          </p:cNvPr>
          <p:cNvPicPr>
            <a:picLocks noChangeAspect="1"/>
          </p:cNvPicPr>
          <p:nvPr/>
        </p:nvPicPr>
        <p:blipFill>
          <a:blip r:embed="rId4"/>
          <a:stretch>
            <a:fillRect/>
          </a:stretch>
        </p:blipFill>
        <p:spPr>
          <a:xfrm>
            <a:off x="3642806" y="2768301"/>
            <a:ext cx="1858384" cy="185838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Sessions</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548640" y="1133856"/>
            <a:ext cx="3840480" cy="22860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7" name="Shape 5"/>
          <p:cNvSpPr/>
          <p:nvPr/>
        </p:nvSpPr>
        <p:spPr>
          <a:xfrm>
            <a:off x="548640" y="1133856"/>
            <a:ext cx="3840480" cy="457200"/>
          </a:xfrm>
          <a:prstGeom prst="rect">
            <a:avLst/>
          </a:prstGeom>
          <a:solidFill>
            <a:srgbClr val="1E90FF">
              <a:alpha val="40000"/>
            </a:srgbClr>
          </a:solidFill>
          <a:ln/>
        </p:spPr>
        <p:txBody>
          <a:bodyPr/>
          <a:lstStyle/>
          <a:p>
            <a:endParaRPr lang="en-US"/>
          </a:p>
        </p:txBody>
      </p:sp>
      <p:sp>
        <p:nvSpPr>
          <p:cNvPr id="8" name="Text 6"/>
          <p:cNvSpPr/>
          <p:nvPr/>
        </p:nvSpPr>
        <p:spPr>
          <a:xfrm>
            <a:off x="731520" y="1179576"/>
            <a:ext cx="347472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SESSION 1</a:t>
            </a:r>
            <a:endParaRPr lang="en-US" sz="1600" dirty="0"/>
          </a:p>
        </p:txBody>
      </p:sp>
      <p:sp>
        <p:nvSpPr>
          <p:cNvPr id="9" name="Text 7"/>
          <p:cNvSpPr/>
          <p:nvPr/>
        </p:nvSpPr>
        <p:spPr>
          <a:xfrm>
            <a:off x="731520" y="1773936"/>
            <a:ext cx="3474720" cy="1371600"/>
          </a:xfrm>
          <a:prstGeom prst="rect">
            <a:avLst/>
          </a:prstGeom>
          <a:noFill/>
          <a:ln/>
        </p:spPr>
        <p:txBody>
          <a:bodyPr wrap="square" rtlCol="0" anchor="ctr"/>
          <a:lstStyle/>
          <a:p>
            <a:pPr marL="0" indent="0">
              <a:buNone/>
            </a:pPr>
            <a:r>
              <a:rPr lang="en-US" sz="1400" dirty="0">
                <a:solidFill>
                  <a:srgbClr val="E8ECF4"/>
                </a:solidFill>
                <a:latin typeface="Calibri" pitchFamily="34" charset="0"/>
                <a:ea typeface="Calibri" pitchFamily="34" charset="-122"/>
                <a:cs typeface="Calibri" pitchFamily="34" charset="-120"/>
              </a:rPr>
              <a:t>Le DDD</a:t>
            </a:r>
          </a:p>
          <a:p>
            <a:pPr marL="0" indent="0">
              <a:buNone/>
            </a:pPr>
            <a:r>
              <a:rPr lang="en-US" sz="1400" dirty="0">
                <a:solidFill>
                  <a:srgbClr val="E8ECF4"/>
                </a:solidFill>
                <a:latin typeface="Calibri" pitchFamily="34" charset="0"/>
                <a:ea typeface="Calibri" pitchFamily="34" charset="-122"/>
                <a:cs typeface="Calibri" pitchFamily="34" charset="-120"/>
              </a:rPr>
              <a:t>Comment modéliser le domain</a:t>
            </a:r>
            <a:r>
              <a:rPr lang="en-US" sz="1400" dirty="0"/>
              <a:t> </a:t>
            </a:r>
            <a:r>
              <a:rPr lang="en-US" sz="1400" dirty="0">
                <a:solidFill>
                  <a:srgbClr val="E8ECF4"/>
                </a:solidFill>
                <a:latin typeface="Calibri" pitchFamily="34" charset="0"/>
                <a:ea typeface="Calibri" pitchFamily="34" charset="-122"/>
                <a:cs typeface="Calibri" pitchFamily="34" charset="-120"/>
              </a:rPr>
              <a:t>(Value Object, Entity, Aggregate, Bounded Context)</a:t>
            </a:r>
            <a:endParaRPr lang="en-US" sz="1400" dirty="0"/>
          </a:p>
        </p:txBody>
      </p:sp>
      <p:sp>
        <p:nvSpPr>
          <p:cNvPr id="10" name="Shape 8"/>
          <p:cNvSpPr/>
          <p:nvPr/>
        </p:nvSpPr>
        <p:spPr>
          <a:xfrm>
            <a:off x="4754880" y="1133856"/>
            <a:ext cx="3840480" cy="22860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1" name="Shape 9"/>
          <p:cNvSpPr/>
          <p:nvPr/>
        </p:nvSpPr>
        <p:spPr>
          <a:xfrm>
            <a:off x="4754880" y="1133856"/>
            <a:ext cx="3840480" cy="457200"/>
          </a:xfrm>
          <a:prstGeom prst="rect">
            <a:avLst/>
          </a:prstGeom>
          <a:solidFill>
            <a:srgbClr val="00BFFF">
              <a:alpha val="40000"/>
            </a:srgbClr>
          </a:solidFill>
          <a:ln/>
        </p:spPr>
        <p:txBody>
          <a:bodyPr/>
          <a:lstStyle/>
          <a:p>
            <a:endParaRPr lang="en-US"/>
          </a:p>
        </p:txBody>
      </p:sp>
      <p:sp>
        <p:nvSpPr>
          <p:cNvPr id="12" name="Text 10"/>
          <p:cNvSpPr/>
          <p:nvPr/>
        </p:nvSpPr>
        <p:spPr>
          <a:xfrm>
            <a:off x="4937760" y="1179576"/>
            <a:ext cx="347472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SESSION 2</a:t>
            </a:r>
            <a:endParaRPr lang="en-US" sz="1600" dirty="0"/>
          </a:p>
        </p:txBody>
      </p:sp>
      <p:sp>
        <p:nvSpPr>
          <p:cNvPr id="13" name="Text 11"/>
          <p:cNvSpPr/>
          <p:nvPr/>
        </p:nvSpPr>
        <p:spPr>
          <a:xfrm>
            <a:off x="4937760" y="1773936"/>
            <a:ext cx="3474720" cy="1371600"/>
          </a:xfrm>
          <a:prstGeom prst="rect">
            <a:avLst/>
          </a:prstGeom>
          <a:noFill/>
          <a:ln/>
        </p:spPr>
        <p:txBody>
          <a:bodyPr wrap="square" rtlCol="0" anchor="ctr"/>
          <a:lstStyle/>
          <a:p>
            <a:pPr marL="0" indent="0">
              <a:buNone/>
            </a:pPr>
            <a:r>
              <a:rPr lang="en-US" sz="1400" dirty="0">
                <a:solidFill>
                  <a:srgbClr val="E8ECF4"/>
                </a:solidFill>
                <a:latin typeface="Calibri" pitchFamily="34" charset="0"/>
                <a:ea typeface="Calibri" pitchFamily="34" charset="-122"/>
                <a:cs typeface="Calibri" pitchFamily="34" charset="-120"/>
              </a:rPr>
              <a:t>La Clean Architecture</a:t>
            </a:r>
          </a:p>
          <a:p>
            <a:pPr marL="0" indent="0">
              <a:buNone/>
            </a:pPr>
            <a:r>
              <a:rPr lang="en-US" sz="1400" dirty="0">
                <a:solidFill>
                  <a:srgbClr val="E8ECF4"/>
                </a:solidFill>
                <a:latin typeface="Calibri" pitchFamily="34" charset="0"/>
                <a:ea typeface="Calibri" pitchFamily="34" charset="-122"/>
                <a:cs typeface="Calibri" pitchFamily="34" charset="-120"/>
              </a:rPr>
              <a:t>Comment organiser les couches</a:t>
            </a:r>
            <a:r>
              <a:rPr lang="en-US" sz="1400" dirty="0"/>
              <a:t> </a:t>
            </a:r>
            <a:r>
              <a:rPr lang="en-US" sz="1400" dirty="0">
                <a:solidFill>
                  <a:srgbClr val="E8ECF4"/>
                </a:solidFill>
                <a:latin typeface="Calibri" pitchFamily="34" charset="0"/>
                <a:ea typeface="Calibri" pitchFamily="34" charset="-122"/>
                <a:cs typeface="Calibri" pitchFamily="34" charset="-120"/>
              </a:rPr>
              <a:t>(Use Case, Repository, UoW, DI, Controller, DTO)</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1371600"/>
            <a:ext cx="9144000" cy="1097280"/>
          </a:xfrm>
          <a:prstGeom prst="rect">
            <a:avLst/>
          </a:prstGeom>
          <a:noFill/>
          <a:ln/>
        </p:spPr>
        <p:txBody>
          <a:bodyPr wrap="square" rtlCol="0" anchor="ctr"/>
          <a:lstStyle/>
          <a:p>
            <a:pPr marL="0" indent="0" algn="ctr">
              <a:buNone/>
            </a:pPr>
            <a:r>
              <a:rPr lang="en-US" sz="6000" b="1" kern="0" spc="800" dirty="0">
                <a:solidFill>
                  <a:srgbClr val="FFFFFF"/>
                </a:solidFill>
                <a:latin typeface="Calibri" pitchFamily="34" charset="0"/>
                <a:ea typeface="Calibri" pitchFamily="34" charset="-122"/>
                <a:cs typeface="Calibri" pitchFamily="34" charset="-120"/>
              </a:rPr>
              <a:t>BLOC 3</a:t>
            </a:r>
            <a:endParaRPr lang="en-US" sz="6000" dirty="0"/>
          </a:p>
        </p:txBody>
      </p:sp>
      <p:sp>
        <p:nvSpPr>
          <p:cNvPr id="3" name="Text 1"/>
          <p:cNvSpPr/>
          <p:nvPr/>
        </p:nvSpPr>
        <p:spPr>
          <a:xfrm>
            <a:off x="914400" y="2560320"/>
            <a:ext cx="7315200" cy="731520"/>
          </a:xfrm>
          <a:prstGeom prst="rect">
            <a:avLst/>
          </a:prstGeom>
          <a:noFill/>
          <a:ln/>
        </p:spPr>
        <p:txBody>
          <a:bodyPr wrap="square" rtlCol="0" anchor="ctr"/>
          <a:lstStyle/>
          <a:p>
            <a:pPr marL="0" indent="0" algn="ctr">
              <a:buNone/>
            </a:pPr>
            <a:r>
              <a:rPr lang="en-US" sz="2400" dirty="0">
                <a:solidFill>
                  <a:srgbClr val="00BFFF"/>
                </a:solidFill>
                <a:latin typeface="Calibri" pitchFamily="34" charset="0"/>
                <a:ea typeface="Calibri" pitchFamily="34" charset="-122"/>
                <a:cs typeface="Calibri" pitchFamily="34" charset="-120"/>
              </a:rPr>
              <a:t>Question aux </a:t>
            </a:r>
            <a:r>
              <a:rPr lang="en-US" sz="2400" dirty="0" err="1">
                <a:solidFill>
                  <a:srgbClr val="00BFFF"/>
                </a:solidFill>
                <a:latin typeface="Calibri" pitchFamily="34" charset="0"/>
                <a:ea typeface="Calibri" pitchFamily="34" charset="-122"/>
                <a:cs typeface="Calibri" pitchFamily="34" charset="-120"/>
              </a:rPr>
              <a:t>devs</a:t>
            </a:r>
            <a:endParaRPr lang="en-US" sz="2400" dirty="0"/>
          </a:p>
        </p:txBody>
      </p:sp>
      <p:sp>
        <p:nvSpPr>
          <p:cNvPr id="4" name="Shape 2"/>
          <p:cNvSpPr/>
          <p:nvPr/>
        </p:nvSpPr>
        <p:spPr>
          <a:xfrm>
            <a:off x="3200400" y="3474720"/>
            <a:ext cx="2743200" cy="27432"/>
          </a:xfrm>
          <a:prstGeom prst="rect">
            <a:avLst/>
          </a:prstGeom>
          <a:solidFill>
            <a:srgbClr val="1E90FF">
              <a:alpha val="60000"/>
            </a:srgbClr>
          </a:solidFill>
          <a:ln/>
        </p:spPr>
        <p:txBody>
          <a:bodyPr/>
          <a:lstStyle/>
          <a:p>
            <a:endParaRPr lang="en-US"/>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0" y="1097280"/>
            <a:ext cx="9144000" cy="548640"/>
          </a:xfrm>
          <a:prstGeom prst="rect">
            <a:avLst/>
          </a:prstGeom>
          <a:noFill/>
          <a:ln/>
        </p:spPr>
        <p:txBody>
          <a:bodyPr wrap="square" rtlCol="0" anchor="ctr"/>
          <a:lstStyle/>
          <a:p>
            <a:pPr marL="0" indent="0" algn="ctr">
              <a:buNone/>
            </a:pPr>
            <a:r>
              <a:rPr lang="en-US" sz="1600" kern="0" spc="600" dirty="0">
                <a:solidFill>
                  <a:srgbClr val="1E90FF"/>
                </a:solidFill>
                <a:latin typeface="Calibri" pitchFamily="34" charset="0"/>
                <a:ea typeface="Calibri" pitchFamily="34" charset="-122"/>
                <a:cs typeface="Calibri" pitchFamily="34" charset="-120"/>
              </a:rPr>
              <a:t>QUESTION 01</a:t>
            </a:r>
            <a:endParaRPr lang="en-US" sz="1600" dirty="0"/>
          </a:p>
        </p:txBody>
      </p:sp>
      <p:sp>
        <p:nvSpPr>
          <p:cNvPr id="5" name="Text 3"/>
          <p:cNvSpPr/>
          <p:nvPr/>
        </p:nvSpPr>
        <p:spPr>
          <a:xfrm>
            <a:off x="914400" y="1828800"/>
            <a:ext cx="7315200" cy="164592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Où vit </a:t>
            </a:r>
            <a:r>
              <a:rPr lang="en-US" sz="2800" b="1" dirty="0" err="1">
                <a:solidFill>
                  <a:srgbClr val="FFFFFF"/>
                </a:solidFill>
                <a:latin typeface="Calibri" pitchFamily="34" charset="0"/>
                <a:ea typeface="Calibri" pitchFamily="34" charset="-122"/>
                <a:cs typeface="Calibri" pitchFamily="34" charset="-120"/>
              </a:rPr>
              <a:t>votre</a:t>
            </a:r>
            <a:r>
              <a:rPr lang="en-US" sz="2800" b="1" dirty="0">
                <a:solidFill>
                  <a:srgbClr val="FFFFFF"/>
                </a:solidFill>
                <a:latin typeface="Calibri" pitchFamily="34" charset="0"/>
                <a:ea typeface="Calibri" pitchFamily="34" charset="-122"/>
                <a:cs typeface="Calibri" pitchFamily="34" charset="-120"/>
              </a:rPr>
              <a:t> logique métier aujourd'hui ?</a:t>
            </a:r>
            <a:endParaRPr lang="en-US" sz="2800" dirty="0"/>
          </a:p>
        </p:txBody>
      </p:sp>
      <p:sp>
        <p:nvSpPr>
          <p:cNvPr id="6" name="Text 4"/>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0" y="1097280"/>
            <a:ext cx="9144000" cy="548640"/>
          </a:xfrm>
          <a:prstGeom prst="rect">
            <a:avLst/>
          </a:prstGeom>
          <a:noFill/>
          <a:ln/>
        </p:spPr>
        <p:txBody>
          <a:bodyPr wrap="square" rtlCol="0" anchor="ctr"/>
          <a:lstStyle/>
          <a:p>
            <a:pPr marL="0" indent="0" algn="ctr">
              <a:buNone/>
            </a:pPr>
            <a:r>
              <a:rPr lang="en-US" sz="1600" kern="0" spc="600" dirty="0">
                <a:solidFill>
                  <a:srgbClr val="1E90FF"/>
                </a:solidFill>
                <a:latin typeface="Calibri" pitchFamily="34" charset="0"/>
                <a:ea typeface="Calibri" pitchFamily="34" charset="-122"/>
                <a:cs typeface="Calibri" pitchFamily="34" charset="-120"/>
              </a:rPr>
              <a:t>QUESTION 02</a:t>
            </a:r>
            <a:endParaRPr lang="en-US" sz="1600" dirty="0"/>
          </a:p>
        </p:txBody>
      </p:sp>
      <p:sp>
        <p:nvSpPr>
          <p:cNvPr id="5" name="Text 3"/>
          <p:cNvSpPr/>
          <p:nvPr/>
        </p:nvSpPr>
        <p:spPr>
          <a:xfrm>
            <a:off x="914400" y="1828800"/>
            <a:ext cx="7315200" cy="164592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Si on vous demande de changer une règle métier. Combien de </a:t>
            </a:r>
            <a:r>
              <a:rPr lang="en-US" sz="2800" b="1" dirty="0" err="1">
                <a:solidFill>
                  <a:srgbClr val="FFFFFF"/>
                </a:solidFill>
                <a:latin typeface="Calibri" pitchFamily="34" charset="0"/>
                <a:ea typeface="Calibri" pitchFamily="34" charset="-122"/>
                <a:cs typeface="Calibri" pitchFamily="34" charset="-120"/>
              </a:rPr>
              <a:t>fichiers</a:t>
            </a:r>
            <a:r>
              <a:rPr lang="en-US" sz="2800" b="1" dirty="0">
                <a:solidFill>
                  <a:srgbClr val="FFFFFF"/>
                </a:solidFill>
                <a:latin typeface="Calibri" pitchFamily="34" charset="0"/>
                <a:ea typeface="Calibri" pitchFamily="34" charset="-122"/>
                <a:cs typeface="Calibri" pitchFamily="34" charset="-120"/>
              </a:rPr>
              <a:t> </a:t>
            </a:r>
            <a:r>
              <a:rPr lang="en-US" sz="2800" b="1" dirty="0" err="1">
                <a:solidFill>
                  <a:srgbClr val="FFFFFF"/>
                </a:solidFill>
                <a:latin typeface="Calibri" pitchFamily="34" charset="0"/>
                <a:ea typeface="Calibri" pitchFamily="34" charset="-122"/>
                <a:cs typeface="Calibri" pitchFamily="34" charset="-120"/>
              </a:rPr>
              <a:t>touchez</a:t>
            </a:r>
            <a:r>
              <a:rPr lang="en-US" sz="2800" b="1" dirty="0">
                <a:solidFill>
                  <a:srgbClr val="FFFFFF"/>
                </a:solidFill>
                <a:latin typeface="Calibri" pitchFamily="34" charset="0"/>
                <a:ea typeface="Calibri" pitchFamily="34" charset="-122"/>
                <a:cs typeface="Calibri" pitchFamily="34" charset="-120"/>
              </a:rPr>
              <a:t> vous ?</a:t>
            </a:r>
            <a:endParaRPr lang="en-US" sz="2800" dirty="0"/>
          </a:p>
        </p:txBody>
      </p:sp>
      <p:sp>
        <p:nvSpPr>
          <p:cNvPr id="6" name="Text 4"/>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0" y="1097280"/>
            <a:ext cx="9144000" cy="548640"/>
          </a:xfrm>
          <a:prstGeom prst="rect">
            <a:avLst/>
          </a:prstGeom>
          <a:noFill/>
          <a:ln/>
        </p:spPr>
        <p:txBody>
          <a:bodyPr wrap="square" rtlCol="0" anchor="ctr"/>
          <a:lstStyle/>
          <a:p>
            <a:pPr marL="0" indent="0" algn="ctr">
              <a:buNone/>
            </a:pPr>
            <a:r>
              <a:rPr lang="en-US" sz="1600" kern="0" spc="600" dirty="0">
                <a:solidFill>
                  <a:srgbClr val="1E90FF"/>
                </a:solidFill>
                <a:latin typeface="Calibri" pitchFamily="34" charset="0"/>
                <a:ea typeface="Calibri" pitchFamily="34" charset="-122"/>
                <a:cs typeface="Calibri" pitchFamily="34" charset="-120"/>
              </a:rPr>
              <a:t>QUESTION 03</a:t>
            </a:r>
            <a:endParaRPr lang="en-US" sz="1600" dirty="0"/>
          </a:p>
        </p:txBody>
      </p:sp>
      <p:sp>
        <p:nvSpPr>
          <p:cNvPr id="5" name="Text 3"/>
          <p:cNvSpPr/>
          <p:nvPr/>
        </p:nvSpPr>
        <p:spPr>
          <a:xfrm>
            <a:off x="914400" y="1828800"/>
            <a:ext cx="7315200" cy="164592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Vos tests unitaires, ils testent quoi exactement ?</a:t>
            </a:r>
            <a:endParaRPr lang="en-US" sz="2800" dirty="0"/>
          </a:p>
        </p:txBody>
      </p:sp>
      <p:sp>
        <p:nvSpPr>
          <p:cNvPr id="6" name="Text 4"/>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1371600"/>
            <a:ext cx="9144000" cy="1097280"/>
          </a:xfrm>
          <a:prstGeom prst="rect">
            <a:avLst/>
          </a:prstGeom>
          <a:noFill/>
          <a:ln/>
        </p:spPr>
        <p:txBody>
          <a:bodyPr wrap="square" rtlCol="0" anchor="ctr"/>
          <a:lstStyle/>
          <a:p>
            <a:pPr marL="0" indent="0" algn="ctr">
              <a:buNone/>
            </a:pPr>
            <a:r>
              <a:rPr lang="en-US" sz="6000" b="1" kern="0" spc="800" dirty="0">
                <a:solidFill>
                  <a:srgbClr val="FFFFFF"/>
                </a:solidFill>
                <a:latin typeface="Calibri" pitchFamily="34" charset="0"/>
                <a:ea typeface="Calibri" pitchFamily="34" charset="-122"/>
                <a:cs typeface="Calibri" pitchFamily="34" charset="-120"/>
              </a:rPr>
              <a:t>BLOC 4</a:t>
            </a:r>
            <a:endParaRPr lang="en-US" sz="6000" dirty="0"/>
          </a:p>
        </p:txBody>
      </p:sp>
      <p:sp>
        <p:nvSpPr>
          <p:cNvPr id="3" name="Text 1"/>
          <p:cNvSpPr/>
          <p:nvPr/>
        </p:nvSpPr>
        <p:spPr>
          <a:xfrm>
            <a:off x="914400" y="2560320"/>
            <a:ext cx="7315200" cy="731520"/>
          </a:xfrm>
          <a:prstGeom prst="rect">
            <a:avLst/>
          </a:prstGeom>
          <a:noFill/>
          <a:ln/>
        </p:spPr>
        <p:txBody>
          <a:bodyPr wrap="square" rtlCol="0" anchor="ctr"/>
          <a:lstStyle/>
          <a:p>
            <a:pPr marL="0" indent="0" algn="ctr">
              <a:buNone/>
            </a:pPr>
            <a:r>
              <a:rPr lang="en-US" sz="2400" dirty="0">
                <a:solidFill>
                  <a:srgbClr val="00BFFF"/>
                </a:solidFill>
                <a:latin typeface="Calibri" pitchFamily="34" charset="0"/>
                <a:ea typeface="Calibri" pitchFamily="34" charset="-122"/>
                <a:cs typeface="Calibri" pitchFamily="34" charset="-120"/>
              </a:rPr>
              <a:t>Value Object</a:t>
            </a:r>
            <a:endParaRPr lang="en-US" sz="2400" dirty="0"/>
          </a:p>
        </p:txBody>
      </p:sp>
      <p:sp>
        <p:nvSpPr>
          <p:cNvPr id="4" name="Shape 2"/>
          <p:cNvSpPr/>
          <p:nvPr/>
        </p:nvSpPr>
        <p:spPr>
          <a:xfrm>
            <a:off x="3200400" y="3474720"/>
            <a:ext cx="2743200" cy="27432"/>
          </a:xfrm>
          <a:prstGeom prst="rect">
            <a:avLst/>
          </a:prstGeom>
          <a:solidFill>
            <a:srgbClr val="1E90FF">
              <a:alpha val="60000"/>
            </a:srgbClr>
          </a:solidFill>
          <a:ln/>
        </p:spPr>
        <p:txBody>
          <a:bodyPr/>
          <a:lstStyle/>
          <a:p>
            <a:endParaRPr lang="en-US"/>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Le problème : la Primitive Obsession</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18</a:t>
            </a:r>
            <a:endParaRPr lang="en-US" sz="900" dirty="0"/>
          </a:p>
        </p:txBody>
      </p:sp>
      <p:sp>
        <p:nvSpPr>
          <p:cNvPr id="6" name="Text 4"/>
          <p:cNvSpPr/>
          <p:nvPr/>
        </p:nvSpPr>
        <p:spPr>
          <a:xfrm>
            <a:off x="548640" y="1005840"/>
            <a:ext cx="5029200" cy="365760"/>
          </a:xfrm>
          <a:prstGeom prst="rect">
            <a:avLst/>
          </a:prstGeom>
          <a:noFill/>
          <a:ln/>
        </p:spPr>
        <p:txBody>
          <a:bodyPr wrap="square" rtlCol="0" anchor="ctr"/>
          <a:lstStyle/>
          <a:p>
            <a:pPr marL="0" indent="0">
              <a:buNone/>
            </a:pPr>
            <a:r>
              <a:rPr lang="en-US" sz="1600" b="1" dirty="0">
                <a:solidFill>
                  <a:srgbClr val="00BFFF"/>
                </a:solidFill>
                <a:latin typeface="Calibri" pitchFamily="34" charset="0"/>
                <a:ea typeface="Calibri" pitchFamily="34" charset="-122"/>
                <a:cs typeface="Calibri" pitchFamily="34" charset="-120"/>
              </a:rPr>
              <a:t>Qu'est-ce qu'un email dans le code aujourd'hui ?</a:t>
            </a:r>
            <a:endParaRPr lang="en-US" sz="1600" dirty="0"/>
          </a:p>
        </p:txBody>
      </p:sp>
      <p:sp>
        <p:nvSpPr>
          <p:cNvPr id="7" name="Text 5"/>
          <p:cNvSpPr/>
          <p:nvPr/>
        </p:nvSpPr>
        <p:spPr>
          <a:xfrm>
            <a:off x="548639" y="3411071"/>
            <a:ext cx="8046719" cy="1633368"/>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Un string peut contenir n'importe quoi. Il n'y a aucune garantie que c'est un email valide. Et si on a besoin de valider l'email, on doit le faire partout où on le manipule.</a:t>
            </a:r>
            <a:endParaRPr lang="en-US" sz="1300" dirty="0"/>
          </a:p>
          <a:p>
            <a:pPr marL="0" indent="0">
              <a:buNone/>
            </a:pPr>
            <a:endParaRPr lang="en-US" sz="1300" dirty="0"/>
          </a:p>
          <a:p>
            <a:pPr marL="0" indent="0">
              <a:buNone/>
            </a:pPr>
            <a:r>
              <a:rPr lang="en-US" sz="1300" dirty="0">
                <a:solidFill>
                  <a:srgbClr val="E8ECF4"/>
                </a:solidFill>
                <a:latin typeface="Calibri" pitchFamily="34" charset="0"/>
                <a:ea typeface="Calibri" pitchFamily="34" charset="-122"/>
                <a:cs typeface="Calibri" pitchFamily="34" charset="-120"/>
              </a:rPr>
              <a:t>C'est ce qu'on appelle la Primitive Obsession : utiliser des types primitifs (string, number, boolean) pour représenter des concepts métier qui méritent leur propre type.</a:t>
            </a:r>
            <a:endParaRPr lang="en-US" sz="1300" dirty="0"/>
          </a:p>
        </p:txBody>
      </p:sp>
      <p:pic>
        <p:nvPicPr>
          <p:cNvPr id="11" name="Picture 10" descr="A computer screen shot of a program&#10;&#10;AI-generated content may be incorrect.">
            <a:extLst>
              <a:ext uri="{FF2B5EF4-FFF2-40B4-BE49-F238E27FC236}">
                <a16:creationId xmlns:a16="http://schemas.microsoft.com/office/drawing/2014/main" id="{F3A1641A-D10F-7497-C4C2-91D101B9B34F}"/>
              </a:ext>
            </a:extLst>
          </p:cNvPr>
          <p:cNvPicPr>
            <a:picLocks noChangeAspect="1"/>
          </p:cNvPicPr>
          <p:nvPr/>
        </p:nvPicPr>
        <p:blipFill>
          <a:blip r:embed="rId4"/>
          <a:stretch>
            <a:fillRect/>
          </a:stretch>
        </p:blipFill>
        <p:spPr>
          <a:xfrm>
            <a:off x="638733" y="1443792"/>
            <a:ext cx="4298578" cy="214233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La définition</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19</a:t>
            </a:r>
            <a:endParaRPr lang="en-US" sz="900" dirty="0"/>
          </a:p>
        </p:txBody>
      </p:sp>
      <p:sp>
        <p:nvSpPr>
          <p:cNvPr id="6" name="Text 4"/>
          <p:cNvSpPr/>
          <p:nvPr/>
        </p:nvSpPr>
        <p:spPr>
          <a:xfrm>
            <a:off x="548640" y="1005840"/>
            <a:ext cx="8046720" cy="365760"/>
          </a:xfrm>
          <a:prstGeom prst="rect">
            <a:avLst/>
          </a:prstGeom>
          <a:noFill/>
          <a:ln/>
        </p:spPr>
        <p:txBody>
          <a:bodyPr wrap="square" rtlCol="0" anchor="ctr"/>
          <a:lstStyle/>
          <a:p>
            <a:pPr marL="0" indent="0">
              <a:buNone/>
            </a:pPr>
            <a:r>
              <a:rPr lang="en-US" sz="1500" dirty="0">
                <a:solidFill>
                  <a:srgbClr val="E8ECF4"/>
                </a:solidFill>
                <a:latin typeface="Calibri" pitchFamily="34" charset="0"/>
                <a:ea typeface="Calibri" pitchFamily="34" charset="-122"/>
                <a:cs typeface="Calibri" pitchFamily="34" charset="-120"/>
              </a:rPr>
              <a:t>Un Value Object est un objet :</a:t>
            </a:r>
            <a:endParaRPr lang="en-US" sz="1500" dirty="0"/>
          </a:p>
        </p:txBody>
      </p:sp>
      <p:sp>
        <p:nvSpPr>
          <p:cNvPr id="7" name="Shape 5"/>
          <p:cNvSpPr/>
          <p:nvPr/>
        </p:nvSpPr>
        <p:spPr>
          <a:xfrm>
            <a:off x="548640" y="1554480"/>
            <a:ext cx="8046720" cy="82296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8" name="Shape 6"/>
          <p:cNvSpPr/>
          <p:nvPr/>
        </p:nvSpPr>
        <p:spPr>
          <a:xfrm>
            <a:off x="548640" y="1554480"/>
            <a:ext cx="54864" cy="822960"/>
          </a:xfrm>
          <a:prstGeom prst="rect">
            <a:avLst/>
          </a:prstGeom>
          <a:solidFill>
            <a:srgbClr val="1E90FF"/>
          </a:solidFill>
          <a:ln/>
        </p:spPr>
        <p:txBody>
          <a:bodyPr/>
          <a:lstStyle/>
          <a:p>
            <a:endParaRPr lang="en-US"/>
          </a:p>
        </p:txBody>
      </p:sp>
      <p:sp>
        <p:nvSpPr>
          <p:cNvPr id="9" name="Text 7"/>
          <p:cNvSpPr/>
          <p:nvPr/>
        </p:nvSpPr>
        <p:spPr>
          <a:xfrm>
            <a:off x="822960" y="1645920"/>
            <a:ext cx="7589520" cy="640080"/>
          </a:xfrm>
          <a:prstGeom prst="rect">
            <a:avLst/>
          </a:prstGeom>
          <a:noFill/>
          <a:ln/>
        </p:spPr>
        <p:txBody>
          <a:bodyPr wrap="square" rtlCol="0" anchor="ctr"/>
          <a:lstStyle/>
          <a:p>
            <a:pPr marL="0" indent="0">
              <a:buNone/>
            </a:pPr>
            <a:r>
              <a:rPr lang="en-US" sz="1500" b="1" dirty="0">
                <a:solidFill>
                  <a:srgbClr val="00BFFF"/>
                </a:solidFill>
                <a:latin typeface="Calibri" pitchFamily="34" charset="0"/>
                <a:ea typeface="Calibri" pitchFamily="34" charset="-122"/>
                <a:cs typeface="Calibri" pitchFamily="34" charset="-120"/>
              </a:rPr>
              <a:t>Défini par ses valeurs</a:t>
            </a:r>
            <a:endParaRPr lang="en-US" sz="1500" dirty="0"/>
          </a:p>
          <a:p>
            <a:pPr marL="0" indent="0">
              <a:buNone/>
            </a:pPr>
            <a:r>
              <a:rPr lang="en-US" sz="1300" dirty="0">
                <a:solidFill>
                  <a:srgbClr val="E8ECF4"/>
                </a:solidFill>
                <a:latin typeface="Calibri" pitchFamily="34" charset="0"/>
                <a:ea typeface="Calibri" pitchFamily="34" charset="-122"/>
                <a:cs typeface="Calibri" pitchFamily="34" charset="-120"/>
              </a:rPr>
              <a:t>Pas d'identité propre. Deux emails identiques sont le même objet.</a:t>
            </a:r>
            <a:endParaRPr lang="en-US" sz="1500" dirty="0"/>
          </a:p>
        </p:txBody>
      </p:sp>
      <p:sp>
        <p:nvSpPr>
          <p:cNvPr id="10" name="Shape 8"/>
          <p:cNvSpPr/>
          <p:nvPr/>
        </p:nvSpPr>
        <p:spPr>
          <a:xfrm>
            <a:off x="548640" y="2560320"/>
            <a:ext cx="8046720" cy="82296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1" name="Shape 9"/>
          <p:cNvSpPr/>
          <p:nvPr/>
        </p:nvSpPr>
        <p:spPr>
          <a:xfrm>
            <a:off x="548640" y="2560320"/>
            <a:ext cx="54864" cy="822960"/>
          </a:xfrm>
          <a:prstGeom prst="rect">
            <a:avLst/>
          </a:prstGeom>
          <a:solidFill>
            <a:srgbClr val="1E90FF"/>
          </a:solidFill>
          <a:ln/>
        </p:spPr>
        <p:txBody>
          <a:bodyPr/>
          <a:lstStyle/>
          <a:p>
            <a:endParaRPr lang="en-US"/>
          </a:p>
        </p:txBody>
      </p:sp>
      <p:sp>
        <p:nvSpPr>
          <p:cNvPr id="12" name="Text 10"/>
          <p:cNvSpPr/>
          <p:nvPr/>
        </p:nvSpPr>
        <p:spPr>
          <a:xfrm>
            <a:off x="822960" y="2651760"/>
            <a:ext cx="7589520" cy="640080"/>
          </a:xfrm>
          <a:prstGeom prst="rect">
            <a:avLst/>
          </a:prstGeom>
          <a:noFill/>
          <a:ln/>
        </p:spPr>
        <p:txBody>
          <a:bodyPr wrap="square" rtlCol="0" anchor="ctr"/>
          <a:lstStyle/>
          <a:p>
            <a:pPr marL="0" indent="0">
              <a:buNone/>
            </a:pPr>
            <a:r>
              <a:rPr lang="en-US" sz="1500" b="1" dirty="0">
                <a:solidFill>
                  <a:srgbClr val="00BFFF"/>
                </a:solidFill>
                <a:latin typeface="Calibri" pitchFamily="34" charset="0"/>
                <a:ea typeface="Calibri" pitchFamily="34" charset="-122"/>
                <a:cs typeface="Calibri" pitchFamily="34" charset="-120"/>
              </a:rPr>
              <a:t>Immutable</a:t>
            </a:r>
            <a:endParaRPr lang="en-US" sz="1500" dirty="0"/>
          </a:p>
          <a:p>
            <a:pPr marL="0" indent="0">
              <a:buNone/>
            </a:pPr>
            <a:r>
              <a:rPr lang="en-US" sz="1300" dirty="0">
                <a:solidFill>
                  <a:srgbClr val="E8ECF4"/>
                </a:solidFill>
                <a:latin typeface="Calibri" pitchFamily="34" charset="0"/>
                <a:ea typeface="Calibri" pitchFamily="34" charset="-122"/>
                <a:cs typeface="Calibri" pitchFamily="34" charset="-120"/>
              </a:rPr>
              <a:t>Une fois créé, on ne peut pas le modifier. Pour "changer" un email, on en crée un nouveau.</a:t>
            </a:r>
            <a:endParaRPr lang="en-US" sz="1500" dirty="0"/>
          </a:p>
        </p:txBody>
      </p:sp>
      <p:sp>
        <p:nvSpPr>
          <p:cNvPr id="13" name="Shape 11"/>
          <p:cNvSpPr/>
          <p:nvPr/>
        </p:nvSpPr>
        <p:spPr>
          <a:xfrm>
            <a:off x="548640" y="3566160"/>
            <a:ext cx="8046720" cy="82296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4" name="Shape 12"/>
          <p:cNvSpPr/>
          <p:nvPr/>
        </p:nvSpPr>
        <p:spPr>
          <a:xfrm>
            <a:off x="548640" y="3566160"/>
            <a:ext cx="54864" cy="822960"/>
          </a:xfrm>
          <a:prstGeom prst="rect">
            <a:avLst/>
          </a:prstGeom>
          <a:solidFill>
            <a:srgbClr val="1E90FF"/>
          </a:solidFill>
          <a:ln/>
        </p:spPr>
        <p:txBody>
          <a:bodyPr/>
          <a:lstStyle/>
          <a:p>
            <a:endParaRPr lang="en-US"/>
          </a:p>
        </p:txBody>
      </p:sp>
      <p:sp>
        <p:nvSpPr>
          <p:cNvPr id="15" name="Text 13"/>
          <p:cNvSpPr/>
          <p:nvPr/>
        </p:nvSpPr>
        <p:spPr>
          <a:xfrm>
            <a:off x="822960" y="3657600"/>
            <a:ext cx="7589520" cy="640080"/>
          </a:xfrm>
          <a:prstGeom prst="rect">
            <a:avLst/>
          </a:prstGeom>
          <a:noFill/>
          <a:ln/>
        </p:spPr>
        <p:txBody>
          <a:bodyPr wrap="square" rtlCol="0" anchor="ctr"/>
          <a:lstStyle/>
          <a:p>
            <a:pPr marL="0" indent="0">
              <a:buNone/>
            </a:pPr>
            <a:r>
              <a:rPr lang="en-US" sz="1500" b="1" dirty="0">
                <a:solidFill>
                  <a:srgbClr val="00BFFF"/>
                </a:solidFill>
                <a:latin typeface="Calibri" pitchFamily="34" charset="0"/>
                <a:ea typeface="Calibri" pitchFamily="34" charset="-122"/>
                <a:cs typeface="Calibri" pitchFamily="34" charset="-120"/>
              </a:rPr>
              <a:t>Auto-validant</a:t>
            </a:r>
            <a:endParaRPr lang="en-US" sz="1500" dirty="0"/>
          </a:p>
          <a:p>
            <a:pPr marL="0" indent="0">
              <a:buNone/>
            </a:pPr>
            <a:r>
              <a:rPr lang="en-US" sz="1300" dirty="0">
                <a:solidFill>
                  <a:srgbClr val="E8ECF4"/>
                </a:solidFill>
                <a:latin typeface="Calibri" pitchFamily="34" charset="0"/>
                <a:ea typeface="Calibri" pitchFamily="34" charset="-122"/>
                <a:cs typeface="Calibri" pitchFamily="34" charset="-120"/>
              </a:rPr>
              <a:t>Un Value Object invalide ne peut pas exister. La validation est dans le constructeur.</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Analogie</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20</a:t>
            </a:r>
            <a:endParaRPr lang="en-US" sz="900" dirty="0"/>
          </a:p>
        </p:txBody>
      </p:sp>
      <p:sp>
        <p:nvSpPr>
          <p:cNvPr id="6" name="Shape 4"/>
          <p:cNvSpPr/>
          <p:nvPr/>
        </p:nvSpPr>
        <p:spPr>
          <a:xfrm>
            <a:off x="548640" y="1097280"/>
            <a:ext cx="3840480" cy="27432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7" name="Shape 5"/>
          <p:cNvSpPr/>
          <p:nvPr/>
        </p:nvSpPr>
        <p:spPr>
          <a:xfrm>
            <a:off x="548640" y="1097280"/>
            <a:ext cx="3840480" cy="457200"/>
          </a:xfrm>
          <a:prstGeom prst="rect">
            <a:avLst/>
          </a:prstGeom>
          <a:solidFill>
            <a:srgbClr val="1E90FF">
              <a:alpha val="40000"/>
            </a:srgbClr>
          </a:solidFill>
          <a:ln/>
        </p:spPr>
        <p:txBody>
          <a:bodyPr/>
          <a:lstStyle/>
          <a:p>
            <a:endParaRPr lang="en-US"/>
          </a:p>
        </p:txBody>
      </p:sp>
      <p:sp>
        <p:nvSpPr>
          <p:cNvPr id="8" name="Text 6"/>
          <p:cNvSpPr/>
          <p:nvPr/>
        </p:nvSpPr>
        <p:spPr>
          <a:xfrm>
            <a:off x="731520" y="1143000"/>
            <a:ext cx="3474720" cy="365760"/>
          </a:xfrm>
          <a:prstGeom prst="rect">
            <a:avLst/>
          </a:prstGeom>
          <a:noFill/>
          <a:ln/>
        </p:spPr>
        <p:txBody>
          <a:bodyPr wrap="square" rtlCol="0" anchor="ctr"/>
          <a:lstStyle/>
          <a:p>
            <a:pPr marL="0" indent="0">
              <a:buNone/>
            </a:pPr>
            <a:r>
              <a:rPr lang="en-US" sz="1400" b="1" kern="0" spc="300" dirty="0">
                <a:solidFill>
                  <a:srgbClr val="FFFFFF"/>
                </a:solidFill>
                <a:latin typeface="Calibri" pitchFamily="34" charset="0"/>
                <a:ea typeface="Calibri" pitchFamily="34" charset="-122"/>
                <a:cs typeface="Calibri" pitchFamily="34" charset="-120"/>
              </a:rPr>
              <a:t>VALUE OBJECT</a:t>
            </a:r>
            <a:endParaRPr lang="en-US" sz="1400" dirty="0"/>
          </a:p>
        </p:txBody>
      </p:sp>
      <p:sp>
        <p:nvSpPr>
          <p:cNvPr id="9" name="Text 7"/>
          <p:cNvSpPr/>
          <p:nvPr/>
        </p:nvSpPr>
        <p:spPr>
          <a:xfrm>
            <a:off x="731520" y="1645920"/>
            <a:ext cx="3474720" cy="2011680"/>
          </a:xfrm>
          <a:prstGeom prst="rect">
            <a:avLst/>
          </a:prstGeom>
          <a:noFill/>
          <a:ln/>
        </p:spPr>
        <p:txBody>
          <a:bodyPr wrap="square" rtlCol="0" anchor="ctr"/>
          <a:lstStyle/>
          <a:p>
            <a:pPr marL="0" indent="0">
              <a:buNone/>
            </a:pPr>
            <a:r>
              <a:rPr lang="en-US" sz="1200" dirty="0">
                <a:solidFill>
                  <a:srgbClr val="E8ECF4"/>
                </a:solidFill>
                <a:latin typeface="Calibri" pitchFamily="34" charset="0"/>
                <a:ea typeface="Calibri" pitchFamily="34" charset="-122"/>
                <a:cs typeface="Calibri" pitchFamily="34" charset="-120"/>
              </a:rPr>
              <a:t>Un billet de 20€ est un Value Object.</a:t>
            </a:r>
          </a:p>
          <a:p>
            <a:pPr marL="0" indent="0">
              <a:buNone/>
            </a:pPr>
            <a:r>
              <a:rPr lang="en-US" sz="1200" dirty="0">
                <a:solidFill>
                  <a:srgbClr val="E8ECF4"/>
                </a:solidFill>
                <a:latin typeface="Calibri" pitchFamily="34" charset="0"/>
                <a:ea typeface="Calibri" pitchFamily="34" charset="-122"/>
                <a:cs typeface="Calibri" pitchFamily="34" charset="-120"/>
              </a:rPr>
              <a:t>Si je te donne un billet de 20€ et que tu me donnes un autre billet de 20€, on est </a:t>
            </a:r>
            <a:r>
              <a:rPr lang="en-US" sz="1200" dirty="0" err="1">
                <a:solidFill>
                  <a:srgbClr val="E8ECF4"/>
                </a:solidFill>
                <a:latin typeface="Calibri" pitchFamily="34" charset="0"/>
                <a:ea typeface="Calibri" pitchFamily="34" charset="-122"/>
                <a:cs typeface="Calibri" pitchFamily="34" charset="-120"/>
              </a:rPr>
              <a:t>quittes</a:t>
            </a:r>
            <a:r>
              <a:rPr lang="en-US" sz="1200" dirty="0">
                <a:solidFill>
                  <a:srgbClr val="E8ECF4"/>
                </a:solidFill>
                <a:latin typeface="Calibri" pitchFamily="34" charset="0"/>
                <a:ea typeface="Calibri" pitchFamily="34" charset="-122"/>
                <a:cs typeface="Calibri" pitchFamily="34" charset="-120"/>
              </a:rPr>
              <a:t>.</a:t>
            </a:r>
          </a:p>
          <a:p>
            <a:pPr marL="0" indent="0">
              <a:buNone/>
            </a:pPr>
            <a:r>
              <a:rPr lang="en-US" sz="1200" dirty="0">
                <a:solidFill>
                  <a:srgbClr val="E8ECF4"/>
                </a:solidFill>
                <a:latin typeface="Calibri" pitchFamily="34" charset="0"/>
                <a:ea typeface="Calibri" pitchFamily="34" charset="-122"/>
                <a:cs typeface="Calibri" pitchFamily="34" charset="-120"/>
              </a:rPr>
              <a:t>On ne distingue pas les billets entre eux (pas d'identité). Et tu ne peux pas "modifier" un billet.</a:t>
            </a:r>
            <a:endParaRPr lang="en-US" sz="1200" dirty="0"/>
          </a:p>
        </p:txBody>
      </p:sp>
      <p:sp>
        <p:nvSpPr>
          <p:cNvPr id="10" name="Shape 8"/>
          <p:cNvSpPr/>
          <p:nvPr/>
        </p:nvSpPr>
        <p:spPr>
          <a:xfrm>
            <a:off x="4754880" y="1097280"/>
            <a:ext cx="3840480" cy="27432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1" name="Shape 9"/>
          <p:cNvSpPr/>
          <p:nvPr/>
        </p:nvSpPr>
        <p:spPr>
          <a:xfrm>
            <a:off x="4754880" y="1097280"/>
            <a:ext cx="3840480" cy="457200"/>
          </a:xfrm>
          <a:prstGeom prst="rect">
            <a:avLst/>
          </a:prstGeom>
          <a:solidFill>
            <a:srgbClr val="00BFFF">
              <a:alpha val="40000"/>
            </a:srgbClr>
          </a:solidFill>
          <a:ln/>
        </p:spPr>
        <p:txBody>
          <a:bodyPr/>
          <a:lstStyle/>
          <a:p>
            <a:endParaRPr lang="en-US"/>
          </a:p>
        </p:txBody>
      </p:sp>
      <p:sp>
        <p:nvSpPr>
          <p:cNvPr id="12" name="Text 10"/>
          <p:cNvSpPr/>
          <p:nvPr/>
        </p:nvSpPr>
        <p:spPr>
          <a:xfrm>
            <a:off x="4937760" y="1143000"/>
            <a:ext cx="3474720" cy="365760"/>
          </a:xfrm>
          <a:prstGeom prst="rect">
            <a:avLst/>
          </a:prstGeom>
          <a:noFill/>
          <a:ln/>
        </p:spPr>
        <p:txBody>
          <a:bodyPr wrap="square" rtlCol="0" anchor="ctr"/>
          <a:lstStyle/>
          <a:p>
            <a:pPr marL="0" indent="0">
              <a:buNone/>
            </a:pPr>
            <a:r>
              <a:rPr lang="en-US" sz="1400" b="1" kern="0" spc="300" dirty="0">
                <a:solidFill>
                  <a:srgbClr val="FFFFFF"/>
                </a:solidFill>
                <a:latin typeface="Calibri" pitchFamily="34" charset="0"/>
                <a:ea typeface="Calibri" pitchFamily="34" charset="-122"/>
                <a:cs typeface="Calibri" pitchFamily="34" charset="-120"/>
              </a:rPr>
              <a:t>ENTITY</a:t>
            </a:r>
            <a:endParaRPr lang="en-US" sz="1400" dirty="0"/>
          </a:p>
        </p:txBody>
      </p:sp>
      <p:sp>
        <p:nvSpPr>
          <p:cNvPr id="13" name="Text 11"/>
          <p:cNvSpPr/>
          <p:nvPr/>
        </p:nvSpPr>
        <p:spPr>
          <a:xfrm>
            <a:off x="4937760" y="1645920"/>
            <a:ext cx="3474720" cy="2011680"/>
          </a:xfrm>
          <a:prstGeom prst="rect">
            <a:avLst/>
          </a:prstGeom>
          <a:noFill/>
          <a:ln/>
        </p:spPr>
        <p:txBody>
          <a:bodyPr wrap="square" rtlCol="0" anchor="ctr"/>
          <a:lstStyle/>
          <a:p>
            <a:pPr marL="0" indent="0">
              <a:buNone/>
            </a:pPr>
            <a:r>
              <a:rPr lang="en-US" sz="1200" dirty="0">
                <a:solidFill>
                  <a:srgbClr val="E8ECF4"/>
                </a:solidFill>
                <a:latin typeface="Calibri" pitchFamily="34" charset="0"/>
                <a:ea typeface="Calibri" pitchFamily="34" charset="-122"/>
                <a:cs typeface="Calibri" pitchFamily="34" charset="-120"/>
              </a:rPr>
              <a:t>Un passeport est une Entity.</a:t>
            </a:r>
          </a:p>
          <a:p>
            <a:pPr marL="0" indent="0">
              <a:buNone/>
            </a:pPr>
            <a:r>
              <a:rPr lang="en-US" sz="1200" dirty="0">
                <a:solidFill>
                  <a:srgbClr val="E8ECF4"/>
                </a:solidFill>
                <a:latin typeface="Calibri" pitchFamily="34" charset="0"/>
                <a:ea typeface="Calibri" pitchFamily="34" charset="-122"/>
                <a:cs typeface="Calibri" pitchFamily="34" charset="-120"/>
              </a:rPr>
              <a:t>Deux passeports avec le même nom et la même photo sont quand même deux passeports différents (numéro unique). </a:t>
            </a:r>
          </a:p>
          <a:p>
            <a:pPr marL="0" indent="0">
              <a:buNone/>
            </a:pPr>
            <a:r>
              <a:rPr lang="en-US" sz="1200" dirty="0">
                <a:solidFill>
                  <a:srgbClr val="E8ECF4"/>
                </a:solidFill>
                <a:latin typeface="Calibri" pitchFamily="34" charset="0"/>
                <a:ea typeface="Calibri" pitchFamily="34" charset="-122"/>
                <a:cs typeface="Calibri" pitchFamily="34" charset="-120"/>
              </a:rPr>
              <a:t>Et le passeport évolue : on ajoute des visas, il expire.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Les règles</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21</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8046720" cy="1645920"/>
        </p:xfrm>
        <a:graphic>
          <a:graphicData uri="http://schemas.openxmlformats.org/drawingml/2006/table">
            <a:tbl>
              <a:tblPr/>
              <a:tblGrid>
                <a:gridCol w="274320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tblGrid>
              <a:tr h="0">
                <a:tc>
                  <a:txBody>
                    <a:bodyPr/>
                    <a:lstStyle/>
                    <a:p>
                      <a:pPr marL="0" indent="0">
                        <a:buNone/>
                      </a:pPr>
                      <a:r>
                        <a:rPr lang="en-US" sz="1200" b="1" dirty="0">
                          <a:solidFill>
                            <a:srgbClr val="00BFFF"/>
                          </a:solidFill>
                          <a:latin typeface="Calibri" pitchFamily="34" charset="0"/>
                          <a:ea typeface="Calibri" pitchFamily="34" charset="-122"/>
                          <a:cs typeface="Calibri" pitchFamily="34" charset="-120"/>
                        </a:rPr>
                        <a:t>Règle</a:t>
                      </a:r>
                      <a:endParaRPr lang="en-US" sz="12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21A42"/>
                    </a:solidFill>
                  </a:tcPr>
                </a:tc>
                <a:tc>
                  <a:txBody>
                    <a:bodyPr/>
                    <a:lstStyle/>
                    <a:p>
                      <a:pPr marL="0" indent="0">
                        <a:buNone/>
                      </a:pPr>
                      <a:r>
                        <a:rPr lang="en-US" sz="1200" b="1" dirty="0">
                          <a:solidFill>
                            <a:srgbClr val="00BFFF"/>
                          </a:solidFill>
                          <a:latin typeface="Calibri" pitchFamily="34" charset="0"/>
                          <a:ea typeface="Calibri" pitchFamily="34" charset="-122"/>
                          <a:cs typeface="Calibri" pitchFamily="34" charset="-120"/>
                        </a:rPr>
                        <a:t>Explication</a:t>
                      </a:r>
                      <a:endParaRPr lang="en-US" sz="12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21A42"/>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E8ECF4"/>
                          </a:solidFill>
                          <a:latin typeface="Calibri" pitchFamily="34" charset="0"/>
                          <a:ea typeface="Calibri" pitchFamily="34" charset="-122"/>
                          <a:cs typeface="Calibri" pitchFamily="34" charset="-120"/>
                        </a:rPr>
                        <a:t>Constructeur privé</a:t>
                      </a:r>
                      <a:endParaRPr lang="en-US" sz="12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200" dirty="0">
                          <a:solidFill>
                            <a:srgbClr val="E8ECF4"/>
                          </a:solidFill>
                          <a:latin typeface="Calibri" pitchFamily="34" charset="0"/>
                          <a:ea typeface="Calibri" pitchFamily="34" charset="-122"/>
                          <a:cs typeface="Calibri" pitchFamily="34" charset="-120"/>
                        </a:rPr>
                        <a:t>On force l'utilisation d'une méthode factory static create()</a:t>
                      </a:r>
                      <a:endParaRPr lang="en-US" sz="12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E8ECF4"/>
                          </a:solidFill>
                          <a:latin typeface="Calibri" pitchFamily="34" charset="0"/>
                          <a:ea typeface="Calibri" pitchFamily="34" charset="-122"/>
                          <a:cs typeface="Calibri" pitchFamily="34" charset="-120"/>
                        </a:rPr>
                        <a:t>Validation à la création</a:t>
                      </a:r>
                      <a:endParaRPr lang="en-US" sz="12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200" dirty="0">
                          <a:solidFill>
                            <a:srgbClr val="E8ECF4"/>
                          </a:solidFill>
                          <a:latin typeface="Calibri" pitchFamily="34" charset="0"/>
                          <a:ea typeface="Calibri" pitchFamily="34" charset="-122"/>
                          <a:cs typeface="Calibri" pitchFamily="34" charset="-120"/>
                        </a:rPr>
                        <a:t>Un Value Object invalide ne peut pas exister</a:t>
                      </a:r>
                      <a:endParaRPr lang="en-US" sz="12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E8ECF4"/>
                          </a:solidFill>
                          <a:latin typeface="Calibri" pitchFamily="34" charset="0"/>
                          <a:ea typeface="Calibri" pitchFamily="34" charset="-122"/>
                          <a:cs typeface="Calibri" pitchFamily="34" charset="-120"/>
                        </a:rPr>
                        <a:t>Propriétés readonly</a:t>
                      </a:r>
                      <a:endParaRPr lang="en-US" sz="12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200" dirty="0">
                          <a:solidFill>
                            <a:srgbClr val="E8ECF4"/>
                          </a:solidFill>
                          <a:latin typeface="Calibri" pitchFamily="34" charset="0"/>
                          <a:ea typeface="Calibri" pitchFamily="34" charset="-122"/>
                          <a:cs typeface="Calibri" pitchFamily="34" charset="-120"/>
                        </a:rPr>
                        <a:t>Aucune mutation possible après la création</a:t>
                      </a:r>
                      <a:endParaRPr lang="en-US" sz="12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extLst>
                  <a:ext uri="{0D108BD9-81ED-4DB2-BD59-A6C34878D82A}">
                    <a16:rowId xmlns:a16="http://schemas.microsoft.com/office/drawing/2014/main" val="10003"/>
                  </a:ext>
                </a:extLst>
              </a:tr>
              <a:tr h="0">
                <a:tc>
                  <a:txBody>
                    <a:bodyPr/>
                    <a:lstStyle/>
                    <a:p>
                      <a:pPr marL="0" indent="0">
                        <a:buNone/>
                      </a:pPr>
                      <a:r>
                        <a:rPr lang="en-US" sz="1200" dirty="0">
                          <a:solidFill>
                            <a:srgbClr val="E8ECF4"/>
                          </a:solidFill>
                          <a:latin typeface="Calibri" pitchFamily="34" charset="0"/>
                          <a:ea typeface="Calibri" pitchFamily="34" charset="-122"/>
                          <a:cs typeface="Calibri" pitchFamily="34" charset="-120"/>
                        </a:rPr>
                        <a:t>Pas de setter</a:t>
                      </a:r>
                      <a:endParaRPr lang="en-US" sz="12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200" dirty="0">
                          <a:solidFill>
                            <a:srgbClr val="E8ECF4"/>
                          </a:solidFill>
                          <a:latin typeface="Calibri" pitchFamily="34" charset="0"/>
                          <a:ea typeface="Calibri" pitchFamily="34" charset="-122"/>
                          <a:cs typeface="Calibri" pitchFamily="34" charset="-120"/>
                        </a:rPr>
                        <a:t>Jamais. Pour "modifier", on crée une nouvelle instance</a:t>
                      </a:r>
                      <a:endParaRPr lang="en-US" sz="12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extLst>
                  <a:ext uri="{0D108BD9-81ED-4DB2-BD59-A6C34878D82A}">
                    <a16:rowId xmlns:a16="http://schemas.microsoft.com/office/drawing/2014/main" val="10004"/>
                  </a:ext>
                </a:extLst>
              </a:tr>
              <a:tr h="0">
                <a:tc>
                  <a:txBody>
                    <a:bodyPr/>
                    <a:lstStyle/>
                    <a:p>
                      <a:pPr marL="0" indent="0">
                        <a:buNone/>
                      </a:pPr>
                      <a:r>
                        <a:rPr lang="en-US" sz="1200" dirty="0">
                          <a:solidFill>
                            <a:srgbClr val="E8ECF4"/>
                          </a:solidFill>
                          <a:latin typeface="Calibri" pitchFamily="34" charset="0"/>
                          <a:ea typeface="Calibri" pitchFamily="34" charset="-122"/>
                          <a:cs typeface="Calibri" pitchFamily="34" charset="-120"/>
                        </a:rPr>
                        <a:t>equals() par valeur</a:t>
                      </a:r>
                      <a:endParaRPr lang="en-US" sz="12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200" dirty="0">
                          <a:solidFill>
                            <a:srgbClr val="E8ECF4"/>
                          </a:solidFill>
                          <a:latin typeface="Calibri" pitchFamily="34" charset="0"/>
                          <a:ea typeface="Calibri" pitchFamily="34" charset="-122"/>
                          <a:cs typeface="Calibri" pitchFamily="34" charset="-120"/>
                        </a:rPr>
                        <a:t>Deux VO avec les mêmes valeurs sont égaux</a:t>
                      </a:r>
                      <a:endParaRPr lang="en-US" sz="12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6"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22</a:t>
            </a:r>
            <a:endParaRPr lang="en-US" sz="900" dirty="0"/>
          </a:p>
        </p:txBody>
      </p:sp>
      <p:pic>
        <p:nvPicPr>
          <p:cNvPr id="8" name="Picture 7" descr="A screen shot of a computer program&#10;&#10;AI-generated content may be incorrect.">
            <a:extLst>
              <a:ext uri="{FF2B5EF4-FFF2-40B4-BE49-F238E27FC236}">
                <a16:creationId xmlns:a16="http://schemas.microsoft.com/office/drawing/2014/main" id="{5BE94221-79D4-75A4-7BB1-70DAA07E95C3}"/>
              </a:ext>
            </a:extLst>
          </p:cNvPr>
          <p:cNvPicPr>
            <a:picLocks noChangeAspect="1"/>
          </p:cNvPicPr>
          <p:nvPr/>
        </p:nvPicPr>
        <p:blipFill>
          <a:blip r:embed="rId4"/>
          <a:stretch>
            <a:fillRect/>
          </a:stretch>
        </p:blipFill>
        <p:spPr>
          <a:xfrm>
            <a:off x="2358006" y="228601"/>
            <a:ext cx="4427988" cy="466343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6"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23</a:t>
            </a:r>
            <a:endParaRPr lang="en-US" sz="900" dirty="0"/>
          </a:p>
        </p:txBody>
      </p:sp>
      <p:pic>
        <p:nvPicPr>
          <p:cNvPr id="10" name="Picture 9" descr="A screenshot of a computer program&#10;&#10;AI-generated content may be incorrect.">
            <a:extLst>
              <a:ext uri="{FF2B5EF4-FFF2-40B4-BE49-F238E27FC236}">
                <a16:creationId xmlns:a16="http://schemas.microsoft.com/office/drawing/2014/main" id="{411BC9B9-2A04-50F6-602C-3A817F2B7A71}"/>
              </a:ext>
            </a:extLst>
          </p:cNvPr>
          <p:cNvPicPr>
            <a:picLocks noChangeAspect="1"/>
          </p:cNvPicPr>
          <p:nvPr/>
        </p:nvPicPr>
        <p:blipFill>
          <a:blip r:embed="rId4"/>
          <a:stretch>
            <a:fillRect/>
          </a:stretch>
        </p:blipFill>
        <p:spPr>
          <a:xfrm>
            <a:off x="2612671" y="228600"/>
            <a:ext cx="3918657" cy="466061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Autres exemples de Value Objects courants</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24</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3803301090"/>
              </p:ext>
            </p:extLst>
          </p:nvPr>
        </p:nvGraphicFramePr>
        <p:xfrm>
          <a:off x="1057387" y="1202436"/>
          <a:ext cx="7029226" cy="2331720"/>
        </p:xfrm>
        <a:graphic>
          <a:graphicData uri="http://schemas.openxmlformats.org/drawingml/2006/table">
            <a:tbl>
              <a:tblPr/>
              <a:tblGrid>
                <a:gridCol w="1699161">
                  <a:extLst>
                    <a:ext uri="{9D8B030D-6E8A-4147-A177-3AD203B41FA5}">
                      <a16:colId xmlns:a16="http://schemas.microsoft.com/office/drawing/2014/main" val="20000"/>
                    </a:ext>
                  </a:extLst>
                </a:gridCol>
                <a:gridCol w="1869077">
                  <a:extLst>
                    <a:ext uri="{9D8B030D-6E8A-4147-A177-3AD203B41FA5}">
                      <a16:colId xmlns:a16="http://schemas.microsoft.com/office/drawing/2014/main" val="20001"/>
                    </a:ext>
                  </a:extLst>
                </a:gridCol>
                <a:gridCol w="3460988">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Value Object</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21A42"/>
                    </a:solidFill>
                  </a:tcPr>
                </a:tc>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Remplace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21A42"/>
                    </a:solidFill>
                  </a:tcPr>
                </a:tc>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Ce qu'il garantit</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21A42"/>
                    </a:solidFill>
                  </a:tcPr>
                </a:tc>
                <a:extLst>
                  <a:ext uri="{0D108BD9-81ED-4DB2-BD59-A6C34878D82A}">
                    <a16:rowId xmlns:a16="http://schemas.microsoft.com/office/drawing/2014/main" val="10000"/>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Email</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string</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Format valide, normalisé (trim, lowercase)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extLst>
                  <a:ext uri="{0D108BD9-81ED-4DB2-BD59-A6C34878D82A}">
                    <a16:rowId xmlns:a16="http://schemas.microsoft.com/office/drawing/2014/main" val="10001"/>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Money</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number</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Montant positif, devise explicite, pas de mélange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extLst>
                  <a:ext uri="{0D108BD9-81ED-4DB2-BD59-A6C34878D82A}">
                    <a16:rowId xmlns:a16="http://schemas.microsoft.com/office/drawing/2014/main" val="10002"/>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PhoneNumber</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string</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Format E.164, pays identifié</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extLst>
                  <a:ext uri="{0D108BD9-81ED-4DB2-BD59-A6C34878D82A}">
                    <a16:rowId xmlns:a16="http://schemas.microsoft.com/office/drawing/2014/main" val="10003"/>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IBAN</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string</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Format valide, clé de contrôle vérifiée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extLst>
                  <a:ext uri="{0D108BD9-81ED-4DB2-BD59-A6C34878D82A}">
                    <a16:rowId xmlns:a16="http://schemas.microsoft.com/office/drawing/2014/main" val="10004"/>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DateRange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 start, end }</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end &gt; start garanti, méthodes contains(), overlaps()</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extLst>
                  <a:ext uri="{0D108BD9-81ED-4DB2-BD59-A6C34878D82A}">
                    <a16:rowId xmlns:a16="http://schemas.microsoft.com/office/drawing/2014/main" val="10005"/>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Percentage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number</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Entre 0 et 100, méthodes of() pour calculer</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extLst>
                  <a:ext uri="{0D108BD9-81ED-4DB2-BD59-A6C34878D82A}">
                    <a16:rowId xmlns:a16="http://schemas.microsoft.com/office/drawing/2014/main" val="10006"/>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Address</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objet brut</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Champs requis validés, formatage cohérent</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extLst>
                  <a:ext uri="{0D108BD9-81ED-4DB2-BD59-A6C34878D82A}">
                    <a16:rowId xmlns:a16="http://schemas.microsoft.com/office/drawing/2014/main" val="10007"/>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OrderStatus</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string | enum</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Transitions validées (DRAFT → CONFIRMED, pas l'inverse)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914400"/>
            <a:ext cx="9144000" cy="457200"/>
          </a:xfrm>
          <a:prstGeom prst="rect">
            <a:avLst/>
          </a:prstGeom>
          <a:noFill/>
          <a:ln/>
        </p:spPr>
        <p:txBody>
          <a:bodyPr wrap="square" rtlCol="0" anchor="ctr"/>
          <a:lstStyle/>
          <a:p>
            <a:pPr marL="0" indent="0" algn="ctr">
              <a:buNone/>
            </a:pPr>
            <a:r>
              <a:rPr lang="en-US" sz="1400" kern="0" spc="600" dirty="0">
                <a:solidFill>
                  <a:srgbClr val="1E90FF"/>
                </a:solidFill>
                <a:latin typeface="Calibri" pitchFamily="34" charset="0"/>
                <a:ea typeface="Calibri" pitchFamily="34" charset="-122"/>
                <a:cs typeface="Calibri" pitchFamily="34" charset="-120"/>
              </a:rPr>
              <a:t>LE MESSAGE CLÉ</a:t>
            </a:r>
            <a:endParaRPr lang="en-US" sz="1400" dirty="0"/>
          </a:p>
        </p:txBody>
      </p:sp>
      <p:sp>
        <p:nvSpPr>
          <p:cNvPr id="3" name="Shape 1"/>
          <p:cNvSpPr/>
          <p:nvPr/>
        </p:nvSpPr>
        <p:spPr>
          <a:xfrm>
            <a:off x="1097280" y="1645920"/>
            <a:ext cx="6949440" cy="18288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dirty="0"/>
          </a:p>
        </p:txBody>
      </p:sp>
      <p:sp>
        <p:nvSpPr>
          <p:cNvPr id="4" name="Text 2"/>
          <p:cNvSpPr/>
          <p:nvPr/>
        </p:nvSpPr>
        <p:spPr>
          <a:xfrm>
            <a:off x="1371600" y="1688054"/>
            <a:ext cx="6400800" cy="1097280"/>
          </a:xfrm>
          <a:prstGeom prst="rect">
            <a:avLst/>
          </a:prstGeom>
          <a:noFill/>
          <a:ln/>
        </p:spPr>
        <p:txBody>
          <a:bodyPr wrap="square"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Un Value Object invalide ne peut pas exister. Si vous avez un objet Email dans les mains, vous savez qu'il est valide. Vous n'avez plus jamais besoin de re-</a:t>
            </a:r>
            <a:r>
              <a:rPr lang="en-US" sz="1600" dirty="0" err="1">
                <a:solidFill>
                  <a:srgbClr val="FFFFFF"/>
                </a:solidFill>
                <a:latin typeface="Calibri" pitchFamily="34" charset="0"/>
                <a:ea typeface="Calibri" pitchFamily="34" charset="-122"/>
                <a:cs typeface="Calibri" pitchFamily="34" charset="-120"/>
              </a:rPr>
              <a:t>vérifier</a:t>
            </a: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5" name="Text 3"/>
          <p:cNvSpPr/>
          <p:nvPr/>
        </p:nvSpPr>
        <p:spPr>
          <a:xfrm>
            <a:off x="1371600" y="2648174"/>
            <a:ext cx="6400800" cy="731520"/>
          </a:xfrm>
          <a:prstGeom prst="rect">
            <a:avLst/>
          </a:prstGeom>
          <a:noFill/>
          <a:ln/>
        </p:spPr>
        <p:txBody>
          <a:bodyPr wrap="square" rtlCol="0" anchor="ctr"/>
          <a:lstStyle/>
          <a:p>
            <a:pPr marL="0" indent="0" algn="ctr">
              <a:buNone/>
            </a:pPr>
            <a:r>
              <a:rPr lang="en-US" sz="1300" dirty="0">
                <a:solidFill>
                  <a:srgbClr val="8B99B8"/>
                </a:solidFill>
                <a:latin typeface="Calibri" pitchFamily="34" charset="0"/>
                <a:ea typeface="Calibri" pitchFamily="34" charset="-122"/>
                <a:cs typeface="Calibri" pitchFamily="34" charset="-120"/>
              </a:rPr>
              <a:t>C'est le concept le plus simple du DDD et le plus rentable immédiatement. Même si vous ne faites jamais rien d'autre en DDD, adopter les Value Objects améliore déjà votre code.</a:t>
            </a:r>
            <a:endParaRPr lang="en-US" sz="1300" dirty="0"/>
          </a:p>
        </p:txBody>
      </p:sp>
      <p:sp>
        <p:nvSpPr>
          <p:cNvPr id="6" name="Text 4"/>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1371600"/>
            <a:ext cx="9144000" cy="1097280"/>
          </a:xfrm>
          <a:prstGeom prst="rect">
            <a:avLst/>
          </a:prstGeom>
          <a:noFill/>
          <a:ln/>
        </p:spPr>
        <p:txBody>
          <a:bodyPr wrap="square" rtlCol="0" anchor="ctr"/>
          <a:lstStyle/>
          <a:p>
            <a:pPr marL="0" indent="0" algn="ctr">
              <a:buNone/>
            </a:pPr>
            <a:r>
              <a:rPr lang="en-US" sz="6000" b="1" kern="0" spc="800" dirty="0">
                <a:solidFill>
                  <a:srgbClr val="FFFFFF"/>
                </a:solidFill>
                <a:latin typeface="Calibri" pitchFamily="34" charset="0"/>
                <a:ea typeface="Calibri" pitchFamily="34" charset="-122"/>
                <a:cs typeface="Calibri" pitchFamily="34" charset="-120"/>
              </a:rPr>
              <a:t>BLOC 5</a:t>
            </a:r>
            <a:endParaRPr lang="en-US" sz="6000" dirty="0"/>
          </a:p>
        </p:txBody>
      </p:sp>
      <p:sp>
        <p:nvSpPr>
          <p:cNvPr id="3" name="Text 1"/>
          <p:cNvSpPr/>
          <p:nvPr/>
        </p:nvSpPr>
        <p:spPr>
          <a:xfrm>
            <a:off x="914400" y="2560320"/>
            <a:ext cx="7315200" cy="731520"/>
          </a:xfrm>
          <a:prstGeom prst="rect">
            <a:avLst/>
          </a:prstGeom>
          <a:noFill/>
          <a:ln/>
        </p:spPr>
        <p:txBody>
          <a:bodyPr wrap="square" rtlCol="0" anchor="ctr"/>
          <a:lstStyle/>
          <a:p>
            <a:pPr marL="0" indent="0" algn="ctr">
              <a:buNone/>
            </a:pPr>
            <a:r>
              <a:rPr lang="en-US" sz="2400" dirty="0">
                <a:solidFill>
                  <a:srgbClr val="00BFFF"/>
                </a:solidFill>
                <a:latin typeface="Calibri" pitchFamily="34" charset="0"/>
                <a:ea typeface="Calibri" pitchFamily="34" charset="-122"/>
                <a:cs typeface="Calibri" pitchFamily="34" charset="-120"/>
              </a:rPr>
              <a:t>Entity</a:t>
            </a:r>
            <a:endParaRPr lang="en-US" sz="2400" dirty="0"/>
          </a:p>
        </p:txBody>
      </p:sp>
      <p:sp>
        <p:nvSpPr>
          <p:cNvPr id="4" name="Shape 2"/>
          <p:cNvSpPr/>
          <p:nvPr/>
        </p:nvSpPr>
        <p:spPr>
          <a:xfrm>
            <a:off x="3200400" y="3474720"/>
            <a:ext cx="2743200" cy="27432"/>
          </a:xfrm>
          <a:prstGeom prst="rect">
            <a:avLst/>
          </a:prstGeom>
          <a:solidFill>
            <a:srgbClr val="1E90FF">
              <a:alpha val="60000"/>
            </a:srgbClr>
          </a:solidFill>
          <a:ln/>
        </p:spPr>
        <p:txBody>
          <a:bodyPr/>
          <a:lstStyle/>
          <a:p>
            <a:endParaRPr lang="en-US"/>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La différence fondamentale</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27</a:t>
            </a:r>
            <a:endParaRPr lang="en-US" sz="900" dirty="0"/>
          </a:p>
        </p:txBody>
      </p:sp>
      <p:sp>
        <p:nvSpPr>
          <p:cNvPr id="6" name="Text 4"/>
          <p:cNvSpPr/>
          <p:nvPr/>
        </p:nvSpPr>
        <p:spPr>
          <a:xfrm>
            <a:off x="548640" y="1005840"/>
            <a:ext cx="8046720" cy="274320"/>
          </a:xfrm>
          <a:prstGeom prst="rect">
            <a:avLst/>
          </a:prstGeom>
          <a:noFill/>
          <a:ln/>
        </p:spPr>
        <p:txBody>
          <a:bodyPr wrap="square" rtlCol="0" anchor="ctr"/>
          <a:lstStyle/>
          <a:p>
            <a:pPr marL="0" indent="0">
              <a:buNone/>
            </a:pPr>
            <a:r>
              <a:rPr lang="en-US" sz="1300" dirty="0">
                <a:solidFill>
                  <a:srgbClr val="8B99B8"/>
                </a:solidFill>
                <a:latin typeface="Calibri" pitchFamily="34" charset="0"/>
                <a:ea typeface="Calibri" pitchFamily="34" charset="-122"/>
                <a:cs typeface="Calibri" pitchFamily="34" charset="-120"/>
              </a:rPr>
              <a:t>Pose la question :</a:t>
            </a:r>
            <a:endParaRPr lang="en-US" sz="1300" dirty="0"/>
          </a:p>
        </p:txBody>
      </p:sp>
      <p:sp>
        <p:nvSpPr>
          <p:cNvPr id="7" name="Shape 5"/>
          <p:cNvSpPr/>
          <p:nvPr/>
        </p:nvSpPr>
        <p:spPr>
          <a:xfrm>
            <a:off x="548640" y="1463040"/>
            <a:ext cx="8046720" cy="118872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8" name="Shape 6"/>
          <p:cNvSpPr/>
          <p:nvPr/>
        </p:nvSpPr>
        <p:spPr>
          <a:xfrm>
            <a:off x="548640" y="1463040"/>
            <a:ext cx="54864" cy="1188720"/>
          </a:xfrm>
          <a:prstGeom prst="rect">
            <a:avLst/>
          </a:prstGeom>
          <a:solidFill>
            <a:srgbClr val="1E90FF"/>
          </a:solidFill>
          <a:ln/>
        </p:spPr>
        <p:txBody>
          <a:bodyPr/>
          <a:lstStyle/>
          <a:p>
            <a:endParaRPr lang="en-US"/>
          </a:p>
        </p:txBody>
      </p:sp>
      <p:sp>
        <p:nvSpPr>
          <p:cNvPr id="9" name="Text 7"/>
          <p:cNvSpPr/>
          <p:nvPr/>
        </p:nvSpPr>
        <p:spPr>
          <a:xfrm>
            <a:off x="822960" y="1554480"/>
            <a:ext cx="7589520" cy="1005840"/>
          </a:xfrm>
          <a:prstGeom prst="rect">
            <a:avLst/>
          </a:prstGeom>
          <a:noFill/>
          <a:ln/>
        </p:spPr>
        <p:txBody>
          <a:bodyPr wrap="square" rtlCol="0" anchor="ctr"/>
          <a:lstStyle/>
          <a:p>
            <a:pPr marL="0" indent="0">
              <a:buNone/>
            </a:pPr>
            <a:r>
              <a:rPr lang="en-US" sz="1400" dirty="0">
                <a:solidFill>
                  <a:srgbClr val="E8ECF4"/>
                </a:solidFill>
                <a:latin typeface="Calibri" pitchFamily="34" charset="0"/>
                <a:ea typeface="Calibri" pitchFamily="34" charset="-122"/>
                <a:cs typeface="Calibri" pitchFamily="34" charset="-120"/>
              </a:rPr>
              <a:t>Est-ce qu'un billet de 20€ a un numéro de série qui compte pour vous au </a:t>
            </a:r>
            <a:r>
              <a:rPr lang="en-US" sz="1400" dirty="0" err="1">
                <a:solidFill>
                  <a:srgbClr val="E8ECF4"/>
                </a:solidFill>
                <a:latin typeface="Calibri" pitchFamily="34" charset="0"/>
                <a:ea typeface="Calibri" pitchFamily="34" charset="-122"/>
                <a:cs typeface="Calibri" pitchFamily="34" charset="-120"/>
              </a:rPr>
              <a:t>quotidien</a:t>
            </a:r>
            <a:r>
              <a:rPr lang="en-US" sz="1400" dirty="0">
                <a:solidFill>
                  <a:srgbClr val="E8ECF4"/>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00BFFF"/>
                </a:solidFill>
                <a:latin typeface="Calibri" pitchFamily="34" charset="0"/>
                <a:ea typeface="Calibri" pitchFamily="34" charset="-122"/>
                <a:cs typeface="Calibri" pitchFamily="34" charset="-120"/>
              </a:rPr>
              <a:t>Deux billets de 20€ sont interchangeables → Value Object.</a:t>
            </a:r>
            <a:endParaRPr lang="en-US" sz="1400" dirty="0"/>
          </a:p>
        </p:txBody>
      </p:sp>
      <p:sp>
        <p:nvSpPr>
          <p:cNvPr id="10" name="Shape 8"/>
          <p:cNvSpPr/>
          <p:nvPr/>
        </p:nvSpPr>
        <p:spPr>
          <a:xfrm>
            <a:off x="548640" y="2926080"/>
            <a:ext cx="8046720" cy="118872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1" name="Shape 9"/>
          <p:cNvSpPr/>
          <p:nvPr/>
        </p:nvSpPr>
        <p:spPr>
          <a:xfrm>
            <a:off x="548640" y="2926080"/>
            <a:ext cx="54864" cy="1188720"/>
          </a:xfrm>
          <a:prstGeom prst="rect">
            <a:avLst/>
          </a:prstGeom>
          <a:solidFill>
            <a:srgbClr val="00BFFF"/>
          </a:solidFill>
          <a:ln/>
        </p:spPr>
        <p:txBody>
          <a:bodyPr/>
          <a:lstStyle/>
          <a:p>
            <a:endParaRPr lang="en-US"/>
          </a:p>
        </p:txBody>
      </p:sp>
      <p:sp>
        <p:nvSpPr>
          <p:cNvPr id="12" name="Text 10"/>
          <p:cNvSpPr/>
          <p:nvPr/>
        </p:nvSpPr>
        <p:spPr>
          <a:xfrm>
            <a:off x="822960" y="3017520"/>
            <a:ext cx="7589520" cy="1005840"/>
          </a:xfrm>
          <a:prstGeom prst="rect">
            <a:avLst/>
          </a:prstGeom>
          <a:noFill/>
          <a:ln/>
        </p:spPr>
        <p:txBody>
          <a:bodyPr wrap="square" rtlCol="0" anchor="ctr"/>
          <a:lstStyle/>
          <a:p>
            <a:pPr marL="0" indent="0">
              <a:buNone/>
            </a:pPr>
            <a:r>
              <a:rPr lang="en-US" sz="1400" dirty="0">
                <a:solidFill>
                  <a:srgbClr val="E8ECF4"/>
                </a:solidFill>
                <a:latin typeface="Calibri" pitchFamily="34" charset="0"/>
                <a:ea typeface="Calibri" pitchFamily="34" charset="-122"/>
                <a:cs typeface="Calibri" pitchFamily="34" charset="-120"/>
              </a:rPr>
              <a:t>Est-ce que votre compte en banque est interchangeable avec celui de votre voisin, même s'il a le même </a:t>
            </a:r>
            <a:r>
              <a:rPr lang="en-US" sz="1400" dirty="0" err="1">
                <a:solidFill>
                  <a:srgbClr val="E8ECF4"/>
                </a:solidFill>
                <a:latin typeface="Calibri" pitchFamily="34" charset="0"/>
                <a:ea typeface="Calibri" pitchFamily="34" charset="-122"/>
                <a:cs typeface="Calibri" pitchFamily="34" charset="-120"/>
              </a:rPr>
              <a:t>solde</a:t>
            </a:r>
            <a:r>
              <a:rPr lang="en-US" sz="1400" dirty="0">
                <a:solidFill>
                  <a:srgbClr val="E8ECF4"/>
                </a:solidFill>
                <a:latin typeface="Calibri" pitchFamily="34" charset="0"/>
                <a:ea typeface="Calibri" pitchFamily="34" charset="-122"/>
                <a:cs typeface="Calibri" pitchFamily="34" charset="-120"/>
              </a:rPr>
              <a:t> ?</a:t>
            </a:r>
          </a:p>
          <a:p>
            <a:pPr marL="0" indent="0">
              <a:buNone/>
            </a:pPr>
            <a:r>
              <a:rPr lang="en-US" sz="1400" b="1" dirty="0" err="1">
                <a:solidFill>
                  <a:srgbClr val="00BFFF"/>
                </a:solidFill>
                <a:latin typeface="Calibri" pitchFamily="34" charset="0"/>
                <a:ea typeface="Calibri" pitchFamily="34" charset="-122"/>
                <a:cs typeface="Calibri" pitchFamily="34" charset="-120"/>
              </a:rPr>
              <a:t>Chaque</a:t>
            </a:r>
            <a:r>
              <a:rPr lang="en-US" sz="1400" b="1" dirty="0">
                <a:solidFill>
                  <a:srgbClr val="00BFFF"/>
                </a:solidFill>
                <a:latin typeface="Calibri" pitchFamily="34" charset="0"/>
                <a:ea typeface="Calibri" pitchFamily="34" charset="-122"/>
                <a:cs typeface="Calibri" pitchFamily="34" charset="-120"/>
              </a:rPr>
              <a:t> compte a un numéro unique → Entity.</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La définition</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28</a:t>
            </a:r>
            <a:endParaRPr lang="en-US" sz="900" dirty="0"/>
          </a:p>
        </p:txBody>
      </p:sp>
      <p:sp>
        <p:nvSpPr>
          <p:cNvPr id="6" name="Text 4"/>
          <p:cNvSpPr/>
          <p:nvPr/>
        </p:nvSpPr>
        <p:spPr>
          <a:xfrm>
            <a:off x="548640" y="1005840"/>
            <a:ext cx="8046720" cy="365760"/>
          </a:xfrm>
          <a:prstGeom prst="rect">
            <a:avLst/>
          </a:prstGeom>
          <a:noFill/>
          <a:ln/>
        </p:spPr>
        <p:txBody>
          <a:bodyPr wrap="square" rtlCol="0" anchor="ctr"/>
          <a:lstStyle/>
          <a:p>
            <a:pPr marL="0" indent="0">
              <a:buNone/>
            </a:pPr>
            <a:r>
              <a:rPr lang="en-US" sz="1500" dirty="0">
                <a:solidFill>
                  <a:srgbClr val="E8ECF4"/>
                </a:solidFill>
                <a:latin typeface="Calibri" pitchFamily="34" charset="0"/>
                <a:ea typeface="Calibri" pitchFamily="34" charset="-122"/>
                <a:cs typeface="Calibri" pitchFamily="34" charset="-120"/>
              </a:rPr>
              <a:t>Une Entity est un objet :</a:t>
            </a:r>
            <a:endParaRPr lang="en-US" sz="1500" dirty="0"/>
          </a:p>
        </p:txBody>
      </p:sp>
      <p:sp>
        <p:nvSpPr>
          <p:cNvPr id="7" name="Shape 5"/>
          <p:cNvSpPr/>
          <p:nvPr/>
        </p:nvSpPr>
        <p:spPr>
          <a:xfrm>
            <a:off x="548640" y="1554480"/>
            <a:ext cx="8046720" cy="6858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8" name="Shape 6"/>
          <p:cNvSpPr/>
          <p:nvPr/>
        </p:nvSpPr>
        <p:spPr>
          <a:xfrm>
            <a:off x="548640" y="1554480"/>
            <a:ext cx="54864" cy="685800"/>
          </a:xfrm>
          <a:prstGeom prst="rect">
            <a:avLst/>
          </a:prstGeom>
          <a:solidFill>
            <a:srgbClr val="1E90FF"/>
          </a:solidFill>
          <a:ln/>
        </p:spPr>
        <p:txBody>
          <a:bodyPr/>
          <a:lstStyle/>
          <a:p>
            <a:endParaRPr lang="en-US"/>
          </a:p>
        </p:txBody>
      </p:sp>
      <p:sp>
        <p:nvSpPr>
          <p:cNvPr id="9" name="Text 7"/>
          <p:cNvSpPr/>
          <p:nvPr/>
        </p:nvSpPr>
        <p:spPr>
          <a:xfrm>
            <a:off x="822960" y="1600200"/>
            <a:ext cx="7589520" cy="594360"/>
          </a:xfrm>
          <a:prstGeom prst="rect">
            <a:avLst/>
          </a:prstGeom>
          <a:noFill/>
          <a:ln/>
        </p:spPr>
        <p:txBody>
          <a:bodyPr wrap="square" rtlCol="0" anchor="ctr"/>
          <a:lstStyle/>
          <a:p>
            <a:pPr marL="0" indent="0">
              <a:buNone/>
            </a:pPr>
            <a:r>
              <a:rPr lang="en-US" sz="1400" b="1" dirty="0">
                <a:solidFill>
                  <a:srgbClr val="00BFFF"/>
                </a:solidFill>
                <a:latin typeface="Calibri" pitchFamily="34" charset="0"/>
                <a:ea typeface="Calibri" pitchFamily="34" charset="-122"/>
                <a:cs typeface="Calibri" pitchFamily="34" charset="-120"/>
              </a:rPr>
              <a:t>Définie par son identité</a:t>
            </a:r>
            <a:endParaRPr lang="en-US" sz="1400" dirty="0"/>
          </a:p>
          <a:p>
            <a:pPr marL="0" indent="0">
              <a:buNone/>
            </a:pPr>
            <a:r>
              <a:rPr lang="en-US" sz="1200" dirty="0">
                <a:solidFill>
                  <a:srgbClr val="E8ECF4"/>
                </a:solidFill>
                <a:latin typeface="Calibri" pitchFamily="34" charset="0"/>
                <a:ea typeface="Calibri" pitchFamily="34" charset="-122"/>
                <a:cs typeface="Calibri" pitchFamily="34" charset="-120"/>
              </a:rPr>
              <a:t>Un UUID ou CUID unique et immutable.</a:t>
            </a:r>
            <a:endParaRPr lang="en-US" sz="1400" dirty="0"/>
          </a:p>
        </p:txBody>
      </p:sp>
      <p:sp>
        <p:nvSpPr>
          <p:cNvPr id="10" name="Shape 8"/>
          <p:cNvSpPr/>
          <p:nvPr/>
        </p:nvSpPr>
        <p:spPr>
          <a:xfrm>
            <a:off x="548640" y="2377440"/>
            <a:ext cx="8046720" cy="6858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1" name="Shape 9"/>
          <p:cNvSpPr/>
          <p:nvPr/>
        </p:nvSpPr>
        <p:spPr>
          <a:xfrm>
            <a:off x="548640" y="2377440"/>
            <a:ext cx="54864" cy="685800"/>
          </a:xfrm>
          <a:prstGeom prst="rect">
            <a:avLst/>
          </a:prstGeom>
          <a:solidFill>
            <a:srgbClr val="1E90FF"/>
          </a:solidFill>
          <a:ln/>
        </p:spPr>
        <p:txBody>
          <a:bodyPr/>
          <a:lstStyle/>
          <a:p>
            <a:endParaRPr lang="en-US"/>
          </a:p>
        </p:txBody>
      </p:sp>
      <p:sp>
        <p:nvSpPr>
          <p:cNvPr id="12" name="Text 10"/>
          <p:cNvSpPr/>
          <p:nvPr/>
        </p:nvSpPr>
        <p:spPr>
          <a:xfrm>
            <a:off x="822960" y="2423160"/>
            <a:ext cx="7589520" cy="594360"/>
          </a:xfrm>
          <a:prstGeom prst="rect">
            <a:avLst/>
          </a:prstGeom>
          <a:noFill/>
          <a:ln/>
        </p:spPr>
        <p:txBody>
          <a:bodyPr wrap="square" rtlCol="0" anchor="ctr"/>
          <a:lstStyle/>
          <a:p>
            <a:pPr marL="0" indent="0">
              <a:buNone/>
            </a:pPr>
            <a:r>
              <a:rPr lang="en-US" sz="1400" b="1" dirty="0">
                <a:solidFill>
                  <a:srgbClr val="00BFFF"/>
                </a:solidFill>
                <a:latin typeface="Calibri" pitchFamily="34" charset="0"/>
                <a:ea typeface="Calibri" pitchFamily="34" charset="-122"/>
                <a:cs typeface="Calibri" pitchFamily="34" charset="-120"/>
              </a:rPr>
              <a:t>Qui a un cycle de vie</a:t>
            </a:r>
            <a:endParaRPr lang="en-US" sz="1400" dirty="0"/>
          </a:p>
          <a:p>
            <a:pPr marL="0" indent="0">
              <a:buNone/>
            </a:pPr>
            <a:r>
              <a:rPr lang="en-US" sz="1200" dirty="0">
                <a:solidFill>
                  <a:srgbClr val="E8ECF4"/>
                </a:solidFill>
                <a:latin typeface="Calibri" pitchFamily="34" charset="0"/>
                <a:ea typeface="Calibri" pitchFamily="34" charset="-122"/>
                <a:cs typeface="Calibri" pitchFamily="34" charset="-120"/>
              </a:rPr>
              <a:t>Il est créé, il évolue (mutations d'état), il peut être supprimé.</a:t>
            </a:r>
            <a:endParaRPr lang="en-US" sz="1400" dirty="0"/>
          </a:p>
        </p:txBody>
      </p:sp>
      <p:sp>
        <p:nvSpPr>
          <p:cNvPr id="13" name="Shape 11"/>
          <p:cNvSpPr/>
          <p:nvPr/>
        </p:nvSpPr>
        <p:spPr>
          <a:xfrm>
            <a:off x="548640" y="3200400"/>
            <a:ext cx="8046720" cy="6858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4" name="Shape 12"/>
          <p:cNvSpPr/>
          <p:nvPr/>
        </p:nvSpPr>
        <p:spPr>
          <a:xfrm>
            <a:off x="548640" y="3200400"/>
            <a:ext cx="54864" cy="685800"/>
          </a:xfrm>
          <a:prstGeom prst="rect">
            <a:avLst/>
          </a:prstGeom>
          <a:solidFill>
            <a:srgbClr val="1E90FF"/>
          </a:solidFill>
          <a:ln/>
        </p:spPr>
        <p:txBody>
          <a:bodyPr/>
          <a:lstStyle/>
          <a:p>
            <a:endParaRPr lang="en-US"/>
          </a:p>
        </p:txBody>
      </p:sp>
      <p:sp>
        <p:nvSpPr>
          <p:cNvPr id="15" name="Text 13"/>
          <p:cNvSpPr/>
          <p:nvPr/>
        </p:nvSpPr>
        <p:spPr>
          <a:xfrm>
            <a:off x="822960" y="3246120"/>
            <a:ext cx="7589520" cy="594360"/>
          </a:xfrm>
          <a:prstGeom prst="rect">
            <a:avLst/>
          </a:prstGeom>
          <a:noFill/>
          <a:ln/>
        </p:spPr>
        <p:txBody>
          <a:bodyPr wrap="square" rtlCol="0" anchor="ctr"/>
          <a:lstStyle/>
          <a:p>
            <a:pPr marL="0" indent="0">
              <a:buNone/>
            </a:pPr>
            <a:r>
              <a:rPr lang="en-US" sz="1400" b="1" dirty="0">
                <a:solidFill>
                  <a:srgbClr val="00BFFF"/>
                </a:solidFill>
                <a:latin typeface="Calibri" pitchFamily="34" charset="0"/>
                <a:ea typeface="Calibri" pitchFamily="34" charset="-122"/>
                <a:cs typeface="Calibri" pitchFamily="34" charset="-120"/>
              </a:rPr>
              <a:t>Qui contient sa logique métier</a:t>
            </a:r>
            <a:endParaRPr lang="en-US" sz="1400" dirty="0"/>
          </a:p>
          <a:p>
            <a:pPr marL="0" indent="0">
              <a:buNone/>
            </a:pPr>
            <a:r>
              <a:rPr lang="en-US" sz="1200" dirty="0">
                <a:solidFill>
                  <a:srgbClr val="E8ECF4"/>
                </a:solidFill>
                <a:latin typeface="Calibri" pitchFamily="34" charset="0"/>
                <a:ea typeface="Calibri" pitchFamily="34" charset="-122"/>
                <a:cs typeface="Calibri" pitchFamily="34" charset="-120"/>
              </a:rPr>
              <a:t>Les règles vivent dans l'entité, pas dans un service extérieur.</a:t>
            </a:r>
            <a:endParaRPr lang="en-US" sz="1400" dirty="0"/>
          </a:p>
        </p:txBody>
      </p:sp>
      <p:sp>
        <p:nvSpPr>
          <p:cNvPr id="16" name="Shape 14"/>
          <p:cNvSpPr/>
          <p:nvPr/>
        </p:nvSpPr>
        <p:spPr>
          <a:xfrm>
            <a:off x="548640" y="4023360"/>
            <a:ext cx="8046720" cy="6858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7" name="Shape 15"/>
          <p:cNvSpPr/>
          <p:nvPr/>
        </p:nvSpPr>
        <p:spPr>
          <a:xfrm>
            <a:off x="548640" y="4023360"/>
            <a:ext cx="54864" cy="685800"/>
          </a:xfrm>
          <a:prstGeom prst="rect">
            <a:avLst/>
          </a:prstGeom>
          <a:solidFill>
            <a:srgbClr val="1E90FF"/>
          </a:solidFill>
          <a:ln/>
        </p:spPr>
        <p:txBody>
          <a:bodyPr/>
          <a:lstStyle/>
          <a:p>
            <a:endParaRPr lang="en-US"/>
          </a:p>
        </p:txBody>
      </p:sp>
      <p:sp>
        <p:nvSpPr>
          <p:cNvPr id="18" name="Text 16"/>
          <p:cNvSpPr/>
          <p:nvPr/>
        </p:nvSpPr>
        <p:spPr>
          <a:xfrm>
            <a:off x="822960" y="4069080"/>
            <a:ext cx="7589520" cy="594360"/>
          </a:xfrm>
          <a:prstGeom prst="rect">
            <a:avLst/>
          </a:prstGeom>
          <a:noFill/>
          <a:ln/>
        </p:spPr>
        <p:txBody>
          <a:bodyPr wrap="square" rtlCol="0" anchor="ctr"/>
          <a:lstStyle/>
          <a:p>
            <a:pPr marL="0" indent="0">
              <a:buNone/>
            </a:pPr>
            <a:r>
              <a:rPr lang="en-US" sz="1400" b="1" dirty="0">
                <a:solidFill>
                  <a:srgbClr val="00BFFF"/>
                </a:solidFill>
                <a:latin typeface="Calibri" pitchFamily="34" charset="0"/>
                <a:ea typeface="Calibri" pitchFamily="34" charset="-122"/>
                <a:cs typeface="Calibri" pitchFamily="34" charset="-120"/>
              </a:rPr>
              <a:t>Comparée par identité</a:t>
            </a:r>
            <a:endParaRPr lang="en-US" sz="1400" dirty="0"/>
          </a:p>
          <a:p>
            <a:pPr marL="0" indent="0">
              <a:buNone/>
            </a:pPr>
            <a:r>
              <a:rPr lang="en-US" sz="1200" dirty="0">
                <a:solidFill>
                  <a:srgbClr val="E8ECF4"/>
                </a:solidFill>
                <a:latin typeface="Calibri" pitchFamily="34" charset="0"/>
                <a:ea typeface="Calibri" pitchFamily="34" charset="-122"/>
                <a:cs typeface="Calibri" pitchFamily="34" charset="-120"/>
              </a:rPr>
              <a:t>Deux entités avec les mêmes attributs mais des IDs différents sont différentes.</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Le problème du modèle anémique</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29</a:t>
            </a:r>
            <a:endParaRPr lang="en-US" sz="900" dirty="0"/>
          </a:p>
        </p:txBody>
      </p:sp>
      <p:sp>
        <p:nvSpPr>
          <p:cNvPr id="6" name="Text 4"/>
          <p:cNvSpPr/>
          <p:nvPr/>
        </p:nvSpPr>
        <p:spPr>
          <a:xfrm>
            <a:off x="548640" y="3806429"/>
            <a:ext cx="5462866" cy="1120080"/>
          </a:xfrm>
          <a:prstGeom prst="rect">
            <a:avLst/>
          </a:prstGeom>
          <a:noFill/>
          <a:ln/>
        </p:spPr>
        <p:txBody>
          <a:bodyPr wrap="square" rtlCol="0" anchor="ctr"/>
          <a:lstStyle/>
          <a:p>
            <a:pPr marL="0" indent="0">
              <a:buNone/>
            </a:pPr>
            <a:r>
              <a:rPr lang="en-US" sz="1200" dirty="0">
                <a:solidFill>
                  <a:srgbClr val="E8ECF4"/>
                </a:solidFill>
                <a:latin typeface="Calibri" pitchFamily="34" charset="0"/>
                <a:ea typeface="Calibri" pitchFamily="34" charset="-122"/>
                <a:cs typeface="Calibri" pitchFamily="34" charset="-120"/>
              </a:rPr>
              <a:t>L'entité BankAccount est un sac de données.</a:t>
            </a:r>
          </a:p>
          <a:p>
            <a:pPr marL="0" indent="0">
              <a:buNone/>
            </a:pPr>
            <a:r>
              <a:rPr lang="en-US" sz="1200" dirty="0">
                <a:solidFill>
                  <a:srgbClr val="E8ECF4"/>
                </a:solidFill>
                <a:latin typeface="Calibri" pitchFamily="34" charset="0"/>
                <a:ea typeface="Calibri" pitchFamily="34" charset="-122"/>
                <a:cs typeface="Calibri" pitchFamily="34" charset="-120"/>
              </a:rPr>
              <a:t>Elle ne "sait" rien.</a:t>
            </a:r>
          </a:p>
          <a:p>
            <a:pPr marL="0" indent="0">
              <a:buNone/>
            </a:pPr>
            <a:r>
              <a:rPr lang="en-US" sz="1200" dirty="0">
                <a:solidFill>
                  <a:srgbClr val="E8ECF4"/>
                </a:solidFill>
                <a:latin typeface="Calibri" pitchFamily="34" charset="0"/>
                <a:ea typeface="Calibri" pitchFamily="34" charset="-122"/>
                <a:cs typeface="Calibri" pitchFamily="34" charset="-120"/>
              </a:rPr>
              <a:t>Toute l'intelligence est dans le service.</a:t>
            </a:r>
          </a:p>
          <a:p>
            <a:pPr marL="0" indent="0">
              <a:buNone/>
            </a:pPr>
            <a:r>
              <a:rPr lang="en-US" sz="1200" dirty="0">
                <a:solidFill>
                  <a:srgbClr val="E8ECF4"/>
                </a:solidFill>
                <a:latin typeface="Calibri" pitchFamily="34" charset="0"/>
                <a:ea typeface="Calibri" pitchFamily="34" charset="-122"/>
                <a:cs typeface="Calibri" pitchFamily="34" charset="-120"/>
              </a:rPr>
              <a:t>Si un autre service a besoin de faire un retrait, il va recoder les mêmes vérifications.</a:t>
            </a:r>
            <a:endParaRPr lang="en-US" sz="1200" dirty="0"/>
          </a:p>
        </p:txBody>
      </p:sp>
      <p:pic>
        <p:nvPicPr>
          <p:cNvPr id="10" name="Picture 9" descr="A computer screen shot of a program code&#10;&#10;AI-generated content may be incorrect.">
            <a:extLst>
              <a:ext uri="{FF2B5EF4-FFF2-40B4-BE49-F238E27FC236}">
                <a16:creationId xmlns:a16="http://schemas.microsoft.com/office/drawing/2014/main" id="{EFC2C03B-C78B-EF0C-7BEC-8DE6C39985CC}"/>
              </a:ext>
            </a:extLst>
          </p:cNvPr>
          <p:cNvPicPr>
            <a:picLocks noChangeAspect="1"/>
          </p:cNvPicPr>
          <p:nvPr/>
        </p:nvPicPr>
        <p:blipFill>
          <a:blip r:embed="rId4"/>
          <a:stretch>
            <a:fillRect/>
          </a:stretch>
        </p:blipFill>
        <p:spPr>
          <a:xfrm>
            <a:off x="2407096" y="930163"/>
            <a:ext cx="4329808" cy="2876266"/>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Le modèle riche : l'entité qui sait faire des choses</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30</a:t>
            </a:r>
            <a:endParaRPr lang="en-US" sz="900" dirty="0"/>
          </a:p>
        </p:txBody>
      </p:sp>
      <p:pic>
        <p:nvPicPr>
          <p:cNvPr id="9" name="Picture 8" descr="A screenshot of a computer program&#10;&#10;AI-generated content may be incorrect.">
            <a:extLst>
              <a:ext uri="{FF2B5EF4-FFF2-40B4-BE49-F238E27FC236}">
                <a16:creationId xmlns:a16="http://schemas.microsoft.com/office/drawing/2014/main" id="{2E57EE2A-89A1-99DC-3AE0-50377EF18403}"/>
              </a:ext>
            </a:extLst>
          </p:cNvPr>
          <p:cNvPicPr>
            <a:picLocks noChangeAspect="1"/>
          </p:cNvPicPr>
          <p:nvPr/>
        </p:nvPicPr>
        <p:blipFill>
          <a:blip r:embed="rId4"/>
          <a:stretch>
            <a:fillRect/>
          </a:stretch>
        </p:blipFill>
        <p:spPr>
          <a:xfrm>
            <a:off x="2141117" y="914400"/>
            <a:ext cx="4861766" cy="393192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914400"/>
            <a:ext cx="9144000" cy="457200"/>
          </a:xfrm>
          <a:prstGeom prst="rect">
            <a:avLst/>
          </a:prstGeom>
          <a:noFill/>
          <a:ln/>
        </p:spPr>
        <p:txBody>
          <a:bodyPr wrap="square" rtlCol="0" anchor="ctr"/>
          <a:lstStyle/>
          <a:p>
            <a:pPr marL="0" indent="0" algn="ctr">
              <a:buNone/>
            </a:pPr>
            <a:r>
              <a:rPr lang="en-US" sz="1400" kern="0" spc="600" dirty="0">
                <a:solidFill>
                  <a:srgbClr val="1E90FF"/>
                </a:solidFill>
                <a:latin typeface="Calibri" pitchFamily="34" charset="0"/>
                <a:ea typeface="Calibri" pitchFamily="34" charset="-122"/>
                <a:cs typeface="Calibri" pitchFamily="34" charset="-120"/>
              </a:rPr>
              <a:t>MESSAGE CLÉ</a:t>
            </a:r>
            <a:endParaRPr lang="en-US" sz="1400" dirty="0"/>
          </a:p>
        </p:txBody>
      </p:sp>
      <p:sp>
        <p:nvSpPr>
          <p:cNvPr id="3" name="Shape 1"/>
          <p:cNvSpPr/>
          <p:nvPr/>
        </p:nvSpPr>
        <p:spPr>
          <a:xfrm>
            <a:off x="1097280" y="1645920"/>
            <a:ext cx="6949440" cy="237744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4" name="Text 2"/>
          <p:cNvSpPr/>
          <p:nvPr/>
        </p:nvSpPr>
        <p:spPr>
          <a:xfrm>
            <a:off x="1371600" y="1918895"/>
            <a:ext cx="6400800" cy="5486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L'entité n'est pas un sac de données !</a:t>
            </a:r>
            <a:endParaRPr lang="en-US" sz="2200" dirty="0"/>
          </a:p>
        </p:txBody>
      </p:sp>
      <p:sp>
        <p:nvSpPr>
          <p:cNvPr id="5" name="Text 3"/>
          <p:cNvSpPr/>
          <p:nvPr/>
        </p:nvSpPr>
        <p:spPr>
          <a:xfrm>
            <a:off x="1371600" y="2467535"/>
            <a:ext cx="6400800" cy="548640"/>
          </a:xfrm>
          <a:prstGeom prst="rect">
            <a:avLst/>
          </a:prstGeom>
          <a:noFill/>
          <a:ln/>
        </p:spPr>
        <p:txBody>
          <a:bodyPr wrap="square" rtlCol="0" anchor="ctr"/>
          <a:lstStyle/>
          <a:p>
            <a:pPr marL="0" indent="0" algn="ctr">
              <a:buNone/>
            </a:pPr>
            <a:r>
              <a:rPr lang="en-US" sz="1500" dirty="0">
                <a:solidFill>
                  <a:srgbClr val="E8ECF4"/>
                </a:solidFill>
                <a:latin typeface="Calibri" pitchFamily="34" charset="0"/>
                <a:ea typeface="Calibri" pitchFamily="34" charset="-122"/>
                <a:cs typeface="Calibri" pitchFamily="34" charset="-120"/>
              </a:rPr>
              <a:t>C'est un objet qui sait faire des choses et qui protège ses propres règles.</a:t>
            </a:r>
            <a:endParaRPr lang="en-US" sz="1500" dirty="0"/>
          </a:p>
        </p:txBody>
      </p:sp>
      <p:sp>
        <p:nvSpPr>
          <p:cNvPr id="6" name="Text 4"/>
          <p:cNvSpPr/>
          <p:nvPr/>
        </p:nvSpPr>
        <p:spPr>
          <a:xfrm>
            <a:off x="1371600" y="3016175"/>
            <a:ext cx="6400800" cy="731520"/>
          </a:xfrm>
          <a:prstGeom prst="rect">
            <a:avLst/>
          </a:prstGeom>
          <a:noFill/>
          <a:ln/>
        </p:spPr>
        <p:txBody>
          <a:bodyPr wrap="square" rtlCol="0" anchor="ctr"/>
          <a:lstStyle/>
          <a:p>
            <a:pPr marL="0" indent="0" algn="ctr">
              <a:buNone/>
            </a:pPr>
            <a:r>
              <a:rPr lang="en-US" sz="1400" i="1" dirty="0">
                <a:solidFill>
                  <a:srgbClr val="00BFFF"/>
                </a:solidFill>
                <a:latin typeface="Calibri" pitchFamily="34" charset="0"/>
                <a:ea typeface="Calibri" pitchFamily="34" charset="-122"/>
                <a:cs typeface="Calibri" pitchFamily="34" charset="-120"/>
              </a:rPr>
              <a:t>Si tu veux retirer de l'argent, tu demandes au compte de le faire.</a:t>
            </a:r>
            <a:endParaRPr lang="en-US" sz="1400" dirty="0"/>
          </a:p>
          <a:p>
            <a:pPr marL="0" indent="0" algn="ctr">
              <a:buNone/>
            </a:pPr>
            <a:r>
              <a:rPr lang="en-US" sz="1400" i="1" dirty="0">
                <a:solidFill>
                  <a:srgbClr val="00BFFF"/>
                </a:solidFill>
                <a:latin typeface="Calibri" pitchFamily="34" charset="0"/>
                <a:ea typeface="Calibri" pitchFamily="34" charset="-122"/>
                <a:cs typeface="Calibri" pitchFamily="34" charset="-120"/>
              </a:rPr>
              <a:t>Tu ne fais pas </a:t>
            </a:r>
            <a:r>
              <a:rPr lang="en-US" sz="1400" i="1" dirty="0">
                <a:solidFill>
                  <a:schemeClr val="accent6"/>
                </a:solidFill>
                <a:latin typeface="Calibri" pitchFamily="34" charset="0"/>
                <a:ea typeface="Calibri" pitchFamily="34" charset="-122"/>
                <a:cs typeface="Calibri" pitchFamily="34" charset="-120"/>
              </a:rPr>
              <a:t>balance -= amount </a:t>
            </a:r>
            <a:r>
              <a:rPr lang="en-US" sz="1400" i="1" dirty="0">
                <a:solidFill>
                  <a:srgbClr val="00BFFF"/>
                </a:solidFill>
                <a:latin typeface="Calibri" pitchFamily="34" charset="0"/>
                <a:ea typeface="Calibri" pitchFamily="34" charset="-122"/>
                <a:cs typeface="Calibri" pitchFamily="34" charset="-120"/>
              </a:rPr>
              <a:t>toi-même.</a:t>
            </a:r>
            <a:endParaRPr lang="en-US" sz="1400" dirty="0"/>
          </a:p>
        </p:txBody>
      </p:sp>
      <p:sp>
        <p:nvSpPr>
          <p:cNvPr id="7" name="Text 5"/>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1371600"/>
            <a:ext cx="9144000" cy="1097280"/>
          </a:xfrm>
          <a:prstGeom prst="rect">
            <a:avLst/>
          </a:prstGeom>
          <a:noFill/>
          <a:ln/>
        </p:spPr>
        <p:txBody>
          <a:bodyPr wrap="square" rtlCol="0" anchor="ctr"/>
          <a:lstStyle/>
          <a:p>
            <a:pPr marL="0" indent="0" algn="ctr">
              <a:buNone/>
            </a:pPr>
            <a:r>
              <a:rPr lang="en-US" sz="6000" b="1" kern="0" spc="800" dirty="0">
                <a:solidFill>
                  <a:srgbClr val="FFFFFF"/>
                </a:solidFill>
                <a:latin typeface="Calibri" pitchFamily="34" charset="0"/>
                <a:ea typeface="Calibri" pitchFamily="34" charset="-122"/>
                <a:cs typeface="Calibri" pitchFamily="34" charset="-120"/>
              </a:rPr>
              <a:t>BLOC 6</a:t>
            </a:r>
            <a:endParaRPr lang="en-US" sz="6000" dirty="0"/>
          </a:p>
        </p:txBody>
      </p:sp>
      <p:sp>
        <p:nvSpPr>
          <p:cNvPr id="3" name="Text 1"/>
          <p:cNvSpPr/>
          <p:nvPr/>
        </p:nvSpPr>
        <p:spPr>
          <a:xfrm>
            <a:off x="914400" y="2560320"/>
            <a:ext cx="7315200" cy="731520"/>
          </a:xfrm>
          <a:prstGeom prst="rect">
            <a:avLst/>
          </a:prstGeom>
          <a:noFill/>
          <a:ln/>
        </p:spPr>
        <p:txBody>
          <a:bodyPr wrap="square" rtlCol="0" anchor="ctr"/>
          <a:lstStyle/>
          <a:p>
            <a:pPr marL="0" indent="0" algn="ctr">
              <a:buNone/>
            </a:pPr>
            <a:r>
              <a:rPr lang="en-US" sz="2400" dirty="0">
                <a:solidFill>
                  <a:srgbClr val="00BFFF"/>
                </a:solidFill>
                <a:latin typeface="Calibri" pitchFamily="34" charset="0"/>
                <a:ea typeface="Calibri" pitchFamily="34" charset="-122"/>
                <a:cs typeface="Calibri" pitchFamily="34" charset="-120"/>
              </a:rPr>
              <a:t>Aggregate</a:t>
            </a:r>
            <a:endParaRPr lang="en-US" sz="2400" dirty="0"/>
          </a:p>
        </p:txBody>
      </p:sp>
      <p:sp>
        <p:nvSpPr>
          <p:cNvPr id="4" name="Shape 2"/>
          <p:cNvSpPr/>
          <p:nvPr/>
        </p:nvSpPr>
        <p:spPr>
          <a:xfrm>
            <a:off x="3200400" y="3474720"/>
            <a:ext cx="2743200" cy="27432"/>
          </a:xfrm>
          <a:prstGeom prst="rect">
            <a:avLst/>
          </a:prstGeom>
          <a:solidFill>
            <a:srgbClr val="1E90FF">
              <a:alpha val="60000"/>
            </a:srgbClr>
          </a:solidFill>
          <a:ln/>
        </p:spPr>
        <p:txBody>
          <a:bodyPr/>
          <a:lstStyle/>
          <a:p>
            <a:endParaRPr lang="en-US"/>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Le problème</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33</a:t>
            </a:r>
            <a:endParaRPr lang="en-US" sz="900" dirty="0"/>
          </a:p>
        </p:txBody>
      </p:sp>
      <p:sp>
        <p:nvSpPr>
          <p:cNvPr id="6" name="Text 4"/>
          <p:cNvSpPr/>
          <p:nvPr/>
        </p:nvSpPr>
        <p:spPr>
          <a:xfrm>
            <a:off x="548640" y="1005840"/>
            <a:ext cx="8046720" cy="731520"/>
          </a:xfrm>
          <a:prstGeom prst="rect">
            <a:avLst/>
          </a:prstGeom>
          <a:noFill/>
          <a:ln/>
        </p:spPr>
        <p:txBody>
          <a:bodyPr wrap="square" rtlCol="0" anchor="ctr"/>
          <a:lstStyle/>
          <a:p>
            <a:pPr marL="0" indent="0">
              <a:buNone/>
            </a:pPr>
            <a:r>
              <a:rPr lang="en-US" sz="1400" dirty="0">
                <a:solidFill>
                  <a:srgbClr val="E8ECF4"/>
                </a:solidFill>
                <a:latin typeface="Calibri" pitchFamily="34" charset="0"/>
                <a:ea typeface="Calibri" pitchFamily="34" charset="-122"/>
                <a:cs typeface="Calibri" pitchFamily="34" charset="-120"/>
              </a:rPr>
              <a:t>Imaginons une commande avec des items. Si j'ajoute un item, le total de la commande change. Si je modifie un item directement sans passer par la commande, le total peut devenir incohérent.</a:t>
            </a:r>
            <a:endParaRPr lang="en-US" sz="1400" dirty="0"/>
          </a:p>
        </p:txBody>
      </p:sp>
      <p:sp>
        <p:nvSpPr>
          <p:cNvPr id="7" name="Text 5"/>
          <p:cNvSpPr/>
          <p:nvPr/>
        </p:nvSpPr>
        <p:spPr>
          <a:xfrm>
            <a:off x="548640" y="3858768"/>
            <a:ext cx="8046720" cy="365760"/>
          </a:xfrm>
          <a:prstGeom prst="rect">
            <a:avLst/>
          </a:prstGeom>
          <a:noFill/>
          <a:ln/>
        </p:spPr>
        <p:txBody>
          <a:bodyPr wrap="square" rtlCol="0" anchor="ctr"/>
          <a:lstStyle/>
          <a:p>
            <a:pPr marL="0" indent="0">
              <a:buNone/>
            </a:pPr>
            <a:r>
              <a:rPr lang="en-US" sz="1400" b="1" dirty="0">
                <a:solidFill>
                  <a:srgbClr val="00BFFF"/>
                </a:solidFill>
                <a:latin typeface="Calibri" pitchFamily="34" charset="0"/>
                <a:ea typeface="Calibri" pitchFamily="34" charset="-122"/>
                <a:cs typeface="Calibri" pitchFamily="34" charset="-120"/>
              </a:rPr>
              <a:t>L'Aggregate résout ce problème en imposant un point d'entrée unique.</a:t>
            </a:r>
            <a:endParaRPr lang="en-US" sz="1400" dirty="0"/>
          </a:p>
        </p:txBody>
      </p:sp>
      <p:pic>
        <p:nvPicPr>
          <p:cNvPr id="11" name="Picture 10" descr="A screen shot of a computer program&#10;&#10;AI-generated content may be incorrect.">
            <a:extLst>
              <a:ext uri="{FF2B5EF4-FFF2-40B4-BE49-F238E27FC236}">
                <a16:creationId xmlns:a16="http://schemas.microsoft.com/office/drawing/2014/main" id="{BD63589F-7C14-E6E5-5D38-89CAEF1F2F62}"/>
              </a:ext>
            </a:extLst>
          </p:cNvPr>
          <p:cNvPicPr>
            <a:picLocks noChangeAspect="1"/>
          </p:cNvPicPr>
          <p:nvPr/>
        </p:nvPicPr>
        <p:blipFill>
          <a:blip r:embed="rId4"/>
          <a:stretch>
            <a:fillRect/>
          </a:stretch>
        </p:blipFill>
        <p:spPr>
          <a:xfrm>
            <a:off x="644563" y="1824484"/>
            <a:ext cx="5635214" cy="194716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La définition</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34</a:t>
            </a:r>
            <a:endParaRPr lang="en-US" sz="900" dirty="0"/>
          </a:p>
        </p:txBody>
      </p:sp>
      <p:sp>
        <p:nvSpPr>
          <p:cNvPr id="6" name="Text 4"/>
          <p:cNvSpPr/>
          <p:nvPr/>
        </p:nvSpPr>
        <p:spPr>
          <a:xfrm>
            <a:off x="548640" y="1005840"/>
            <a:ext cx="8046720" cy="365760"/>
          </a:xfrm>
          <a:prstGeom prst="rect">
            <a:avLst/>
          </a:prstGeom>
          <a:noFill/>
          <a:ln/>
        </p:spPr>
        <p:txBody>
          <a:bodyPr wrap="square" rtlCol="0" anchor="ctr"/>
          <a:lstStyle/>
          <a:p>
            <a:pPr marL="0" indent="0">
              <a:buNone/>
            </a:pPr>
            <a:r>
              <a:rPr lang="en-US" sz="1500" dirty="0">
                <a:solidFill>
                  <a:srgbClr val="E8ECF4"/>
                </a:solidFill>
                <a:latin typeface="Calibri" pitchFamily="34" charset="0"/>
                <a:ea typeface="Calibri" pitchFamily="34" charset="-122"/>
                <a:cs typeface="Calibri" pitchFamily="34" charset="-120"/>
              </a:rPr>
              <a:t>Un Aggregate est :</a:t>
            </a:r>
            <a:endParaRPr lang="en-US" sz="1500" dirty="0"/>
          </a:p>
        </p:txBody>
      </p:sp>
      <p:sp>
        <p:nvSpPr>
          <p:cNvPr id="7" name="Shape 5"/>
          <p:cNvSpPr/>
          <p:nvPr/>
        </p:nvSpPr>
        <p:spPr>
          <a:xfrm>
            <a:off x="548640" y="1554480"/>
            <a:ext cx="8046720" cy="64008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8" name="Shape 6"/>
          <p:cNvSpPr/>
          <p:nvPr/>
        </p:nvSpPr>
        <p:spPr>
          <a:xfrm>
            <a:off x="548640" y="1554480"/>
            <a:ext cx="54864" cy="640080"/>
          </a:xfrm>
          <a:prstGeom prst="rect">
            <a:avLst/>
          </a:prstGeom>
          <a:solidFill>
            <a:srgbClr val="1E90FF"/>
          </a:solidFill>
          <a:ln/>
        </p:spPr>
        <p:txBody>
          <a:bodyPr/>
          <a:lstStyle/>
          <a:p>
            <a:endParaRPr lang="en-US"/>
          </a:p>
        </p:txBody>
      </p:sp>
      <p:sp>
        <p:nvSpPr>
          <p:cNvPr id="9" name="Text 7"/>
          <p:cNvSpPr/>
          <p:nvPr/>
        </p:nvSpPr>
        <p:spPr>
          <a:xfrm>
            <a:off x="822960" y="1554480"/>
            <a:ext cx="7589520" cy="640080"/>
          </a:xfrm>
          <a:prstGeom prst="rect">
            <a:avLst/>
          </a:prstGeom>
          <a:noFill/>
          <a:ln/>
        </p:spPr>
        <p:txBody>
          <a:bodyPr wrap="square" rtlCol="0" anchor="ctr"/>
          <a:lstStyle/>
          <a:p>
            <a:pPr marL="0" indent="0">
              <a:buNone/>
            </a:pPr>
            <a:r>
              <a:rPr lang="en-US" sz="1400" dirty="0">
                <a:solidFill>
                  <a:srgbClr val="E8ECF4"/>
                </a:solidFill>
                <a:latin typeface="Calibri" pitchFamily="34" charset="0"/>
                <a:ea typeface="Calibri" pitchFamily="34" charset="-122"/>
                <a:cs typeface="Calibri" pitchFamily="34" charset="-120"/>
              </a:rPr>
              <a:t>Un groupe d'Entities et de Value Objects qui forment une unité de cohérence.</a:t>
            </a:r>
            <a:endParaRPr lang="en-US" sz="1400" dirty="0"/>
          </a:p>
        </p:txBody>
      </p:sp>
      <p:sp>
        <p:nvSpPr>
          <p:cNvPr id="13" name="Shape 11"/>
          <p:cNvSpPr/>
          <p:nvPr/>
        </p:nvSpPr>
        <p:spPr>
          <a:xfrm>
            <a:off x="548640" y="2377440"/>
            <a:ext cx="8046720" cy="64008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4" name="Shape 12"/>
          <p:cNvSpPr/>
          <p:nvPr/>
        </p:nvSpPr>
        <p:spPr>
          <a:xfrm>
            <a:off x="548640" y="2377440"/>
            <a:ext cx="54864" cy="640080"/>
          </a:xfrm>
          <a:prstGeom prst="rect">
            <a:avLst/>
          </a:prstGeom>
          <a:solidFill>
            <a:srgbClr val="1E90FF"/>
          </a:solidFill>
          <a:ln/>
        </p:spPr>
        <p:txBody>
          <a:bodyPr/>
          <a:lstStyle/>
          <a:p>
            <a:endParaRPr lang="en-US"/>
          </a:p>
        </p:txBody>
      </p:sp>
      <p:sp>
        <p:nvSpPr>
          <p:cNvPr id="15" name="Text 13"/>
          <p:cNvSpPr/>
          <p:nvPr/>
        </p:nvSpPr>
        <p:spPr>
          <a:xfrm>
            <a:off x="822960" y="2377440"/>
            <a:ext cx="7589520" cy="640080"/>
          </a:xfrm>
          <a:prstGeom prst="rect">
            <a:avLst/>
          </a:prstGeom>
          <a:noFill/>
          <a:ln/>
        </p:spPr>
        <p:txBody>
          <a:bodyPr wrap="square" rtlCol="0" anchor="ctr"/>
          <a:lstStyle/>
          <a:p>
            <a:pPr marL="0" indent="0">
              <a:buNone/>
            </a:pPr>
            <a:r>
              <a:rPr lang="en-US" sz="1400" dirty="0">
                <a:solidFill>
                  <a:srgbClr val="E8ECF4"/>
                </a:solidFill>
                <a:latin typeface="Calibri" pitchFamily="34" charset="0"/>
                <a:ea typeface="Calibri" pitchFamily="34" charset="-122"/>
                <a:cs typeface="Calibri" pitchFamily="34" charset="-120"/>
              </a:rPr>
              <a:t>Toute modification passe par </a:t>
            </a:r>
            <a:r>
              <a:rPr lang="en-US" sz="1400" dirty="0" err="1">
                <a:solidFill>
                  <a:srgbClr val="E8ECF4"/>
                </a:solidFill>
                <a:latin typeface="Calibri" pitchFamily="34" charset="0"/>
                <a:ea typeface="Calibri" pitchFamily="34" charset="-122"/>
                <a:cs typeface="Calibri" pitchFamily="34" charset="-120"/>
              </a:rPr>
              <a:t>l’Aggregate</a:t>
            </a:r>
            <a:r>
              <a:rPr lang="en-US" sz="1400" dirty="0">
                <a:solidFill>
                  <a:srgbClr val="E8ECF4"/>
                </a:solidFill>
                <a:latin typeface="Calibri" pitchFamily="34" charset="0"/>
                <a:ea typeface="Calibri" pitchFamily="34" charset="-122"/>
                <a:cs typeface="Calibri" pitchFamily="34" charset="-120"/>
              </a:rPr>
              <a:t>, qui garantit la cohérence de l'ensemble.</a:t>
            </a:r>
            <a:endParaRPr lang="en-US" sz="1400" dirty="0"/>
          </a:p>
        </p:txBody>
      </p:sp>
      <p:sp>
        <p:nvSpPr>
          <p:cNvPr id="16" name="Shape 14"/>
          <p:cNvSpPr/>
          <p:nvPr/>
        </p:nvSpPr>
        <p:spPr>
          <a:xfrm>
            <a:off x="548640" y="3154680"/>
            <a:ext cx="8046720" cy="64008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7" name="Shape 15"/>
          <p:cNvSpPr/>
          <p:nvPr/>
        </p:nvSpPr>
        <p:spPr>
          <a:xfrm>
            <a:off x="548640" y="3154680"/>
            <a:ext cx="54864" cy="640080"/>
          </a:xfrm>
          <a:prstGeom prst="rect">
            <a:avLst/>
          </a:prstGeom>
          <a:solidFill>
            <a:srgbClr val="1E90FF"/>
          </a:solidFill>
          <a:ln/>
        </p:spPr>
        <p:txBody>
          <a:bodyPr/>
          <a:lstStyle/>
          <a:p>
            <a:endParaRPr lang="en-US"/>
          </a:p>
        </p:txBody>
      </p:sp>
      <p:sp>
        <p:nvSpPr>
          <p:cNvPr id="18" name="Text 16"/>
          <p:cNvSpPr/>
          <p:nvPr/>
        </p:nvSpPr>
        <p:spPr>
          <a:xfrm>
            <a:off x="822960" y="3154680"/>
            <a:ext cx="7589520" cy="640080"/>
          </a:xfrm>
          <a:prstGeom prst="rect">
            <a:avLst/>
          </a:prstGeom>
          <a:noFill/>
          <a:ln/>
        </p:spPr>
        <p:txBody>
          <a:bodyPr wrap="square" rtlCol="0" anchor="ctr"/>
          <a:lstStyle/>
          <a:p>
            <a:pPr marL="0" indent="0">
              <a:buNone/>
            </a:pPr>
            <a:r>
              <a:rPr lang="en-US" sz="1400" dirty="0">
                <a:solidFill>
                  <a:srgbClr val="E8ECF4"/>
                </a:solidFill>
                <a:latin typeface="Calibri" pitchFamily="34" charset="0"/>
                <a:ea typeface="Calibri" pitchFamily="34" charset="-122"/>
                <a:cs typeface="Calibri" pitchFamily="34" charset="-120"/>
              </a:rPr>
              <a:t>Chargé et persisté </a:t>
            </a:r>
            <a:r>
              <a:rPr lang="en-US" sz="1400" dirty="0" err="1">
                <a:solidFill>
                  <a:srgbClr val="E8ECF4"/>
                </a:solidFill>
                <a:latin typeface="Calibri" pitchFamily="34" charset="0"/>
                <a:ea typeface="Calibri" pitchFamily="34" charset="-122"/>
                <a:cs typeface="Calibri" pitchFamily="34" charset="-120"/>
              </a:rPr>
              <a:t>en</a:t>
            </a:r>
            <a:r>
              <a:rPr lang="en-US" sz="1400" dirty="0">
                <a:solidFill>
                  <a:srgbClr val="E8ECF4"/>
                </a:solidFill>
                <a:latin typeface="Calibri" pitchFamily="34" charset="0"/>
                <a:ea typeface="Calibri" pitchFamily="34" charset="-122"/>
                <a:cs typeface="Calibri" pitchFamily="34" charset="-120"/>
              </a:rPr>
              <a:t> bloc, c'est l'unité de transaction.</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Analogie</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35</a:t>
            </a:r>
            <a:endParaRPr lang="en-US" sz="900" dirty="0"/>
          </a:p>
        </p:txBody>
      </p:sp>
      <p:sp>
        <p:nvSpPr>
          <p:cNvPr id="6" name="Text 4"/>
          <p:cNvSpPr/>
          <p:nvPr/>
        </p:nvSpPr>
        <p:spPr>
          <a:xfrm>
            <a:off x="548640" y="1005840"/>
            <a:ext cx="8046720" cy="457200"/>
          </a:xfrm>
          <a:prstGeom prst="rect">
            <a:avLst/>
          </a:prstGeom>
          <a:noFill/>
          <a:ln/>
        </p:spPr>
        <p:txBody>
          <a:bodyPr wrap="square" rtlCol="0" anchor="ctr"/>
          <a:lstStyle/>
          <a:p>
            <a:pPr marL="0" indent="0">
              <a:buNone/>
            </a:pPr>
            <a:r>
              <a:rPr lang="en-US" sz="1600" b="1" dirty="0">
                <a:solidFill>
                  <a:srgbClr val="00BFFF"/>
                </a:solidFill>
                <a:latin typeface="Calibri" pitchFamily="34" charset="0"/>
                <a:ea typeface="Calibri" pitchFamily="34" charset="-122"/>
                <a:cs typeface="Calibri" pitchFamily="34" charset="-120"/>
              </a:rPr>
              <a:t>Un Aggregate, c'est comme une entreprise. </a:t>
            </a:r>
            <a:r>
              <a:rPr lang="en-US" sz="1600" b="1" dirty="0" err="1">
                <a:solidFill>
                  <a:srgbClr val="00BFFF"/>
                </a:solidFill>
                <a:latin typeface="Calibri" pitchFamily="34" charset="0"/>
                <a:ea typeface="Calibri" pitchFamily="34" charset="-122"/>
                <a:cs typeface="Calibri" pitchFamily="34" charset="-120"/>
              </a:rPr>
              <a:t>L'Aggregate</a:t>
            </a:r>
            <a:r>
              <a:rPr lang="en-US" sz="1600" b="1" dirty="0">
                <a:solidFill>
                  <a:srgbClr val="00BFFF"/>
                </a:solidFill>
                <a:latin typeface="Calibri" pitchFamily="34" charset="0"/>
                <a:ea typeface="Calibri" pitchFamily="34" charset="-122"/>
                <a:cs typeface="Calibri" pitchFamily="34" charset="-120"/>
              </a:rPr>
              <a:t>, c'est le PDG.</a:t>
            </a:r>
            <a:endParaRPr lang="en-US" sz="1600" dirty="0"/>
          </a:p>
        </p:txBody>
      </p:sp>
      <p:sp>
        <p:nvSpPr>
          <p:cNvPr id="7" name="Shape 5"/>
          <p:cNvSpPr/>
          <p:nvPr/>
        </p:nvSpPr>
        <p:spPr>
          <a:xfrm>
            <a:off x="548640" y="1645920"/>
            <a:ext cx="8046720" cy="6858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8" name="Shape 6"/>
          <p:cNvSpPr/>
          <p:nvPr/>
        </p:nvSpPr>
        <p:spPr>
          <a:xfrm>
            <a:off x="685800" y="1828800"/>
            <a:ext cx="320040" cy="320040"/>
          </a:xfrm>
          <a:prstGeom prst="ellipse">
            <a:avLst/>
          </a:prstGeom>
          <a:solidFill>
            <a:srgbClr val="1E90FF">
              <a:alpha val="80000"/>
            </a:srgbClr>
          </a:solidFill>
          <a:ln/>
        </p:spPr>
        <p:txBody>
          <a:bodyPr/>
          <a:lstStyle/>
          <a:p>
            <a:endParaRPr lang="en-US"/>
          </a:p>
        </p:txBody>
      </p:sp>
      <p:sp>
        <p:nvSpPr>
          <p:cNvPr id="9" name="Text 7"/>
          <p:cNvSpPr/>
          <p:nvPr/>
        </p:nvSpPr>
        <p:spPr>
          <a:xfrm>
            <a:off x="685800" y="1828800"/>
            <a:ext cx="32004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1188720" y="1691640"/>
            <a:ext cx="7223760" cy="594360"/>
          </a:xfrm>
          <a:prstGeom prst="rect">
            <a:avLst/>
          </a:prstGeom>
          <a:noFill/>
          <a:ln/>
        </p:spPr>
        <p:txBody>
          <a:bodyPr wrap="square" rtlCol="0" anchor="ctr"/>
          <a:lstStyle/>
          <a:p>
            <a:pPr marL="0" indent="0">
              <a:buNone/>
            </a:pPr>
            <a:r>
              <a:rPr lang="en-US" sz="1200" dirty="0">
                <a:solidFill>
                  <a:srgbClr val="E8ECF4"/>
                </a:solidFill>
                <a:latin typeface="Calibri" pitchFamily="34" charset="0"/>
                <a:ea typeface="Calibri" pitchFamily="34" charset="-122"/>
                <a:cs typeface="Calibri" pitchFamily="34" charset="-120"/>
              </a:rPr>
              <a:t>Tu ne vas pas parler directement au comptable pour modifier la paie de quelqu'un (accès direct à </a:t>
            </a:r>
            <a:r>
              <a:rPr lang="en-US" sz="1200" dirty="0" err="1">
                <a:solidFill>
                  <a:srgbClr val="E8ECF4"/>
                </a:solidFill>
                <a:latin typeface="Calibri" pitchFamily="34" charset="0"/>
                <a:ea typeface="Calibri" pitchFamily="34" charset="-122"/>
                <a:cs typeface="Calibri" pitchFamily="34" charset="-120"/>
              </a:rPr>
              <a:t>une</a:t>
            </a:r>
            <a:r>
              <a:rPr lang="en-US" sz="1200" dirty="0">
                <a:solidFill>
                  <a:srgbClr val="E8ECF4"/>
                </a:solidFill>
                <a:latin typeface="Calibri" pitchFamily="34" charset="0"/>
                <a:ea typeface="Calibri" pitchFamily="34" charset="-122"/>
                <a:cs typeface="Calibri" pitchFamily="34" charset="-120"/>
              </a:rPr>
              <a:t> Entity). Tu passes par le PDG (Aggregate).</a:t>
            </a:r>
            <a:endParaRPr lang="en-US" sz="1200" dirty="0"/>
          </a:p>
        </p:txBody>
      </p:sp>
      <p:sp>
        <p:nvSpPr>
          <p:cNvPr id="11" name="Shape 9"/>
          <p:cNvSpPr/>
          <p:nvPr/>
        </p:nvSpPr>
        <p:spPr>
          <a:xfrm>
            <a:off x="548640" y="2468880"/>
            <a:ext cx="8046720" cy="6858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2" name="Shape 10"/>
          <p:cNvSpPr/>
          <p:nvPr/>
        </p:nvSpPr>
        <p:spPr>
          <a:xfrm>
            <a:off x="685800" y="2651760"/>
            <a:ext cx="320040" cy="320040"/>
          </a:xfrm>
          <a:prstGeom prst="ellipse">
            <a:avLst/>
          </a:prstGeom>
          <a:solidFill>
            <a:srgbClr val="1E90FF">
              <a:alpha val="80000"/>
            </a:srgbClr>
          </a:solidFill>
          <a:ln/>
        </p:spPr>
        <p:txBody>
          <a:bodyPr/>
          <a:lstStyle/>
          <a:p>
            <a:endParaRPr lang="en-US"/>
          </a:p>
        </p:txBody>
      </p:sp>
      <p:sp>
        <p:nvSpPr>
          <p:cNvPr id="13" name="Text 11"/>
          <p:cNvSpPr/>
          <p:nvPr/>
        </p:nvSpPr>
        <p:spPr>
          <a:xfrm>
            <a:off x="685800" y="2651760"/>
            <a:ext cx="32004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1188720" y="2514600"/>
            <a:ext cx="7223760" cy="594360"/>
          </a:xfrm>
          <a:prstGeom prst="rect">
            <a:avLst/>
          </a:prstGeom>
          <a:noFill/>
          <a:ln/>
        </p:spPr>
        <p:txBody>
          <a:bodyPr wrap="square" rtlCol="0" anchor="ctr"/>
          <a:lstStyle/>
          <a:p>
            <a:pPr marL="0" indent="0">
              <a:buNone/>
            </a:pPr>
            <a:r>
              <a:rPr lang="en-US" sz="1200" dirty="0">
                <a:solidFill>
                  <a:srgbClr val="E8ECF4"/>
                </a:solidFill>
                <a:latin typeface="Calibri" pitchFamily="34" charset="0"/>
                <a:ea typeface="Calibri" pitchFamily="34" charset="-122"/>
                <a:cs typeface="Calibri" pitchFamily="34" charset="-120"/>
              </a:rPr>
              <a:t>Le PDG s'assure que la modification est cohérente avec la politique de </a:t>
            </a:r>
            <a:r>
              <a:rPr lang="en-US" sz="1200" dirty="0" err="1">
                <a:solidFill>
                  <a:srgbClr val="E8ECF4"/>
                </a:solidFill>
                <a:latin typeface="Calibri" pitchFamily="34" charset="0"/>
                <a:ea typeface="Calibri" pitchFamily="34" charset="-122"/>
                <a:cs typeface="Calibri" pitchFamily="34" charset="-120"/>
              </a:rPr>
              <a:t>l'entreprise</a:t>
            </a:r>
            <a:r>
              <a:rPr lang="en-US" sz="1200" dirty="0">
                <a:solidFill>
                  <a:srgbClr val="E8ECF4"/>
                </a:solidFill>
                <a:latin typeface="Calibri" pitchFamily="34" charset="0"/>
                <a:ea typeface="Calibri" pitchFamily="34" charset="-122"/>
                <a:cs typeface="Calibri" pitchFamily="34" charset="-120"/>
              </a:rPr>
              <a:t> (Value Object).</a:t>
            </a:r>
            <a:endParaRPr lang="en-US" sz="1200" dirty="0"/>
          </a:p>
        </p:txBody>
      </p:sp>
      <p:sp>
        <p:nvSpPr>
          <p:cNvPr id="15" name="Shape 13"/>
          <p:cNvSpPr/>
          <p:nvPr/>
        </p:nvSpPr>
        <p:spPr>
          <a:xfrm>
            <a:off x="548640" y="3291840"/>
            <a:ext cx="8046720" cy="6858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6" name="Shape 14"/>
          <p:cNvSpPr/>
          <p:nvPr/>
        </p:nvSpPr>
        <p:spPr>
          <a:xfrm>
            <a:off x="685800" y="3474720"/>
            <a:ext cx="320040" cy="320040"/>
          </a:xfrm>
          <a:prstGeom prst="ellipse">
            <a:avLst/>
          </a:prstGeom>
          <a:solidFill>
            <a:srgbClr val="1E90FF">
              <a:alpha val="80000"/>
            </a:srgbClr>
          </a:solidFill>
          <a:ln/>
        </p:spPr>
        <p:txBody>
          <a:bodyPr/>
          <a:lstStyle/>
          <a:p>
            <a:endParaRPr lang="en-US"/>
          </a:p>
        </p:txBody>
      </p:sp>
      <p:sp>
        <p:nvSpPr>
          <p:cNvPr id="17" name="Text 15"/>
          <p:cNvSpPr/>
          <p:nvPr/>
        </p:nvSpPr>
        <p:spPr>
          <a:xfrm>
            <a:off x="685800" y="3474720"/>
            <a:ext cx="32004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1188720" y="3337560"/>
            <a:ext cx="7223760" cy="594360"/>
          </a:xfrm>
          <a:prstGeom prst="rect">
            <a:avLst/>
          </a:prstGeom>
          <a:noFill/>
          <a:ln/>
        </p:spPr>
        <p:txBody>
          <a:bodyPr wrap="square" rtlCol="0" anchor="ctr"/>
          <a:lstStyle/>
          <a:p>
            <a:pPr marL="0" indent="0">
              <a:buNone/>
            </a:pPr>
            <a:r>
              <a:rPr lang="en-US" sz="1200" dirty="0">
                <a:solidFill>
                  <a:srgbClr val="E8ECF4"/>
                </a:solidFill>
                <a:latin typeface="Calibri" pitchFamily="34" charset="0"/>
                <a:ea typeface="Calibri" pitchFamily="34" charset="-122"/>
                <a:cs typeface="Calibri" pitchFamily="34" charset="-120"/>
              </a:rPr>
              <a:t>Si l'entreprise embauche quelqu'un, le PDG met à jour l'organigramme ET la paie en même temps (transaction).</a:t>
            </a:r>
            <a:endParaRPr lang="en-US" sz="1200" dirty="0"/>
          </a:p>
        </p:txBody>
      </p:sp>
      <p:sp>
        <p:nvSpPr>
          <p:cNvPr id="19" name="Shape 17"/>
          <p:cNvSpPr/>
          <p:nvPr/>
        </p:nvSpPr>
        <p:spPr>
          <a:xfrm>
            <a:off x="548640" y="4114800"/>
            <a:ext cx="8046720" cy="6858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20" name="Shape 18"/>
          <p:cNvSpPr/>
          <p:nvPr/>
        </p:nvSpPr>
        <p:spPr>
          <a:xfrm>
            <a:off x="685800" y="4297680"/>
            <a:ext cx="320040" cy="320040"/>
          </a:xfrm>
          <a:prstGeom prst="ellipse">
            <a:avLst/>
          </a:prstGeom>
          <a:solidFill>
            <a:srgbClr val="1E90FF">
              <a:alpha val="80000"/>
            </a:srgbClr>
          </a:solidFill>
          <a:ln/>
        </p:spPr>
        <p:txBody>
          <a:bodyPr/>
          <a:lstStyle/>
          <a:p>
            <a:endParaRPr lang="en-US"/>
          </a:p>
        </p:txBody>
      </p:sp>
      <p:sp>
        <p:nvSpPr>
          <p:cNvPr id="21" name="Text 19"/>
          <p:cNvSpPr/>
          <p:nvPr/>
        </p:nvSpPr>
        <p:spPr>
          <a:xfrm>
            <a:off x="685800" y="4297680"/>
            <a:ext cx="32004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1188720" y="4160520"/>
            <a:ext cx="7223760" cy="594360"/>
          </a:xfrm>
          <a:prstGeom prst="rect">
            <a:avLst/>
          </a:prstGeom>
          <a:noFill/>
          <a:ln/>
        </p:spPr>
        <p:txBody>
          <a:bodyPr wrap="square" rtlCol="0" anchor="ctr"/>
          <a:lstStyle/>
          <a:p>
            <a:pPr marL="0" indent="0">
              <a:buNone/>
            </a:pPr>
            <a:r>
              <a:rPr lang="en-US" sz="1200" dirty="0">
                <a:solidFill>
                  <a:srgbClr val="E8ECF4"/>
                </a:solidFill>
                <a:latin typeface="Calibri" pitchFamily="34" charset="0"/>
                <a:ea typeface="Calibri" pitchFamily="34" charset="-122"/>
                <a:cs typeface="Calibri" pitchFamily="34" charset="-120"/>
              </a:rPr>
              <a:t>De l'extérieur, on ne voit </a:t>
            </a:r>
            <a:r>
              <a:rPr lang="en-US" sz="1200" dirty="0" err="1">
                <a:solidFill>
                  <a:srgbClr val="E8ECF4"/>
                </a:solidFill>
                <a:latin typeface="Calibri" pitchFamily="34" charset="0"/>
                <a:ea typeface="Calibri" pitchFamily="34" charset="-122"/>
                <a:cs typeface="Calibri" pitchFamily="34" charset="-120"/>
              </a:rPr>
              <a:t>que</a:t>
            </a:r>
            <a:r>
              <a:rPr lang="en-US" sz="1200" dirty="0">
                <a:solidFill>
                  <a:srgbClr val="E8ECF4"/>
                </a:solidFill>
                <a:latin typeface="Calibri" pitchFamily="34" charset="0"/>
                <a:ea typeface="Calibri" pitchFamily="34" charset="-122"/>
                <a:cs typeface="Calibri" pitchFamily="34" charset="-120"/>
              </a:rPr>
              <a:t> </a:t>
            </a:r>
            <a:r>
              <a:rPr lang="en-US" sz="1200" dirty="0" err="1">
                <a:solidFill>
                  <a:srgbClr val="E8ECF4"/>
                </a:solidFill>
                <a:latin typeface="Calibri" pitchFamily="34" charset="0"/>
                <a:ea typeface="Calibri" pitchFamily="34" charset="-122"/>
                <a:cs typeface="Calibri" pitchFamily="34" charset="-120"/>
              </a:rPr>
              <a:t>l'entreprise</a:t>
            </a:r>
            <a:r>
              <a:rPr lang="en-US" sz="1200" dirty="0">
                <a:solidFill>
                  <a:srgbClr val="E8ECF4"/>
                </a:solidFill>
                <a:latin typeface="Calibri" pitchFamily="34" charset="0"/>
                <a:ea typeface="Calibri" pitchFamily="34" charset="-122"/>
                <a:cs typeface="Calibri" pitchFamily="34" charset="-120"/>
              </a:rPr>
              <a:t> / PDG (Aggregate), pas ses rouages internes.</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1828800"/>
            <a:ext cx="9144000" cy="1097280"/>
          </a:xfrm>
          <a:prstGeom prst="rect">
            <a:avLst/>
          </a:prstGeom>
          <a:noFill/>
          <a:ln/>
        </p:spPr>
        <p:txBody>
          <a:bodyPr wrap="square" rtlCol="0" anchor="ctr"/>
          <a:lstStyle/>
          <a:p>
            <a:pPr marL="0" indent="0" algn="ctr">
              <a:buNone/>
            </a:pPr>
            <a:r>
              <a:rPr lang="en-US" sz="4800" b="1" kern="0" spc="600" dirty="0">
                <a:solidFill>
                  <a:srgbClr val="FFFFFF"/>
                </a:solidFill>
                <a:latin typeface="Calibri" pitchFamily="34" charset="0"/>
                <a:ea typeface="Calibri" pitchFamily="34" charset="-122"/>
                <a:cs typeface="Calibri" pitchFamily="34" charset="-120"/>
              </a:rPr>
              <a:t>LES 4 RÈGLES</a:t>
            </a:r>
            <a:endParaRPr lang="en-US" sz="4800" dirty="0"/>
          </a:p>
        </p:txBody>
      </p:sp>
      <p:sp>
        <p:nvSpPr>
          <p:cNvPr id="3" name="Text 1"/>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Règle 1 — </a:t>
            </a:r>
            <a:r>
              <a:rPr lang="en-US" sz="2800" b="1" dirty="0" err="1">
                <a:solidFill>
                  <a:srgbClr val="FFFFFF"/>
                </a:solidFill>
                <a:latin typeface="Calibri" pitchFamily="34" charset="0"/>
                <a:ea typeface="Calibri" pitchFamily="34" charset="-122"/>
                <a:cs typeface="Calibri" pitchFamily="34" charset="-120"/>
              </a:rPr>
              <a:t>Accès</a:t>
            </a:r>
            <a:r>
              <a:rPr lang="en-US" sz="2800" b="1" dirty="0">
                <a:solidFill>
                  <a:srgbClr val="FFFFFF"/>
                </a:solidFill>
                <a:latin typeface="Calibri" pitchFamily="34" charset="0"/>
                <a:ea typeface="Calibri" pitchFamily="34" charset="-122"/>
                <a:cs typeface="Calibri" pitchFamily="34" charset="-120"/>
              </a:rPr>
              <a:t> par </a:t>
            </a:r>
            <a:r>
              <a:rPr lang="en-US" sz="2800" b="1" dirty="0" err="1">
                <a:solidFill>
                  <a:srgbClr val="FFFFFF"/>
                </a:solidFill>
                <a:latin typeface="Calibri" pitchFamily="34" charset="0"/>
                <a:ea typeface="Calibri" pitchFamily="34" charset="-122"/>
                <a:cs typeface="Calibri" pitchFamily="34" charset="-120"/>
              </a:rPr>
              <a:t>l’Aggregate</a:t>
            </a:r>
            <a:r>
              <a:rPr lang="en-US" sz="2800" b="1" dirty="0">
                <a:solidFill>
                  <a:srgbClr val="FFFFFF"/>
                </a:solidFill>
                <a:latin typeface="Calibri" pitchFamily="34" charset="0"/>
                <a:ea typeface="Calibri" pitchFamily="34" charset="-122"/>
                <a:cs typeface="Calibri" pitchFamily="34" charset="-120"/>
              </a:rPr>
              <a:t> </a:t>
            </a:r>
            <a:r>
              <a:rPr lang="en-US" sz="2800" b="1" dirty="0" err="1">
                <a:solidFill>
                  <a:srgbClr val="FFFFFF"/>
                </a:solidFill>
                <a:latin typeface="Calibri" pitchFamily="34" charset="0"/>
                <a:ea typeface="Calibri" pitchFamily="34" charset="-122"/>
                <a:cs typeface="Calibri" pitchFamily="34" charset="-120"/>
              </a:rPr>
              <a:t>uniquement</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37</a:t>
            </a:r>
            <a:endParaRPr lang="en-US" sz="900" dirty="0"/>
          </a:p>
        </p:txBody>
      </p:sp>
      <p:pic>
        <p:nvPicPr>
          <p:cNvPr id="15" name="Picture 14" descr="A screen shot of a computer program&#10;&#10;AI-generated content may be incorrect.">
            <a:extLst>
              <a:ext uri="{FF2B5EF4-FFF2-40B4-BE49-F238E27FC236}">
                <a16:creationId xmlns:a16="http://schemas.microsoft.com/office/drawing/2014/main" id="{FA7E23C4-D161-1907-AB43-C642DFB656C7}"/>
              </a:ext>
            </a:extLst>
          </p:cNvPr>
          <p:cNvPicPr>
            <a:picLocks noChangeAspect="1"/>
          </p:cNvPicPr>
          <p:nvPr/>
        </p:nvPicPr>
        <p:blipFill>
          <a:blip r:embed="rId4"/>
          <a:stretch>
            <a:fillRect/>
          </a:stretch>
        </p:blipFill>
        <p:spPr>
          <a:xfrm>
            <a:off x="548640" y="914400"/>
            <a:ext cx="6127991" cy="389197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Règle 2 — Références externes par ID</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38</a:t>
            </a:r>
            <a:endParaRPr lang="en-US" sz="900" dirty="0"/>
          </a:p>
        </p:txBody>
      </p:sp>
      <p:sp>
        <p:nvSpPr>
          <p:cNvPr id="6" name="Text 4"/>
          <p:cNvSpPr/>
          <p:nvPr/>
        </p:nvSpPr>
        <p:spPr>
          <a:xfrm>
            <a:off x="548640" y="1005840"/>
            <a:ext cx="8046720" cy="7315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Pourquoi ? Parce que si Payment avait une référence directe à Order, modifier Order pourrait impacter Payment dans la même transaction → on ne sait plus où sont les frontières.</a:t>
            </a:r>
            <a:endParaRPr lang="en-US" sz="1300" dirty="0"/>
          </a:p>
        </p:txBody>
      </p:sp>
      <p:pic>
        <p:nvPicPr>
          <p:cNvPr id="14" name="Picture 13" descr="A screen shot of a computer&#10;&#10;AI-generated content may be incorrect.">
            <a:extLst>
              <a:ext uri="{FF2B5EF4-FFF2-40B4-BE49-F238E27FC236}">
                <a16:creationId xmlns:a16="http://schemas.microsoft.com/office/drawing/2014/main" id="{973EEBBE-3044-CA86-4698-F5470B02556C}"/>
              </a:ext>
            </a:extLst>
          </p:cNvPr>
          <p:cNvPicPr>
            <a:picLocks noChangeAspect="1"/>
          </p:cNvPicPr>
          <p:nvPr/>
        </p:nvPicPr>
        <p:blipFill>
          <a:blip r:embed="rId4"/>
          <a:stretch>
            <a:fillRect/>
          </a:stretch>
        </p:blipFill>
        <p:spPr>
          <a:xfrm>
            <a:off x="632011" y="1737360"/>
            <a:ext cx="5060576" cy="2545906"/>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Règle 3 — Chargé et persisté en bloc</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39</a:t>
            </a:r>
            <a:endParaRPr lang="en-US" sz="900" dirty="0"/>
          </a:p>
        </p:txBody>
      </p:sp>
      <p:sp>
        <p:nvSpPr>
          <p:cNvPr id="6" name="Shape 4"/>
          <p:cNvSpPr/>
          <p:nvPr/>
        </p:nvSpPr>
        <p:spPr>
          <a:xfrm>
            <a:off x="548640" y="1371600"/>
            <a:ext cx="8046720" cy="22860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7" name="Text 5"/>
          <p:cNvSpPr/>
          <p:nvPr/>
        </p:nvSpPr>
        <p:spPr>
          <a:xfrm>
            <a:off x="822960" y="1554480"/>
            <a:ext cx="7498080" cy="1828800"/>
          </a:xfrm>
          <a:prstGeom prst="rect">
            <a:avLst/>
          </a:prstGeom>
          <a:noFill/>
          <a:ln/>
        </p:spPr>
        <p:txBody>
          <a:bodyPr wrap="square" rtlCol="0" anchor="ctr"/>
          <a:lstStyle/>
          <a:p>
            <a:pPr marL="0" indent="0">
              <a:buNone/>
            </a:pPr>
            <a:r>
              <a:rPr lang="en-US" sz="1500" dirty="0">
                <a:solidFill>
                  <a:srgbClr val="E8ECF4"/>
                </a:solidFill>
                <a:latin typeface="Calibri" pitchFamily="34" charset="0"/>
                <a:ea typeface="Calibri" pitchFamily="34" charset="-122"/>
                <a:cs typeface="Calibri" pitchFamily="34" charset="-120"/>
              </a:rPr>
              <a:t>Un appel à </a:t>
            </a:r>
            <a:r>
              <a:rPr lang="en-US" sz="1500" b="1" dirty="0">
                <a:solidFill>
                  <a:srgbClr val="00BFFF"/>
                </a:solidFill>
                <a:latin typeface="Calibri" pitchFamily="34" charset="0"/>
                <a:ea typeface="Calibri" pitchFamily="34" charset="-122"/>
                <a:cs typeface="Calibri" pitchFamily="34" charset="-120"/>
              </a:rPr>
              <a:t>orderRepository.findById(id)</a:t>
            </a:r>
            <a:r>
              <a:rPr lang="en-US" sz="1500" dirty="0">
                <a:solidFill>
                  <a:srgbClr val="E8ECF4"/>
                </a:solidFill>
                <a:latin typeface="Calibri" pitchFamily="34" charset="0"/>
                <a:ea typeface="Calibri" pitchFamily="34" charset="-122"/>
                <a:cs typeface="Calibri" pitchFamily="34" charset="-120"/>
              </a:rPr>
              <a:t> charge l'Order et tous ses OrderItems.</a:t>
            </a:r>
            <a:endParaRPr lang="en-US" sz="1500" dirty="0"/>
          </a:p>
          <a:p>
            <a:pPr marL="0" indent="0">
              <a:buNone/>
            </a:pPr>
            <a:endParaRPr lang="en-US" sz="1500" dirty="0"/>
          </a:p>
          <a:p>
            <a:pPr marL="0" indent="0">
              <a:buNone/>
            </a:pPr>
            <a:r>
              <a:rPr lang="en-US" sz="1500" dirty="0">
                <a:solidFill>
                  <a:srgbClr val="E8ECF4"/>
                </a:solidFill>
                <a:latin typeface="Calibri" pitchFamily="34" charset="0"/>
                <a:ea typeface="Calibri" pitchFamily="34" charset="-122"/>
                <a:cs typeface="Calibri" pitchFamily="34" charset="-120"/>
              </a:rPr>
              <a:t>Un appel à </a:t>
            </a:r>
            <a:r>
              <a:rPr lang="en-US" sz="1500" b="1" dirty="0">
                <a:solidFill>
                  <a:srgbClr val="00BFFF"/>
                </a:solidFill>
                <a:latin typeface="Calibri" pitchFamily="34" charset="0"/>
                <a:ea typeface="Calibri" pitchFamily="34" charset="-122"/>
                <a:cs typeface="Calibri" pitchFamily="34" charset="-120"/>
              </a:rPr>
              <a:t>orderRepository.save(order)</a:t>
            </a:r>
            <a:r>
              <a:rPr lang="en-US" sz="1500" dirty="0">
                <a:solidFill>
                  <a:srgbClr val="E8ECF4"/>
                </a:solidFill>
                <a:latin typeface="Calibri" pitchFamily="34" charset="0"/>
                <a:ea typeface="Calibri" pitchFamily="34" charset="-122"/>
                <a:cs typeface="Calibri" pitchFamily="34" charset="-120"/>
              </a:rPr>
              <a:t> sauvegarde l'Order et tous ses OrderItems dans la même transaction.</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Règle 4 — Les Domain Events sont émis par </a:t>
            </a:r>
            <a:r>
              <a:rPr lang="en-US" sz="2700" b="1" dirty="0" err="1">
                <a:solidFill>
                  <a:srgbClr val="FFFFFF"/>
                </a:solidFill>
                <a:latin typeface="Calibri" pitchFamily="34" charset="0"/>
                <a:ea typeface="Calibri" pitchFamily="34" charset="-122"/>
                <a:cs typeface="Calibri" pitchFamily="34" charset="-120"/>
              </a:rPr>
              <a:t>l’Aggregate</a:t>
            </a:r>
            <a:endParaRPr lang="en-US" sz="27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40</a:t>
            </a:r>
            <a:endParaRPr lang="en-US" sz="900" dirty="0"/>
          </a:p>
        </p:txBody>
      </p:sp>
      <p:sp>
        <p:nvSpPr>
          <p:cNvPr id="6" name="Text 4"/>
          <p:cNvSpPr/>
          <p:nvPr/>
        </p:nvSpPr>
        <p:spPr>
          <a:xfrm>
            <a:off x="548640" y="1005840"/>
            <a:ext cx="8046720" cy="548640"/>
          </a:xfrm>
          <a:prstGeom prst="rect">
            <a:avLst/>
          </a:prstGeom>
          <a:noFill/>
          <a:ln/>
        </p:spPr>
        <p:txBody>
          <a:bodyPr wrap="square" rtlCol="0" anchor="ctr"/>
          <a:lstStyle/>
          <a:p>
            <a:pPr marL="0" indent="0">
              <a:buNone/>
            </a:pPr>
            <a:r>
              <a:rPr lang="en-US" sz="1400" dirty="0">
                <a:solidFill>
                  <a:srgbClr val="E8ECF4"/>
                </a:solidFill>
                <a:latin typeface="Calibri" pitchFamily="34" charset="0"/>
                <a:ea typeface="Calibri" pitchFamily="34" charset="-122"/>
                <a:cs typeface="Calibri" pitchFamily="34" charset="-120"/>
              </a:rPr>
              <a:t>Quand quelque chose d'important se passe (commande confirmée, commande annulée), </a:t>
            </a:r>
            <a:r>
              <a:rPr lang="en-US" sz="1400" dirty="0" err="1">
                <a:solidFill>
                  <a:srgbClr val="E8ECF4"/>
                </a:solidFill>
                <a:latin typeface="Calibri" pitchFamily="34" charset="0"/>
                <a:ea typeface="Calibri" pitchFamily="34" charset="-122"/>
                <a:cs typeface="Calibri" pitchFamily="34" charset="-120"/>
              </a:rPr>
              <a:t>c'est</a:t>
            </a:r>
            <a:r>
              <a:rPr lang="en-US" sz="1400" dirty="0">
                <a:solidFill>
                  <a:srgbClr val="E8ECF4"/>
                </a:solidFill>
                <a:latin typeface="Calibri" pitchFamily="34" charset="0"/>
                <a:ea typeface="Calibri" pitchFamily="34" charset="-122"/>
                <a:cs typeface="Calibri" pitchFamily="34" charset="-120"/>
              </a:rPr>
              <a:t> </a:t>
            </a:r>
            <a:r>
              <a:rPr lang="en-US" sz="1400" dirty="0" err="1">
                <a:solidFill>
                  <a:srgbClr val="E8ECF4"/>
                </a:solidFill>
                <a:latin typeface="Calibri" pitchFamily="34" charset="0"/>
                <a:ea typeface="Calibri" pitchFamily="34" charset="-122"/>
                <a:cs typeface="Calibri" pitchFamily="34" charset="-120"/>
              </a:rPr>
              <a:t>l’Aggregate</a:t>
            </a:r>
            <a:r>
              <a:rPr lang="en-US" sz="1400" dirty="0">
                <a:solidFill>
                  <a:srgbClr val="E8ECF4"/>
                </a:solidFill>
                <a:latin typeface="Calibri" pitchFamily="34" charset="0"/>
                <a:ea typeface="Calibri" pitchFamily="34" charset="-122"/>
                <a:cs typeface="Calibri" pitchFamily="34" charset="-120"/>
              </a:rPr>
              <a:t> qui émet l'événement.</a:t>
            </a:r>
            <a:endParaRPr lang="en-US" sz="1400" dirty="0"/>
          </a:p>
        </p:txBody>
      </p:sp>
      <p:pic>
        <p:nvPicPr>
          <p:cNvPr id="10" name="Picture 9" descr="A screen shot of a computer code&#10;&#10;AI-generated content may be incorrect.">
            <a:extLst>
              <a:ext uri="{FF2B5EF4-FFF2-40B4-BE49-F238E27FC236}">
                <a16:creationId xmlns:a16="http://schemas.microsoft.com/office/drawing/2014/main" id="{F0BAD9AF-DD31-DE27-E127-07CB53ED67FF}"/>
              </a:ext>
            </a:extLst>
          </p:cNvPr>
          <p:cNvPicPr>
            <a:picLocks noChangeAspect="1"/>
          </p:cNvPicPr>
          <p:nvPr/>
        </p:nvPicPr>
        <p:blipFill>
          <a:blip r:embed="rId4"/>
          <a:stretch>
            <a:fillRect/>
          </a:stretch>
        </p:blipFill>
        <p:spPr>
          <a:xfrm>
            <a:off x="548640" y="1770753"/>
            <a:ext cx="5270186" cy="2767853"/>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Comment dimensionner un Aggregate ?</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41</a:t>
            </a:r>
            <a:endParaRPr lang="en-US" sz="900" dirty="0"/>
          </a:p>
        </p:txBody>
      </p:sp>
      <p:sp>
        <p:nvSpPr>
          <p:cNvPr id="6" name="Shape 4"/>
          <p:cNvSpPr/>
          <p:nvPr/>
        </p:nvSpPr>
        <p:spPr>
          <a:xfrm>
            <a:off x="548640" y="1188720"/>
            <a:ext cx="8046720" cy="109728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7" name="Text 5"/>
          <p:cNvSpPr/>
          <p:nvPr/>
        </p:nvSpPr>
        <p:spPr>
          <a:xfrm>
            <a:off x="822960" y="1280160"/>
            <a:ext cx="7498080" cy="457200"/>
          </a:xfrm>
          <a:prstGeom prst="rect">
            <a:avLst/>
          </a:prstGeom>
          <a:noFill/>
          <a:ln/>
        </p:spPr>
        <p:txBody>
          <a:bodyPr wrap="square" rtlCol="0" anchor="ctr"/>
          <a:lstStyle/>
          <a:p>
            <a:pPr marL="0" indent="0">
              <a:buNone/>
            </a:pPr>
            <a:r>
              <a:rPr lang="en-US" sz="1500" b="1" dirty="0">
                <a:solidFill>
                  <a:srgbClr val="00BFFF"/>
                </a:solidFill>
                <a:latin typeface="Calibri" pitchFamily="34" charset="0"/>
                <a:ea typeface="Calibri" pitchFamily="34" charset="-122"/>
                <a:cs typeface="Calibri" pitchFamily="34" charset="-120"/>
              </a:rPr>
              <a:t>La question à se poser : "Ces deux objets doivent-ils être modifiés dans la même transaction pour rester cohérents ?"</a:t>
            </a:r>
            <a:endParaRPr lang="en-US" sz="1500" dirty="0"/>
          </a:p>
        </p:txBody>
      </p:sp>
      <p:sp>
        <p:nvSpPr>
          <p:cNvPr id="8" name="Text 6"/>
          <p:cNvSpPr/>
          <p:nvPr/>
        </p:nvSpPr>
        <p:spPr>
          <a:xfrm>
            <a:off x="822960" y="1828800"/>
            <a:ext cx="7498080" cy="365760"/>
          </a:xfrm>
          <a:prstGeom prst="rect">
            <a:avLst/>
          </a:prstGeom>
          <a:noFill/>
          <a:ln/>
        </p:spPr>
        <p:txBody>
          <a:bodyPr wrap="square" rtlCol="0" anchor="ctr"/>
          <a:lstStyle/>
          <a:p>
            <a:pPr marL="0" indent="0">
              <a:buNone/>
            </a:pPr>
            <a:r>
              <a:rPr lang="en-US" sz="1400" dirty="0">
                <a:solidFill>
                  <a:srgbClr val="E8ECF4"/>
                </a:solidFill>
                <a:latin typeface="Calibri" pitchFamily="34" charset="0"/>
                <a:ea typeface="Calibri" pitchFamily="34" charset="-122"/>
                <a:cs typeface="Calibri" pitchFamily="34" charset="-120"/>
              </a:rPr>
              <a:t>Si oui → même Aggregate.  Si non → Aggregates séparés, reliés par ID.</a:t>
            </a:r>
            <a:endParaRPr lang="en-US" sz="1400" dirty="0"/>
          </a:p>
        </p:txBody>
      </p:sp>
      <p:sp>
        <p:nvSpPr>
          <p:cNvPr id="9" name="Shape 7"/>
          <p:cNvSpPr/>
          <p:nvPr/>
        </p:nvSpPr>
        <p:spPr>
          <a:xfrm>
            <a:off x="548640" y="2560320"/>
            <a:ext cx="8046720" cy="13716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0" name="Shape 8"/>
          <p:cNvSpPr/>
          <p:nvPr/>
        </p:nvSpPr>
        <p:spPr>
          <a:xfrm>
            <a:off x="548640" y="2560320"/>
            <a:ext cx="54864" cy="1371600"/>
          </a:xfrm>
          <a:prstGeom prst="rect">
            <a:avLst/>
          </a:prstGeom>
          <a:solidFill>
            <a:srgbClr val="FF6B35"/>
          </a:solidFill>
          <a:ln/>
        </p:spPr>
        <p:txBody>
          <a:bodyPr/>
          <a:lstStyle/>
          <a:p>
            <a:endParaRPr lang="en-US"/>
          </a:p>
        </p:txBody>
      </p:sp>
      <p:sp>
        <p:nvSpPr>
          <p:cNvPr id="11" name="Text 9"/>
          <p:cNvSpPr/>
          <p:nvPr/>
        </p:nvSpPr>
        <p:spPr>
          <a:xfrm>
            <a:off x="822960" y="2651760"/>
            <a:ext cx="7498080" cy="11887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Règle d'or : </a:t>
            </a:r>
            <a:r>
              <a:rPr lang="en-US" sz="1300" dirty="0">
                <a:solidFill>
                  <a:srgbClr val="E8ECF4"/>
                </a:solidFill>
                <a:latin typeface="Calibri" pitchFamily="34" charset="0"/>
                <a:ea typeface="Calibri" pitchFamily="34" charset="-122"/>
                <a:cs typeface="Calibri" pitchFamily="34" charset="-120"/>
              </a:rPr>
              <a:t>un Aggregate doit être le plus petit possible. Si on met trop de choses dans un Aggregate, on crée des problèmes de performance (tout charger en mémoire) et de concurrence (tout verrouiller en transaction).</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914400"/>
            <a:ext cx="9144000" cy="457200"/>
          </a:xfrm>
          <a:prstGeom prst="rect">
            <a:avLst/>
          </a:prstGeom>
          <a:noFill/>
          <a:ln/>
        </p:spPr>
        <p:txBody>
          <a:bodyPr wrap="square" rtlCol="0" anchor="ctr"/>
          <a:lstStyle/>
          <a:p>
            <a:pPr marL="0" indent="0" algn="ctr">
              <a:buNone/>
            </a:pPr>
            <a:r>
              <a:rPr lang="en-US" sz="1400" kern="0" spc="600" dirty="0">
                <a:solidFill>
                  <a:srgbClr val="1E90FF"/>
                </a:solidFill>
                <a:latin typeface="Calibri" pitchFamily="34" charset="0"/>
                <a:ea typeface="Calibri" pitchFamily="34" charset="-122"/>
                <a:cs typeface="Calibri" pitchFamily="34" charset="-120"/>
              </a:rPr>
              <a:t>LE MESSAGE CLÉ</a:t>
            </a:r>
            <a:endParaRPr lang="en-US" sz="1400" dirty="0"/>
          </a:p>
        </p:txBody>
      </p:sp>
      <p:sp>
        <p:nvSpPr>
          <p:cNvPr id="3" name="Shape 1"/>
          <p:cNvSpPr/>
          <p:nvPr/>
        </p:nvSpPr>
        <p:spPr>
          <a:xfrm>
            <a:off x="1097280" y="1645920"/>
            <a:ext cx="6949440" cy="201168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4" name="Text 2"/>
          <p:cNvSpPr/>
          <p:nvPr/>
        </p:nvSpPr>
        <p:spPr>
          <a:xfrm>
            <a:off x="1371600" y="1828800"/>
            <a:ext cx="6400800" cy="1463040"/>
          </a:xfrm>
          <a:prstGeom prst="rect">
            <a:avLst/>
          </a:prstGeom>
          <a:noFill/>
          <a:ln/>
        </p:spPr>
        <p:txBody>
          <a:bodyPr wrap="square" rtlCol="0" anchor="ctr"/>
          <a:lstStyle/>
          <a:p>
            <a:pPr marL="0" indent="0" algn="ctr">
              <a:buNone/>
            </a:pPr>
            <a:r>
              <a:rPr lang="en-US" sz="1700" dirty="0">
                <a:solidFill>
                  <a:srgbClr val="FFFFFF"/>
                </a:solidFill>
                <a:latin typeface="Calibri" pitchFamily="34" charset="0"/>
                <a:ea typeface="Calibri" pitchFamily="34" charset="-122"/>
                <a:cs typeface="Calibri" pitchFamily="34" charset="-120"/>
              </a:rPr>
              <a:t>L'Aggregate est le gardien de la cohérence. Toute modification passe par </a:t>
            </a:r>
            <a:r>
              <a:rPr lang="en-US" sz="1700" dirty="0" err="1">
                <a:solidFill>
                  <a:srgbClr val="FFFFFF"/>
                </a:solidFill>
                <a:latin typeface="Calibri" pitchFamily="34" charset="0"/>
                <a:ea typeface="Calibri" pitchFamily="34" charset="-122"/>
                <a:cs typeface="Calibri" pitchFamily="34" charset="-120"/>
              </a:rPr>
              <a:t>lui</a:t>
            </a:r>
            <a:r>
              <a:rPr lang="en-US" sz="1700" dirty="0">
                <a:solidFill>
                  <a:srgbClr val="FFFFFF"/>
                </a:solidFill>
                <a:latin typeface="Calibri" pitchFamily="34" charset="0"/>
                <a:ea typeface="Calibri" pitchFamily="34" charset="-122"/>
                <a:cs typeface="Calibri" pitchFamily="34" charset="-120"/>
              </a:rPr>
              <a:t>, qui vérifie les invariants avant d'accepter le changement. </a:t>
            </a:r>
          </a:p>
          <a:p>
            <a:pPr marL="0" indent="0" algn="ctr">
              <a:buNone/>
            </a:pPr>
            <a:r>
              <a:rPr lang="en-US" sz="1700" dirty="0">
                <a:solidFill>
                  <a:srgbClr val="FFFFFF"/>
                </a:solidFill>
                <a:latin typeface="Calibri" pitchFamily="34" charset="0"/>
                <a:ea typeface="Calibri" pitchFamily="34" charset="-122"/>
                <a:cs typeface="Calibri" pitchFamily="34" charset="-120"/>
              </a:rPr>
              <a:t>De l'extérieur, on ne </a:t>
            </a:r>
            <a:r>
              <a:rPr lang="en-US" sz="1700" dirty="0" err="1">
                <a:solidFill>
                  <a:srgbClr val="FFFFFF"/>
                </a:solidFill>
                <a:latin typeface="Calibri" pitchFamily="34" charset="0"/>
                <a:ea typeface="Calibri" pitchFamily="34" charset="-122"/>
                <a:cs typeface="Calibri" pitchFamily="34" charset="-120"/>
              </a:rPr>
              <a:t>voit</a:t>
            </a:r>
            <a:r>
              <a:rPr lang="en-US" sz="1700" dirty="0">
                <a:solidFill>
                  <a:srgbClr val="FFFFFF"/>
                </a:solidFill>
                <a:latin typeface="Calibri" pitchFamily="34" charset="0"/>
                <a:ea typeface="Calibri" pitchFamily="34" charset="-122"/>
                <a:cs typeface="Calibri" pitchFamily="34" charset="-120"/>
              </a:rPr>
              <a:t> </a:t>
            </a:r>
            <a:r>
              <a:rPr lang="en-US" sz="1700" dirty="0" err="1">
                <a:solidFill>
                  <a:srgbClr val="FFFFFF"/>
                </a:solidFill>
                <a:latin typeface="Calibri" pitchFamily="34" charset="0"/>
                <a:ea typeface="Calibri" pitchFamily="34" charset="-122"/>
                <a:cs typeface="Calibri" pitchFamily="34" charset="-120"/>
              </a:rPr>
              <a:t>que</a:t>
            </a:r>
            <a:r>
              <a:rPr lang="en-US" sz="1700" dirty="0">
                <a:solidFill>
                  <a:srgbClr val="FFFFFF"/>
                </a:solidFill>
                <a:latin typeface="Calibri" pitchFamily="34" charset="0"/>
                <a:ea typeface="Calibri" pitchFamily="34" charset="-122"/>
                <a:cs typeface="Calibri" pitchFamily="34" charset="-120"/>
              </a:rPr>
              <a:t> </a:t>
            </a:r>
            <a:r>
              <a:rPr lang="en-US" sz="1700" dirty="0" err="1">
                <a:solidFill>
                  <a:srgbClr val="FFFFFF"/>
                </a:solidFill>
                <a:latin typeface="Calibri" pitchFamily="34" charset="0"/>
                <a:ea typeface="Calibri" pitchFamily="34" charset="-122"/>
                <a:cs typeface="Calibri" pitchFamily="34" charset="-120"/>
              </a:rPr>
              <a:t>l’Aggregate</a:t>
            </a:r>
            <a:r>
              <a:rPr lang="en-US" sz="1700" dirty="0">
                <a:solidFill>
                  <a:srgbClr val="FFFFFF"/>
                </a:solidFill>
                <a:latin typeface="Calibri" pitchFamily="34" charset="0"/>
                <a:ea typeface="Calibri" pitchFamily="34" charset="-122"/>
                <a:cs typeface="Calibri" pitchFamily="34" charset="-120"/>
              </a:rPr>
              <a:t>.</a:t>
            </a:r>
            <a:endParaRPr lang="en-US" sz="17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9A93B43-C74F-6896-56DA-A57EFB1C434F}"/>
            </a:ext>
          </a:extLst>
        </p:cNvPr>
        <p:cNvGrpSpPr/>
        <p:nvPr/>
      </p:nvGrpSpPr>
      <p:grpSpPr>
        <a:xfrm>
          <a:off x="0" y="0"/>
          <a:ext cx="0" cy="0"/>
          <a:chOff x="0" y="0"/>
          <a:chExt cx="0" cy="0"/>
        </a:xfrm>
      </p:grpSpPr>
      <p:sp>
        <p:nvSpPr>
          <p:cNvPr id="5" name="Text 3">
            <a:extLst>
              <a:ext uri="{FF2B5EF4-FFF2-40B4-BE49-F238E27FC236}">
                <a16:creationId xmlns:a16="http://schemas.microsoft.com/office/drawing/2014/main" id="{0C5D582A-45E0-8422-C7B3-23B3F5E67BB7}"/>
              </a:ext>
            </a:extLst>
          </p:cNvPr>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42</a:t>
            </a:r>
            <a:endParaRPr lang="en-US" sz="900" dirty="0"/>
          </a:p>
        </p:txBody>
      </p:sp>
      <p:pic>
        <p:nvPicPr>
          <p:cNvPr id="9" name="Picture 8" descr="A screenshot of a computer&#10;&#10;AI-generated content may be incorrect.">
            <a:extLst>
              <a:ext uri="{FF2B5EF4-FFF2-40B4-BE49-F238E27FC236}">
                <a16:creationId xmlns:a16="http://schemas.microsoft.com/office/drawing/2014/main" id="{246B16FB-83CB-977E-9168-2409B67575B2}"/>
              </a:ext>
            </a:extLst>
          </p:cNvPr>
          <p:cNvPicPr>
            <a:picLocks noChangeAspect="1"/>
          </p:cNvPicPr>
          <p:nvPr/>
        </p:nvPicPr>
        <p:blipFill>
          <a:blip r:embed="rId4"/>
          <a:stretch>
            <a:fillRect/>
          </a:stretch>
        </p:blipFill>
        <p:spPr>
          <a:xfrm>
            <a:off x="2051778" y="694764"/>
            <a:ext cx="5040444" cy="3753971"/>
          </a:xfrm>
          <a:prstGeom prst="rect">
            <a:avLst/>
          </a:prstGeom>
        </p:spPr>
      </p:pic>
    </p:spTree>
    <p:extLst>
      <p:ext uri="{BB962C8B-B14F-4D97-AF65-F5344CB8AC3E}">
        <p14:creationId xmlns:p14="http://schemas.microsoft.com/office/powerpoint/2010/main" val="38028067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1371600"/>
            <a:ext cx="9144000" cy="1097280"/>
          </a:xfrm>
          <a:prstGeom prst="rect">
            <a:avLst/>
          </a:prstGeom>
          <a:noFill/>
          <a:ln/>
        </p:spPr>
        <p:txBody>
          <a:bodyPr wrap="square" rtlCol="0" anchor="ctr"/>
          <a:lstStyle/>
          <a:p>
            <a:pPr marL="0" indent="0" algn="ctr">
              <a:buNone/>
            </a:pPr>
            <a:r>
              <a:rPr lang="en-US" sz="6000" b="1" kern="0" spc="800" dirty="0">
                <a:solidFill>
                  <a:srgbClr val="FFFFFF"/>
                </a:solidFill>
                <a:latin typeface="Calibri" pitchFamily="34" charset="0"/>
                <a:ea typeface="Calibri" pitchFamily="34" charset="-122"/>
                <a:cs typeface="Calibri" pitchFamily="34" charset="-120"/>
              </a:rPr>
              <a:t>BLOC 7</a:t>
            </a:r>
            <a:endParaRPr lang="en-US" sz="6000" dirty="0"/>
          </a:p>
        </p:txBody>
      </p:sp>
      <p:sp>
        <p:nvSpPr>
          <p:cNvPr id="3" name="Text 1"/>
          <p:cNvSpPr/>
          <p:nvPr/>
        </p:nvSpPr>
        <p:spPr>
          <a:xfrm>
            <a:off x="914400" y="2560320"/>
            <a:ext cx="7315200" cy="731520"/>
          </a:xfrm>
          <a:prstGeom prst="rect">
            <a:avLst/>
          </a:prstGeom>
          <a:noFill/>
          <a:ln/>
        </p:spPr>
        <p:txBody>
          <a:bodyPr wrap="square" rtlCol="0" anchor="ctr"/>
          <a:lstStyle/>
          <a:p>
            <a:pPr marL="0" indent="0" algn="ctr">
              <a:buNone/>
            </a:pPr>
            <a:r>
              <a:rPr lang="en-US" sz="2400" dirty="0">
                <a:solidFill>
                  <a:srgbClr val="00BFFF"/>
                </a:solidFill>
                <a:latin typeface="Calibri" pitchFamily="34" charset="0"/>
                <a:ea typeface="Calibri" pitchFamily="34" charset="-122"/>
                <a:cs typeface="Calibri" pitchFamily="34" charset="-120"/>
              </a:rPr>
              <a:t>Bounded Context — Les frontières du domaine</a:t>
            </a:r>
            <a:endParaRPr lang="en-US" sz="2400" dirty="0"/>
          </a:p>
        </p:txBody>
      </p:sp>
      <p:sp>
        <p:nvSpPr>
          <p:cNvPr id="4" name="Shape 2"/>
          <p:cNvSpPr/>
          <p:nvPr/>
        </p:nvSpPr>
        <p:spPr>
          <a:xfrm>
            <a:off x="3200400" y="3474720"/>
            <a:ext cx="2743200" cy="27432"/>
          </a:xfrm>
          <a:prstGeom prst="rect">
            <a:avLst/>
          </a:prstGeom>
          <a:solidFill>
            <a:srgbClr val="1E90FF">
              <a:alpha val="60000"/>
            </a:srgbClr>
          </a:solidFill>
          <a:ln/>
        </p:spPr>
        <p:txBody>
          <a:bodyPr/>
          <a:lstStyle/>
          <a:p>
            <a:endParaRPr lang="en-US"/>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Le problème</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44</a:t>
            </a:r>
            <a:endParaRPr lang="en-US" sz="900" dirty="0"/>
          </a:p>
        </p:txBody>
      </p:sp>
      <p:sp>
        <p:nvSpPr>
          <p:cNvPr id="6" name="Text 4"/>
          <p:cNvSpPr/>
          <p:nvPr/>
        </p:nvSpPr>
        <p:spPr>
          <a:xfrm>
            <a:off x="548640" y="1005840"/>
            <a:ext cx="8046720" cy="365760"/>
          </a:xfrm>
          <a:prstGeom prst="rect">
            <a:avLst/>
          </a:prstGeom>
          <a:noFill/>
          <a:ln/>
        </p:spPr>
        <p:txBody>
          <a:bodyPr wrap="square" rtlCol="0" anchor="ctr"/>
          <a:lstStyle/>
          <a:p>
            <a:pPr marL="0" indent="0">
              <a:buNone/>
            </a:pPr>
            <a:r>
              <a:rPr lang="en-US" sz="1400" dirty="0">
                <a:solidFill>
                  <a:srgbClr val="E8ECF4"/>
                </a:solidFill>
                <a:latin typeface="Calibri" pitchFamily="34" charset="0"/>
                <a:ea typeface="Calibri" pitchFamily="34" charset="-122"/>
                <a:cs typeface="Calibri" pitchFamily="34" charset="-120"/>
              </a:rPr>
              <a:t>Dans une application, le même mot peut avoir des significations différentes selon le contexte.</a:t>
            </a:r>
            <a:endParaRPr lang="en-US" sz="1400" dirty="0"/>
          </a:p>
        </p:txBody>
      </p:sp>
      <p:sp>
        <p:nvSpPr>
          <p:cNvPr id="7" name="Shape 5"/>
          <p:cNvSpPr/>
          <p:nvPr/>
        </p:nvSpPr>
        <p:spPr>
          <a:xfrm>
            <a:off x="548640" y="1554480"/>
            <a:ext cx="54864" cy="502920"/>
          </a:xfrm>
          <a:prstGeom prst="rect">
            <a:avLst/>
          </a:prstGeom>
          <a:solidFill>
            <a:srgbClr val="1E90FF"/>
          </a:solidFill>
          <a:ln/>
        </p:spPr>
        <p:txBody>
          <a:bodyPr/>
          <a:lstStyle/>
          <a:p>
            <a:endParaRPr lang="en-US"/>
          </a:p>
        </p:txBody>
      </p:sp>
      <p:sp>
        <p:nvSpPr>
          <p:cNvPr id="8" name="Text 6"/>
          <p:cNvSpPr/>
          <p:nvPr/>
        </p:nvSpPr>
        <p:spPr>
          <a:xfrm>
            <a:off x="822960" y="1554480"/>
            <a:ext cx="7772400" cy="502920"/>
          </a:xfrm>
          <a:prstGeom prst="rect">
            <a:avLst/>
          </a:prstGeom>
          <a:noFill/>
          <a:ln/>
        </p:spPr>
        <p:txBody>
          <a:bodyPr wrap="square" rtlCol="0" anchor="ctr"/>
          <a:lstStyle/>
          <a:p>
            <a:pPr marL="0" indent="0">
              <a:buNone/>
            </a:pPr>
            <a:r>
              <a:rPr lang="en-US" sz="1300" b="1" dirty="0">
                <a:solidFill>
                  <a:srgbClr val="00BFFF"/>
                </a:solidFill>
                <a:latin typeface="Calibri" pitchFamily="34" charset="0"/>
                <a:ea typeface="Calibri" pitchFamily="34" charset="-122"/>
                <a:cs typeface="Calibri" pitchFamily="34" charset="-120"/>
              </a:rPr>
              <a:t>Un "Utilisateur" côté Authentification </a:t>
            </a:r>
            <a:r>
              <a:rPr lang="en-US" sz="1300" dirty="0">
                <a:solidFill>
                  <a:srgbClr val="E8ECF4"/>
                </a:solidFill>
                <a:latin typeface="Calibri" pitchFamily="34" charset="0"/>
                <a:ea typeface="Calibri" pitchFamily="34" charset="-122"/>
                <a:cs typeface="Calibri" pitchFamily="34" charset="-120"/>
              </a:rPr>
              <a:t>c'est un email et un mot de passe.</a:t>
            </a:r>
            <a:endParaRPr lang="en-US" sz="1300" dirty="0"/>
          </a:p>
        </p:txBody>
      </p:sp>
      <p:sp>
        <p:nvSpPr>
          <p:cNvPr id="9" name="Shape 7"/>
          <p:cNvSpPr/>
          <p:nvPr/>
        </p:nvSpPr>
        <p:spPr>
          <a:xfrm>
            <a:off x="548640" y="2194560"/>
            <a:ext cx="54864" cy="502920"/>
          </a:xfrm>
          <a:prstGeom prst="rect">
            <a:avLst/>
          </a:prstGeom>
          <a:solidFill>
            <a:srgbClr val="1E90FF"/>
          </a:solidFill>
          <a:ln/>
        </p:spPr>
        <p:txBody>
          <a:bodyPr/>
          <a:lstStyle/>
          <a:p>
            <a:endParaRPr lang="en-US"/>
          </a:p>
        </p:txBody>
      </p:sp>
      <p:sp>
        <p:nvSpPr>
          <p:cNvPr id="10" name="Text 8"/>
          <p:cNvSpPr/>
          <p:nvPr/>
        </p:nvSpPr>
        <p:spPr>
          <a:xfrm>
            <a:off x="822960" y="2194560"/>
            <a:ext cx="7772400" cy="502920"/>
          </a:xfrm>
          <a:prstGeom prst="rect">
            <a:avLst/>
          </a:prstGeom>
          <a:noFill/>
          <a:ln/>
        </p:spPr>
        <p:txBody>
          <a:bodyPr wrap="square" rtlCol="0" anchor="ctr"/>
          <a:lstStyle/>
          <a:p>
            <a:pPr marL="0" indent="0">
              <a:buNone/>
            </a:pPr>
            <a:r>
              <a:rPr lang="en-US" sz="1300" b="1" dirty="0">
                <a:solidFill>
                  <a:srgbClr val="00BFFF"/>
                </a:solidFill>
                <a:latin typeface="Calibri" pitchFamily="34" charset="0"/>
                <a:ea typeface="Calibri" pitchFamily="34" charset="-122"/>
                <a:cs typeface="Calibri" pitchFamily="34" charset="-120"/>
              </a:rPr>
              <a:t>Un "Utilisateur" côté Facturation </a:t>
            </a:r>
            <a:r>
              <a:rPr lang="en-US" sz="1300" dirty="0">
                <a:solidFill>
                  <a:srgbClr val="E8ECF4"/>
                </a:solidFill>
                <a:latin typeface="Calibri" pitchFamily="34" charset="0"/>
                <a:ea typeface="Calibri" pitchFamily="34" charset="-122"/>
                <a:cs typeface="Calibri" pitchFamily="34" charset="-120"/>
              </a:rPr>
              <a:t>c'est un nom, une adresse et un IBAN.</a:t>
            </a:r>
            <a:endParaRPr lang="en-US" sz="1300" dirty="0"/>
          </a:p>
        </p:txBody>
      </p:sp>
      <p:sp>
        <p:nvSpPr>
          <p:cNvPr id="11" name="Shape 9"/>
          <p:cNvSpPr/>
          <p:nvPr/>
        </p:nvSpPr>
        <p:spPr>
          <a:xfrm>
            <a:off x="548640" y="2834640"/>
            <a:ext cx="54864" cy="502920"/>
          </a:xfrm>
          <a:prstGeom prst="rect">
            <a:avLst/>
          </a:prstGeom>
          <a:solidFill>
            <a:srgbClr val="1E90FF"/>
          </a:solidFill>
          <a:ln/>
        </p:spPr>
        <p:txBody>
          <a:bodyPr/>
          <a:lstStyle/>
          <a:p>
            <a:endParaRPr lang="en-US"/>
          </a:p>
        </p:txBody>
      </p:sp>
      <p:sp>
        <p:nvSpPr>
          <p:cNvPr id="12" name="Text 10"/>
          <p:cNvSpPr/>
          <p:nvPr/>
        </p:nvSpPr>
        <p:spPr>
          <a:xfrm>
            <a:off x="822960" y="2834640"/>
            <a:ext cx="7772400" cy="502920"/>
          </a:xfrm>
          <a:prstGeom prst="rect">
            <a:avLst/>
          </a:prstGeom>
          <a:noFill/>
          <a:ln/>
        </p:spPr>
        <p:txBody>
          <a:bodyPr wrap="square" rtlCol="0" anchor="ctr"/>
          <a:lstStyle/>
          <a:p>
            <a:pPr marL="0" indent="0">
              <a:buNone/>
            </a:pPr>
            <a:r>
              <a:rPr lang="en-US" sz="1300" b="1" dirty="0">
                <a:solidFill>
                  <a:srgbClr val="00BFFF"/>
                </a:solidFill>
                <a:latin typeface="Calibri" pitchFamily="34" charset="0"/>
                <a:ea typeface="Calibri" pitchFamily="34" charset="-122"/>
                <a:cs typeface="Calibri" pitchFamily="34" charset="-120"/>
              </a:rPr>
              <a:t>Un "Utilisateur" côté Support </a:t>
            </a:r>
            <a:r>
              <a:rPr lang="en-US" sz="1300" dirty="0">
                <a:solidFill>
                  <a:srgbClr val="E8ECF4"/>
                </a:solidFill>
                <a:latin typeface="Calibri" pitchFamily="34" charset="0"/>
                <a:ea typeface="Calibri" pitchFamily="34" charset="-122"/>
                <a:cs typeface="Calibri" pitchFamily="34" charset="-120"/>
              </a:rPr>
              <a:t>c'est un historique de tickets et un niveau de priorité.</a:t>
            </a:r>
            <a:endParaRPr lang="en-US" sz="1300" dirty="0"/>
          </a:p>
        </p:txBody>
      </p:sp>
      <p:sp>
        <p:nvSpPr>
          <p:cNvPr id="13" name="Shape 11"/>
          <p:cNvSpPr/>
          <p:nvPr/>
        </p:nvSpPr>
        <p:spPr>
          <a:xfrm>
            <a:off x="548640" y="3566160"/>
            <a:ext cx="8046720" cy="9144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4" name="Shape 12"/>
          <p:cNvSpPr/>
          <p:nvPr/>
        </p:nvSpPr>
        <p:spPr>
          <a:xfrm>
            <a:off x="548640" y="3566160"/>
            <a:ext cx="54864" cy="914400"/>
          </a:xfrm>
          <a:prstGeom prst="rect">
            <a:avLst/>
          </a:prstGeom>
          <a:solidFill>
            <a:srgbClr val="FF6B35"/>
          </a:solidFill>
          <a:ln/>
        </p:spPr>
        <p:txBody>
          <a:bodyPr/>
          <a:lstStyle/>
          <a:p>
            <a:endParaRPr lang="en-US"/>
          </a:p>
        </p:txBody>
      </p:sp>
      <p:sp>
        <p:nvSpPr>
          <p:cNvPr id="15" name="Text 13"/>
          <p:cNvSpPr/>
          <p:nvPr/>
        </p:nvSpPr>
        <p:spPr>
          <a:xfrm>
            <a:off x="822960" y="3657600"/>
            <a:ext cx="7498080" cy="7315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Si on essaie de tout mettre dans une seule classe User, on se retrouve avec un objet monstre de 40 propriétés dont chaque endpoint n'utilise que 5.</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La définition</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45</a:t>
            </a:r>
            <a:endParaRPr lang="en-US" sz="900" dirty="0"/>
          </a:p>
        </p:txBody>
      </p:sp>
      <p:sp>
        <p:nvSpPr>
          <p:cNvPr id="6" name="Shape 4"/>
          <p:cNvSpPr/>
          <p:nvPr/>
        </p:nvSpPr>
        <p:spPr>
          <a:xfrm>
            <a:off x="548640" y="1188720"/>
            <a:ext cx="8046720" cy="201168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7" name="Text 5"/>
          <p:cNvSpPr/>
          <p:nvPr/>
        </p:nvSpPr>
        <p:spPr>
          <a:xfrm>
            <a:off x="822960" y="1280160"/>
            <a:ext cx="7498080" cy="731520"/>
          </a:xfrm>
          <a:prstGeom prst="rect">
            <a:avLst/>
          </a:prstGeom>
          <a:noFill/>
          <a:ln/>
        </p:spPr>
        <p:txBody>
          <a:bodyPr wrap="square" rtlCol="0" anchor="ctr"/>
          <a:lstStyle/>
          <a:p>
            <a:pPr marL="0" indent="0">
              <a:buNone/>
            </a:pPr>
            <a:r>
              <a:rPr lang="en-US" sz="1600" b="1" dirty="0">
                <a:solidFill>
                  <a:srgbClr val="00BFFF"/>
                </a:solidFill>
                <a:latin typeface="Calibri" pitchFamily="34" charset="0"/>
                <a:ea typeface="Calibri" pitchFamily="34" charset="-122"/>
                <a:cs typeface="Calibri" pitchFamily="34" charset="-120"/>
              </a:rPr>
              <a:t>Un Bounded Context est une frontière explicite à l'intérieur de laquelle un modèle de domaine a un sens précis et cohérent.</a:t>
            </a:r>
            <a:endParaRPr lang="en-US" sz="1600" dirty="0"/>
          </a:p>
        </p:txBody>
      </p:sp>
      <p:sp>
        <p:nvSpPr>
          <p:cNvPr id="8" name="Text 6"/>
          <p:cNvSpPr/>
          <p:nvPr/>
        </p:nvSpPr>
        <p:spPr>
          <a:xfrm>
            <a:off x="822960" y="2103120"/>
            <a:ext cx="7498080" cy="914400"/>
          </a:xfrm>
          <a:prstGeom prst="rect">
            <a:avLst/>
          </a:prstGeom>
          <a:noFill/>
          <a:ln/>
        </p:spPr>
        <p:txBody>
          <a:bodyPr wrap="square" rtlCol="0" anchor="ctr"/>
          <a:lstStyle/>
          <a:p>
            <a:pPr marL="0" indent="0">
              <a:buNone/>
            </a:pPr>
            <a:r>
              <a:rPr lang="en-US" sz="1400" dirty="0">
                <a:solidFill>
                  <a:srgbClr val="E8ECF4"/>
                </a:solidFill>
                <a:latin typeface="Calibri" pitchFamily="34" charset="0"/>
                <a:ea typeface="Calibri" pitchFamily="34" charset="-122"/>
                <a:cs typeface="Calibri" pitchFamily="34" charset="-120"/>
              </a:rPr>
              <a:t>Chaque contexte a son propre vocabulaire, ses propres entités, ses propres règles. Le même concept du monde réel peut avoir des représentations différentes dans des </a:t>
            </a:r>
            <a:r>
              <a:rPr lang="en-US" sz="1400" dirty="0" err="1">
                <a:solidFill>
                  <a:srgbClr val="E8ECF4"/>
                </a:solidFill>
                <a:latin typeface="Calibri" pitchFamily="34" charset="0"/>
                <a:ea typeface="Calibri" pitchFamily="34" charset="-122"/>
                <a:cs typeface="Calibri" pitchFamily="34" charset="-120"/>
              </a:rPr>
              <a:t>contextes</a:t>
            </a:r>
            <a:r>
              <a:rPr lang="en-US" sz="1400" dirty="0">
                <a:solidFill>
                  <a:srgbClr val="E8ECF4"/>
                </a:solidFill>
                <a:latin typeface="Calibri" pitchFamily="34" charset="0"/>
                <a:ea typeface="Calibri" pitchFamily="34" charset="-122"/>
                <a:cs typeface="Calibri" pitchFamily="34" charset="-120"/>
              </a:rPr>
              <a:t> </a:t>
            </a:r>
            <a:r>
              <a:rPr lang="en-US" sz="1400" dirty="0" err="1">
                <a:solidFill>
                  <a:srgbClr val="E8ECF4"/>
                </a:solidFill>
                <a:latin typeface="Calibri" pitchFamily="34" charset="0"/>
                <a:ea typeface="Calibri" pitchFamily="34" charset="-122"/>
                <a:cs typeface="Calibri" pitchFamily="34" charset="-120"/>
              </a:rPr>
              <a:t>différents</a:t>
            </a:r>
            <a:r>
              <a:rPr lang="en-US" sz="1400" dirty="0">
                <a:solidFill>
                  <a:srgbClr val="E8ECF4"/>
                </a:solidFill>
                <a:latin typeface="Calibri" pitchFamily="34" charset="0"/>
                <a:ea typeface="Calibri" pitchFamily="34" charset="-122"/>
                <a:cs typeface="Calibri" pitchFamily="34" charset="-120"/>
              </a:rPr>
              <a:t> et c'est voulu.</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Exemple</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46</a:t>
            </a:r>
            <a:endParaRPr lang="en-US" sz="900" dirty="0"/>
          </a:p>
        </p:txBody>
      </p:sp>
      <p:sp>
        <p:nvSpPr>
          <p:cNvPr id="6" name="Text 4"/>
          <p:cNvSpPr/>
          <p:nvPr/>
        </p:nvSpPr>
        <p:spPr>
          <a:xfrm>
            <a:off x="548640" y="1005840"/>
            <a:ext cx="8046720" cy="36576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Prenons un e-commerce. Le concept "Produit" existe partout, mais il ne veut pas dire la même chose :</a:t>
            </a:r>
            <a:endParaRPr lang="en-US" sz="1300" dirty="0"/>
          </a:p>
        </p:txBody>
      </p:sp>
      <p:graphicFrame>
        <p:nvGraphicFramePr>
          <p:cNvPr id="47" name="Table 0"/>
          <p:cNvGraphicFramePr>
            <a:graphicFrameLocks noGrp="1"/>
          </p:cNvGraphicFramePr>
          <p:nvPr>
            <p:extLst>
              <p:ext uri="{D42A27DB-BD31-4B8C-83A1-F6EECF244321}">
                <p14:modId xmlns:p14="http://schemas.microsoft.com/office/powerpoint/2010/main" val="2202492747"/>
              </p:ext>
            </p:extLst>
          </p:nvPr>
        </p:nvGraphicFramePr>
        <p:xfrm>
          <a:off x="624392" y="1539240"/>
          <a:ext cx="7895216" cy="1295400"/>
        </p:xfrm>
        <a:graphic>
          <a:graphicData uri="http://schemas.openxmlformats.org/drawingml/2006/table">
            <a:tbl>
              <a:tblPr/>
              <a:tblGrid>
                <a:gridCol w="1828800">
                  <a:extLst>
                    <a:ext uri="{9D8B030D-6E8A-4147-A177-3AD203B41FA5}">
                      <a16:colId xmlns:a16="http://schemas.microsoft.com/office/drawing/2014/main" val="20000"/>
                    </a:ext>
                  </a:extLst>
                </a:gridCol>
                <a:gridCol w="2036781">
                  <a:extLst>
                    <a:ext uri="{9D8B030D-6E8A-4147-A177-3AD203B41FA5}">
                      <a16:colId xmlns:a16="http://schemas.microsoft.com/office/drawing/2014/main" val="20001"/>
                    </a:ext>
                  </a:extLst>
                </a:gridCol>
                <a:gridCol w="4029635">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Bounded Context</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21A42"/>
                    </a:solidFill>
                  </a:tcPr>
                </a:tc>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Ce que "Produit" signifie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21A42"/>
                    </a:solidFill>
                  </a:tcPr>
                </a:tc>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Propriétés qui comptent</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21A42"/>
                    </a:solidFill>
                  </a:tcPr>
                </a:tc>
                <a:extLst>
                  <a:ext uri="{0D108BD9-81ED-4DB2-BD59-A6C34878D82A}">
                    <a16:rowId xmlns:a16="http://schemas.microsoft.com/office/drawing/2014/main" val="10000"/>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Catalogue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Un article à afficher</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Nom, description, photos, catégorie, prix affiché</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extLst>
                  <a:ext uri="{0D108BD9-81ED-4DB2-BD59-A6C34878D82A}">
                    <a16:rowId xmlns:a16="http://schemas.microsoft.com/office/drawing/2014/main" val="10001"/>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Commande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Une ligne dans un panier</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Référence produit (ID), quantité, prix unitaire au moment de l'achat</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extLst>
                  <a:ext uri="{0D108BD9-81ED-4DB2-BD59-A6C34878D82A}">
                    <a16:rowId xmlns:a16="http://schemas.microsoft.com/office/drawing/2014/main" val="10002"/>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Stock</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Une unité à gérer physiquement</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SKU, quantité disponible, seuil de réappro, emplacement entrepôt</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extLst>
                  <a:ext uri="{0D108BD9-81ED-4DB2-BD59-A6C34878D82A}">
                    <a16:rowId xmlns:a16="http://schemas.microsoft.com/office/drawing/2014/main" val="10003"/>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Facturation</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Une ligne de facture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Libellé, montant HT, taux de TVA, montant TTC</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Comment ça se traduit dans le code</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47</a:t>
            </a:r>
            <a:endParaRPr lang="en-US" sz="900" dirty="0"/>
          </a:p>
        </p:txBody>
      </p:sp>
      <p:sp>
        <p:nvSpPr>
          <p:cNvPr id="6" name="Shape 4"/>
          <p:cNvSpPr/>
          <p:nvPr/>
        </p:nvSpPr>
        <p:spPr>
          <a:xfrm>
            <a:off x="548640" y="1097280"/>
            <a:ext cx="4572000" cy="54864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7" name="Shape 5"/>
          <p:cNvSpPr/>
          <p:nvPr/>
        </p:nvSpPr>
        <p:spPr>
          <a:xfrm>
            <a:off x="548640" y="1097280"/>
            <a:ext cx="54864" cy="548640"/>
          </a:xfrm>
          <a:prstGeom prst="rect">
            <a:avLst/>
          </a:prstGeom>
          <a:solidFill>
            <a:srgbClr val="1E90FF"/>
          </a:solidFill>
          <a:ln/>
        </p:spPr>
        <p:txBody>
          <a:bodyPr/>
          <a:lstStyle/>
          <a:p>
            <a:endParaRPr lang="en-US"/>
          </a:p>
        </p:txBody>
      </p:sp>
      <p:sp>
        <p:nvSpPr>
          <p:cNvPr id="8" name="Text 6"/>
          <p:cNvSpPr/>
          <p:nvPr/>
        </p:nvSpPr>
        <p:spPr>
          <a:xfrm>
            <a:off x="822960" y="1097280"/>
            <a:ext cx="4114800" cy="548640"/>
          </a:xfrm>
          <a:prstGeom prst="rect">
            <a:avLst/>
          </a:prstGeom>
          <a:noFill/>
          <a:ln/>
        </p:spPr>
        <p:txBody>
          <a:bodyPr wrap="square" rtlCol="0" anchor="ctr"/>
          <a:lstStyle/>
          <a:p>
            <a:pPr marL="0" indent="0">
              <a:buNone/>
            </a:pPr>
            <a:r>
              <a:rPr lang="en-US" sz="1200" dirty="0">
                <a:solidFill>
                  <a:srgbClr val="E8ECF4"/>
                </a:solidFill>
                <a:latin typeface="Calibri" pitchFamily="34" charset="0"/>
                <a:ea typeface="Calibri" pitchFamily="34" charset="-122"/>
                <a:cs typeface="Calibri" pitchFamily="34" charset="-120"/>
              </a:rPr>
              <a:t>Chaque Bounded Context correspond à un module dans le projet.</a:t>
            </a:r>
            <a:endParaRPr lang="en-US" sz="1200" dirty="0"/>
          </a:p>
        </p:txBody>
      </p:sp>
      <p:sp>
        <p:nvSpPr>
          <p:cNvPr id="9" name="Shape 7"/>
          <p:cNvSpPr/>
          <p:nvPr/>
        </p:nvSpPr>
        <p:spPr>
          <a:xfrm>
            <a:off x="548640" y="1737360"/>
            <a:ext cx="4572000" cy="54864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0" name="Shape 8"/>
          <p:cNvSpPr/>
          <p:nvPr/>
        </p:nvSpPr>
        <p:spPr>
          <a:xfrm>
            <a:off x="548640" y="1737360"/>
            <a:ext cx="54864" cy="548640"/>
          </a:xfrm>
          <a:prstGeom prst="rect">
            <a:avLst/>
          </a:prstGeom>
          <a:solidFill>
            <a:srgbClr val="1E90FF"/>
          </a:solidFill>
          <a:ln/>
        </p:spPr>
        <p:txBody>
          <a:bodyPr/>
          <a:lstStyle/>
          <a:p>
            <a:endParaRPr lang="en-US"/>
          </a:p>
        </p:txBody>
      </p:sp>
      <p:sp>
        <p:nvSpPr>
          <p:cNvPr id="11" name="Text 9"/>
          <p:cNvSpPr/>
          <p:nvPr/>
        </p:nvSpPr>
        <p:spPr>
          <a:xfrm>
            <a:off x="822960" y="1737360"/>
            <a:ext cx="4114800" cy="548640"/>
          </a:xfrm>
          <a:prstGeom prst="rect">
            <a:avLst/>
          </a:prstGeom>
          <a:noFill/>
          <a:ln/>
        </p:spPr>
        <p:txBody>
          <a:bodyPr wrap="square" rtlCol="0" anchor="ctr"/>
          <a:lstStyle/>
          <a:p>
            <a:pPr marL="0" indent="0">
              <a:buNone/>
            </a:pPr>
            <a:r>
              <a:rPr lang="en-US" sz="1200" dirty="0">
                <a:solidFill>
                  <a:srgbClr val="E8ECF4"/>
                </a:solidFill>
                <a:latin typeface="Calibri" pitchFamily="34" charset="0"/>
                <a:ea typeface="Calibri" pitchFamily="34" charset="-122"/>
                <a:cs typeface="Calibri" pitchFamily="34" charset="-120"/>
              </a:rPr>
              <a:t>Chaque module a son propre domaine, ses propres entités, ses propres Value Objects.</a:t>
            </a:r>
            <a:endParaRPr lang="en-US" sz="1200" dirty="0"/>
          </a:p>
        </p:txBody>
      </p:sp>
      <p:sp>
        <p:nvSpPr>
          <p:cNvPr id="12" name="Shape 10"/>
          <p:cNvSpPr/>
          <p:nvPr/>
        </p:nvSpPr>
        <p:spPr>
          <a:xfrm>
            <a:off x="548640" y="2377440"/>
            <a:ext cx="4572000" cy="54864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3" name="Shape 11"/>
          <p:cNvSpPr/>
          <p:nvPr/>
        </p:nvSpPr>
        <p:spPr>
          <a:xfrm>
            <a:off x="548640" y="2377440"/>
            <a:ext cx="54864" cy="548640"/>
          </a:xfrm>
          <a:prstGeom prst="rect">
            <a:avLst/>
          </a:prstGeom>
          <a:solidFill>
            <a:srgbClr val="1E90FF"/>
          </a:solidFill>
          <a:ln/>
        </p:spPr>
        <p:txBody>
          <a:bodyPr/>
          <a:lstStyle/>
          <a:p>
            <a:endParaRPr lang="en-US"/>
          </a:p>
        </p:txBody>
      </p:sp>
      <p:sp>
        <p:nvSpPr>
          <p:cNvPr id="14" name="Text 12"/>
          <p:cNvSpPr/>
          <p:nvPr/>
        </p:nvSpPr>
        <p:spPr>
          <a:xfrm>
            <a:off x="822960" y="2377440"/>
            <a:ext cx="4114800" cy="548640"/>
          </a:xfrm>
          <a:prstGeom prst="rect">
            <a:avLst/>
          </a:prstGeom>
          <a:noFill/>
          <a:ln/>
        </p:spPr>
        <p:txBody>
          <a:bodyPr wrap="square" rtlCol="0" anchor="ctr"/>
          <a:lstStyle/>
          <a:p>
            <a:pPr marL="0" indent="0">
              <a:buNone/>
            </a:pPr>
            <a:r>
              <a:rPr lang="en-US" sz="1200" dirty="0">
                <a:solidFill>
                  <a:srgbClr val="E8ECF4"/>
                </a:solidFill>
                <a:latin typeface="Calibri" pitchFamily="34" charset="0"/>
                <a:ea typeface="Calibri" pitchFamily="34" charset="-122"/>
                <a:cs typeface="Calibri" pitchFamily="34" charset="-120"/>
              </a:rPr>
              <a:t>Les modules communiquent entre eux par ID ou par événements — jamais par référence directe à une entité d'un autre contexte.</a:t>
            </a:r>
            <a:endParaRPr lang="en-US" sz="1200" dirty="0"/>
          </a:p>
        </p:txBody>
      </p:sp>
      <p:pic>
        <p:nvPicPr>
          <p:cNvPr id="17" name="Picture 16" descr="A screenshot of a computer&#10;&#10;AI-generated content may be incorrect.">
            <a:extLst>
              <a:ext uri="{FF2B5EF4-FFF2-40B4-BE49-F238E27FC236}">
                <a16:creationId xmlns:a16="http://schemas.microsoft.com/office/drawing/2014/main" id="{08463F09-ED32-6123-2CC5-F7CD91C9532B}"/>
              </a:ext>
            </a:extLst>
          </p:cNvPr>
          <p:cNvPicPr>
            <a:picLocks noChangeAspect="1"/>
          </p:cNvPicPr>
          <p:nvPr/>
        </p:nvPicPr>
        <p:blipFill>
          <a:blip r:embed="rId4"/>
          <a:stretch>
            <a:fillRect/>
          </a:stretch>
        </p:blipFill>
        <p:spPr>
          <a:xfrm>
            <a:off x="5340096" y="1097280"/>
            <a:ext cx="3596535" cy="2610971"/>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Communication entre contextes</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48</a:t>
            </a:r>
            <a:endParaRPr lang="en-US" sz="900" dirty="0"/>
          </a:p>
        </p:txBody>
      </p:sp>
      <p:sp>
        <p:nvSpPr>
          <p:cNvPr id="6" name="Text 4"/>
          <p:cNvSpPr/>
          <p:nvPr/>
        </p:nvSpPr>
        <p:spPr>
          <a:xfrm>
            <a:off x="548640" y="1005840"/>
            <a:ext cx="8046720" cy="365760"/>
          </a:xfrm>
          <a:prstGeom prst="rect">
            <a:avLst/>
          </a:prstGeom>
          <a:noFill/>
          <a:ln/>
        </p:spPr>
        <p:txBody>
          <a:bodyPr wrap="square" rtlCol="0" anchor="ctr"/>
          <a:lstStyle/>
          <a:p>
            <a:pPr marL="0" indent="0">
              <a:buNone/>
            </a:pPr>
            <a:r>
              <a:rPr lang="en-US" sz="1400" dirty="0">
                <a:solidFill>
                  <a:srgbClr val="E8ECF4"/>
                </a:solidFill>
                <a:latin typeface="Calibri" pitchFamily="34" charset="0"/>
                <a:ea typeface="Calibri" pitchFamily="34" charset="-122"/>
                <a:cs typeface="Calibri" pitchFamily="34" charset="-120"/>
              </a:rPr>
              <a:t>Les Bounded Contexts ne s'appellent pas directement. Deux mécanismes :</a:t>
            </a:r>
            <a:endParaRPr lang="en-US" sz="1400" dirty="0"/>
          </a:p>
        </p:txBody>
      </p:sp>
      <p:sp>
        <p:nvSpPr>
          <p:cNvPr id="7" name="Shape 5"/>
          <p:cNvSpPr/>
          <p:nvPr/>
        </p:nvSpPr>
        <p:spPr>
          <a:xfrm>
            <a:off x="548640" y="1554480"/>
            <a:ext cx="3840480" cy="256032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8" name="Shape 6"/>
          <p:cNvSpPr/>
          <p:nvPr/>
        </p:nvSpPr>
        <p:spPr>
          <a:xfrm>
            <a:off x="548640" y="1554480"/>
            <a:ext cx="3840480" cy="457200"/>
          </a:xfrm>
          <a:prstGeom prst="rect">
            <a:avLst/>
          </a:prstGeom>
          <a:solidFill>
            <a:srgbClr val="1E90FF">
              <a:alpha val="40000"/>
            </a:srgbClr>
          </a:solidFill>
          <a:ln/>
        </p:spPr>
        <p:txBody>
          <a:bodyPr/>
          <a:lstStyle/>
          <a:p>
            <a:endParaRPr lang="en-US"/>
          </a:p>
        </p:txBody>
      </p:sp>
      <p:sp>
        <p:nvSpPr>
          <p:cNvPr id="9" name="Text 7"/>
          <p:cNvSpPr/>
          <p:nvPr/>
        </p:nvSpPr>
        <p:spPr>
          <a:xfrm>
            <a:off x="731520" y="1600200"/>
            <a:ext cx="3474720" cy="365760"/>
          </a:xfrm>
          <a:prstGeom prst="rect">
            <a:avLst/>
          </a:prstGeom>
          <a:noFill/>
          <a:ln/>
        </p:spPr>
        <p:txBody>
          <a:bodyPr wrap="square" rtlCol="0" anchor="ctr"/>
          <a:lstStyle/>
          <a:p>
            <a:pPr marL="0" indent="0">
              <a:buNone/>
            </a:pPr>
            <a:r>
              <a:rPr lang="en-US" sz="1400" b="1" kern="0" spc="300" dirty="0">
                <a:solidFill>
                  <a:srgbClr val="FFFFFF"/>
                </a:solidFill>
                <a:latin typeface="Calibri" pitchFamily="34" charset="0"/>
                <a:ea typeface="Calibri" pitchFamily="34" charset="-122"/>
                <a:cs typeface="Calibri" pitchFamily="34" charset="-120"/>
              </a:rPr>
              <a:t>PAR ID</a:t>
            </a:r>
            <a:endParaRPr lang="en-US" sz="1400" dirty="0"/>
          </a:p>
        </p:txBody>
      </p:sp>
      <p:sp>
        <p:nvSpPr>
          <p:cNvPr id="10" name="Text 8"/>
          <p:cNvSpPr/>
          <p:nvPr/>
        </p:nvSpPr>
        <p:spPr>
          <a:xfrm>
            <a:off x="731520" y="2103120"/>
            <a:ext cx="3474720" cy="1828800"/>
          </a:xfrm>
          <a:prstGeom prst="rect">
            <a:avLst/>
          </a:prstGeom>
          <a:noFill/>
          <a:ln/>
        </p:spPr>
        <p:txBody>
          <a:bodyPr wrap="square" rtlCol="0" anchor="ctr"/>
          <a:lstStyle/>
          <a:p>
            <a:pPr marL="0" indent="0">
              <a:buNone/>
            </a:pPr>
            <a:r>
              <a:rPr lang="en-US" sz="1100" dirty="0">
                <a:solidFill>
                  <a:srgbClr val="E8ECF4"/>
                </a:solidFill>
                <a:latin typeface="Calibri" pitchFamily="34" charset="0"/>
                <a:ea typeface="Calibri" pitchFamily="34" charset="-122"/>
                <a:cs typeface="Calibri" pitchFamily="34" charset="-120"/>
              </a:rPr>
              <a:t>Le contexte Commande stocke un customerId: string, pas une référence à l'entité User du contexte Auth. Si le use case a besoin d'infos sur le client, il appelle le module concerné via une interface.</a:t>
            </a:r>
            <a:endParaRPr lang="en-US" sz="1100" dirty="0"/>
          </a:p>
        </p:txBody>
      </p:sp>
      <p:sp>
        <p:nvSpPr>
          <p:cNvPr id="11" name="Shape 9"/>
          <p:cNvSpPr/>
          <p:nvPr/>
        </p:nvSpPr>
        <p:spPr>
          <a:xfrm>
            <a:off x="4754880" y="1554480"/>
            <a:ext cx="3840480" cy="256032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2" name="Shape 10"/>
          <p:cNvSpPr/>
          <p:nvPr/>
        </p:nvSpPr>
        <p:spPr>
          <a:xfrm>
            <a:off x="4754880" y="1554480"/>
            <a:ext cx="3840480" cy="457200"/>
          </a:xfrm>
          <a:prstGeom prst="rect">
            <a:avLst/>
          </a:prstGeom>
          <a:solidFill>
            <a:srgbClr val="00BFFF">
              <a:alpha val="40000"/>
            </a:srgbClr>
          </a:solidFill>
          <a:ln/>
        </p:spPr>
        <p:txBody>
          <a:bodyPr/>
          <a:lstStyle/>
          <a:p>
            <a:endParaRPr lang="en-US"/>
          </a:p>
        </p:txBody>
      </p:sp>
      <p:sp>
        <p:nvSpPr>
          <p:cNvPr id="13" name="Text 11"/>
          <p:cNvSpPr/>
          <p:nvPr/>
        </p:nvSpPr>
        <p:spPr>
          <a:xfrm>
            <a:off x="4937760" y="1600200"/>
            <a:ext cx="3474720" cy="365760"/>
          </a:xfrm>
          <a:prstGeom prst="rect">
            <a:avLst/>
          </a:prstGeom>
          <a:noFill/>
          <a:ln/>
        </p:spPr>
        <p:txBody>
          <a:bodyPr wrap="square" rtlCol="0" anchor="ctr"/>
          <a:lstStyle/>
          <a:p>
            <a:pPr marL="0" indent="0">
              <a:buNone/>
            </a:pPr>
            <a:r>
              <a:rPr lang="en-US" sz="1400" b="1" kern="0" spc="300" dirty="0">
                <a:solidFill>
                  <a:srgbClr val="FFFFFF"/>
                </a:solidFill>
                <a:latin typeface="Calibri" pitchFamily="34" charset="0"/>
                <a:ea typeface="Calibri" pitchFamily="34" charset="-122"/>
                <a:cs typeface="Calibri" pitchFamily="34" charset="-120"/>
              </a:rPr>
              <a:t>PAR ÉVÉNEMENTS</a:t>
            </a:r>
            <a:endParaRPr lang="en-US" sz="1400" dirty="0"/>
          </a:p>
        </p:txBody>
      </p:sp>
      <p:sp>
        <p:nvSpPr>
          <p:cNvPr id="14" name="Text 12"/>
          <p:cNvSpPr/>
          <p:nvPr/>
        </p:nvSpPr>
        <p:spPr>
          <a:xfrm>
            <a:off x="4937760" y="2103120"/>
            <a:ext cx="3474720" cy="1828800"/>
          </a:xfrm>
          <a:prstGeom prst="rect">
            <a:avLst/>
          </a:prstGeom>
          <a:noFill/>
          <a:ln/>
        </p:spPr>
        <p:txBody>
          <a:bodyPr wrap="square" rtlCol="0" anchor="ctr"/>
          <a:lstStyle/>
          <a:p>
            <a:pPr marL="0" indent="0">
              <a:buNone/>
            </a:pPr>
            <a:r>
              <a:rPr lang="en-US" sz="1100" dirty="0">
                <a:solidFill>
                  <a:srgbClr val="E8ECF4"/>
                </a:solidFill>
                <a:latin typeface="Calibri" pitchFamily="34" charset="0"/>
                <a:ea typeface="Calibri" pitchFamily="34" charset="-122"/>
                <a:cs typeface="Calibri" pitchFamily="34" charset="-120"/>
              </a:rPr>
              <a:t>Quand une commande est confirmée, le contexte Commande émet un OrderConfirmedEvent. Le contexte Stock écoute et décrémente les quantités. Le contexte Facturation génère une facture. Chaque contexte réagit avec ses propres règles, sans couplage.</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L'Ubiquitous Language par contexte</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49</a:t>
            </a:r>
            <a:endParaRPr lang="en-US" sz="900" dirty="0"/>
          </a:p>
        </p:txBody>
      </p:sp>
      <p:sp>
        <p:nvSpPr>
          <p:cNvPr id="6" name="Text 4"/>
          <p:cNvSpPr/>
          <p:nvPr/>
        </p:nvSpPr>
        <p:spPr>
          <a:xfrm>
            <a:off x="548640" y="1005840"/>
            <a:ext cx="8046720" cy="548640"/>
          </a:xfrm>
          <a:prstGeom prst="rect">
            <a:avLst/>
          </a:prstGeom>
          <a:noFill/>
          <a:ln/>
        </p:spPr>
        <p:txBody>
          <a:bodyPr wrap="square" rtlCol="0" anchor="ctr"/>
          <a:lstStyle/>
          <a:p>
            <a:pPr marL="0" indent="0">
              <a:buNone/>
            </a:pPr>
            <a:r>
              <a:rPr lang="en-US" sz="1200" dirty="0">
                <a:solidFill>
                  <a:srgbClr val="E8ECF4"/>
                </a:solidFill>
                <a:latin typeface="Calibri" pitchFamily="34" charset="0"/>
                <a:ea typeface="Calibri" pitchFamily="34" charset="-122"/>
                <a:cs typeface="Calibri" pitchFamily="34" charset="-120"/>
              </a:rPr>
              <a:t>Chaque Bounded Context a son propre vocabulaire. Le mot "Commande" n'a pas besoin d'exister dans le contexte Stock — là-bas on parle de "Mouvement de stock" ou de "Réservation". Cette séparation du langage est saine.</a:t>
            </a:r>
            <a:endParaRPr lang="en-US" sz="1200" dirty="0"/>
          </a:p>
        </p:txBody>
      </p:sp>
      <p:graphicFrame>
        <p:nvGraphicFramePr>
          <p:cNvPr id="50" name="Table 0"/>
          <p:cNvGraphicFramePr>
            <a:graphicFrameLocks noGrp="1"/>
          </p:cNvGraphicFramePr>
          <p:nvPr>
            <p:extLst>
              <p:ext uri="{D42A27DB-BD31-4B8C-83A1-F6EECF244321}">
                <p14:modId xmlns:p14="http://schemas.microsoft.com/office/powerpoint/2010/main" val="3748785341"/>
              </p:ext>
            </p:extLst>
          </p:nvPr>
        </p:nvGraphicFramePr>
        <p:xfrm>
          <a:off x="548640" y="1783080"/>
          <a:ext cx="7955280" cy="1051560"/>
        </p:xfrm>
        <a:graphic>
          <a:graphicData uri="http://schemas.openxmlformats.org/drawingml/2006/table">
            <a:tbl>
              <a:tblPr/>
              <a:tblGrid>
                <a:gridCol w="1729409">
                  <a:extLst>
                    <a:ext uri="{9D8B030D-6E8A-4147-A177-3AD203B41FA5}">
                      <a16:colId xmlns:a16="http://schemas.microsoft.com/office/drawing/2014/main" val="20000"/>
                    </a:ext>
                  </a:extLst>
                </a:gridCol>
                <a:gridCol w="3571422">
                  <a:extLst>
                    <a:ext uri="{9D8B030D-6E8A-4147-A177-3AD203B41FA5}">
                      <a16:colId xmlns:a16="http://schemas.microsoft.com/office/drawing/2014/main" val="20001"/>
                    </a:ext>
                  </a:extLst>
                </a:gridCol>
                <a:gridCol w="2654449">
                  <a:extLst>
                    <a:ext uri="{9D8B030D-6E8A-4147-A177-3AD203B41FA5}">
                      <a16:colId xmlns:a16="http://schemas.microsoft.com/office/drawing/2014/main" val="20002"/>
                    </a:ext>
                  </a:extLst>
                </a:gridCol>
              </a:tblGrid>
              <a:tr h="0">
                <a:tc>
                  <a:txBody>
                    <a:bodyPr/>
                    <a:lstStyle/>
                    <a:p>
                      <a:pPr marL="0" indent="0">
                        <a:buNone/>
                      </a:pPr>
                      <a:r>
                        <a:rPr lang="en-US" sz="1200" b="1" dirty="0">
                          <a:solidFill>
                            <a:srgbClr val="00BFFF"/>
                          </a:solidFill>
                          <a:latin typeface="Calibri" pitchFamily="34" charset="0"/>
                          <a:ea typeface="Calibri" pitchFamily="34" charset="-122"/>
                          <a:cs typeface="Calibri" pitchFamily="34" charset="-120"/>
                        </a:rPr>
                        <a:t>Contexte</a:t>
                      </a:r>
                      <a:endParaRPr lang="en-US" sz="12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21A42"/>
                    </a:solidFill>
                  </a:tcPr>
                </a:tc>
                <a:tc>
                  <a:txBody>
                    <a:bodyPr/>
                    <a:lstStyle/>
                    <a:p>
                      <a:pPr marL="0" indent="0">
                        <a:buNone/>
                      </a:pPr>
                      <a:r>
                        <a:rPr lang="en-US" sz="1200" b="1" dirty="0">
                          <a:solidFill>
                            <a:srgbClr val="00BFFF"/>
                          </a:solidFill>
                          <a:latin typeface="Calibri" pitchFamily="34" charset="0"/>
                          <a:ea typeface="Calibri" pitchFamily="34" charset="-122"/>
                          <a:cs typeface="Calibri" pitchFamily="34" charset="-120"/>
                        </a:rPr>
                        <a:t>On dit</a:t>
                      </a:r>
                      <a:endParaRPr lang="en-US" sz="12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21A42"/>
                    </a:solidFill>
                  </a:tcPr>
                </a:tc>
                <a:tc>
                  <a:txBody>
                    <a:bodyPr/>
                    <a:lstStyle/>
                    <a:p>
                      <a:pPr marL="0" indent="0">
                        <a:buNone/>
                      </a:pPr>
                      <a:r>
                        <a:rPr lang="en-US" sz="1200" b="1" dirty="0">
                          <a:solidFill>
                            <a:srgbClr val="00BFFF"/>
                          </a:solidFill>
                          <a:latin typeface="Calibri" pitchFamily="34" charset="0"/>
                          <a:ea typeface="Calibri" pitchFamily="34" charset="-122"/>
                          <a:cs typeface="Calibri" pitchFamily="34" charset="-120"/>
                        </a:rPr>
                        <a:t>On ne dit pas</a:t>
                      </a:r>
                      <a:endParaRPr lang="en-US" sz="12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21A42"/>
                    </a:solidFill>
                  </a:tcPr>
                </a:tc>
                <a:extLst>
                  <a:ext uri="{0D108BD9-81ED-4DB2-BD59-A6C34878D82A}">
                    <a16:rowId xmlns:a16="http://schemas.microsoft.com/office/drawing/2014/main" val="10000"/>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Commande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Order, OrderItem, confirmer, annuler</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i="1" dirty="0">
                          <a:solidFill>
                            <a:srgbClr val="8B99B8"/>
                          </a:solidFill>
                          <a:latin typeface="Calibri" pitchFamily="34" charset="0"/>
                          <a:ea typeface="Calibri" pitchFamily="34" charset="-122"/>
                          <a:cs typeface="Calibri" pitchFamily="34" charset="-120"/>
                        </a:rPr>
                        <a:t>Stock, SKU, entrepôt</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extLst>
                  <a:ext uri="{0D108BD9-81ED-4DB2-BD59-A6C34878D82A}">
                    <a16:rowId xmlns:a16="http://schemas.microsoft.com/office/drawing/2014/main" val="10001"/>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Stock</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StockItem, réserver, réapprovisionner, mouvement</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i="1" dirty="0">
                          <a:solidFill>
                            <a:srgbClr val="8B99B8"/>
                          </a:solidFill>
                          <a:latin typeface="Calibri" pitchFamily="34" charset="0"/>
                          <a:ea typeface="Calibri" pitchFamily="34" charset="-122"/>
                          <a:cs typeface="Calibri" pitchFamily="34" charset="-120"/>
                        </a:rPr>
                        <a:t>Commande, panier, prix</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extLst>
                  <a:ext uri="{0D108BD9-81ED-4DB2-BD59-A6C34878D82A}">
                    <a16:rowId xmlns:a16="http://schemas.microsoft.com/office/drawing/2014/main" val="10002"/>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Facturation</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Invoice, InvoiceLine, émettre, avoir</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i="1" dirty="0">
                          <a:solidFill>
                            <a:srgbClr val="8B99B8"/>
                          </a:solidFill>
                          <a:latin typeface="Calibri" pitchFamily="34" charset="0"/>
                          <a:ea typeface="Calibri" pitchFamily="34" charset="-122"/>
                          <a:cs typeface="Calibri" pitchFamily="34" charset="-120"/>
                        </a:rPr>
                        <a:t>Panier, stock, catalogue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Comment identifier les Bounded Contexts</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50</a:t>
            </a:r>
            <a:endParaRPr lang="en-US" sz="900" dirty="0"/>
          </a:p>
        </p:txBody>
      </p:sp>
      <p:sp>
        <p:nvSpPr>
          <p:cNvPr id="6" name="Text 4"/>
          <p:cNvSpPr/>
          <p:nvPr/>
        </p:nvSpPr>
        <p:spPr>
          <a:xfrm>
            <a:off x="548640" y="1005840"/>
            <a:ext cx="8046720" cy="365760"/>
          </a:xfrm>
          <a:prstGeom prst="rect">
            <a:avLst/>
          </a:prstGeom>
          <a:noFill/>
          <a:ln/>
        </p:spPr>
        <p:txBody>
          <a:bodyPr wrap="square" rtlCol="0" anchor="ctr"/>
          <a:lstStyle/>
          <a:p>
            <a:pPr marL="0" indent="0">
              <a:buNone/>
            </a:pPr>
            <a:r>
              <a:rPr lang="en-US" sz="1400" dirty="0">
                <a:solidFill>
                  <a:srgbClr val="E8ECF4"/>
                </a:solidFill>
                <a:latin typeface="Calibri" pitchFamily="34" charset="0"/>
                <a:ea typeface="Calibri" pitchFamily="34" charset="-122"/>
                <a:cs typeface="Calibri" pitchFamily="34" charset="-120"/>
              </a:rPr>
              <a:t>Trois signaux qui indiquent qu'on a besoin de séparer en contextes :</a:t>
            </a:r>
            <a:endParaRPr lang="en-US" sz="1400" dirty="0"/>
          </a:p>
        </p:txBody>
      </p:sp>
      <p:sp>
        <p:nvSpPr>
          <p:cNvPr id="7" name="Shape 5"/>
          <p:cNvSpPr/>
          <p:nvPr/>
        </p:nvSpPr>
        <p:spPr>
          <a:xfrm>
            <a:off x="548640" y="1554480"/>
            <a:ext cx="8046720" cy="9144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8" name="Shape 6"/>
          <p:cNvSpPr/>
          <p:nvPr/>
        </p:nvSpPr>
        <p:spPr>
          <a:xfrm>
            <a:off x="685800" y="1783080"/>
            <a:ext cx="365760" cy="365760"/>
          </a:xfrm>
          <a:prstGeom prst="ellipse">
            <a:avLst/>
          </a:prstGeom>
          <a:solidFill>
            <a:srgbClr val="1E90FF">
              <a:alpha val="80000"/>
            </a:srgbClr>
          </a:solidFill>
          <a:ln/>
        </p:spPr>
        <p:txBody>
          <a:bodyPr/>
          <a:lstStyle/>
          <a:p>
            <a:endParaRPr lang="en-US"/>
          </a:p>
        </p:txBody>
      </p:sp>
      <p:sp>
        <p:nvSpPr>
          <p:cNvPr id="9" name="Text 7"/>
          <p:cNvSpPr/>
          <p:nvPr/>
        </p:nvSpPr>
        <p:spPr>
          <a:xfrm>
            <a:off x="685800" y="178308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1188720" y="1645920"/>
            <a:ext cx="7223760" cy="731520"/>
          </a:xfrm>
          <a:prstGeom prst="rect">
            <a:avLst/>
          </a:prstGeom>
          <a:noFill/>
          <a:ln/>
        </p:spPr>
        <p:txBody>
          <a:bodyPr wrap="square" rtlCol="0" anchor="ctr"/>
          <a:lstStyle/>
          <a:p>
            <a:pPr marL="0" indent="0">
              <a:buNone/>
            </a:pPr>
            <a:r>
              <a:rPr lang="en-US" sz="1400" b="1" dirty="0">
                <a:solidFill>
                  <a:srgbClr val="00BFFF"/>
                </a:solidFill>
                <a:latin typeface="Calibri" pitchFamily="34" charset="0"/>
                <a:ea typeface="Calibri" pitchFamily="34" charset="-122"/>
                <a:cs typeface="Calibri" pitchFamily="34" charset="-120"/>
              </a:rPr>
              <a:t>Le même mot a des significations différentes</a:t>
            </a:r>
            <a:endParaRPr lang="en-US" sz="1400" dirty="0"/>
          </a:p>
          <a:p>
            <a:pPr marL="0" indent="0">
              <a:buNone/>
            </a:pPr>
            <a:r>
              <a:rPr lang="en-US" sz="1200" dirty="0">
                <a:solidFill>
                  <a:srgbClr val="E8ECF4"/>
                </a:solidFill>
                <a:latin typeface="Calibri" pitchFamily="34" charset="0"/>
                <a:ea typeface="Calibri" pitchFamily="34" charset="-122"/>
                <a:cs typeface="Calibri" pitchFamily="34" charset="-120"/>
              </a:rPr>
              <a:t>"Produit" pour le marketing ≠ "Produit" pour la logistique.</a:t>
            </a:r>
            <a:endParaRPr lang="en-US" sz="1400" dirty="0"/>
          </a:p>
        </p:txBody>
      </p:sp>
      <p:sp>
        <p:nvSpPr>
          <p:cNvPr id="11" name="Shape 9"/>
          <p:cNvSpPr/>
          <p:nvPr/>
        </p:nvSpPr>
        <p:spPr>
          <a:xfrm>
            <a:off x="548640" y="2606040"/>
            <a:ext cx="8046720" cy="9144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2" name="Shape 10"/>
          <p:cNvSpPr/>
          <p:nvPr/>
        </p:nvSpPr>
        <p:spPr>
          <a:xfrm>
            <a:off x="685800" y="2834640"/>
            <a:ext cx="365760" cy="365760"/>
          </a:xfrm>
          <a:prstGeom prst="ellipse">
            <a:avLst/>
          </a:prstGeom>
          <a:solidFill>
            <a:srgbClr val="1E90FF">
              <a:alpha val="80000"/>
            </a:srgbClr>
          </a:solidFill>
          <a:ln/>
        </p:spPr>
        <p:txBody>
          <a:bodyPr/>
          <a:lstStyle/>
          <a:p>
            <a:endParaRPr lang="en-US"/>
          </a:p>
        </p:txBody>
      </p:sp>
      <p:sp>
        <p:nvSpPr>
          <p:cNvPr id="13" name="Text 11"/>
          <p:cNvSpPr/>
          <p:nvPr/>
        </p:nvSpPr>
        <p:spPr>
          <a:xfrm>
            <a:off x="685800" y="283464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1188720" y="2697480"/>
            <a:ext cx="7223760" cy="731520"/>
          </a:xfrm>
          <a:prstGeom prst="rect">
            <a:avLst/>
          </a:prstGeom>
          <a:noFill/>
          <a:ln/>
        </p:spPr>
        <p:txBody>
          <a:bodyPr wrap="square" rtlCol="0" anchor="ctr"/>
          <a:lstStyle/>
          <a:p>
            <a:pPr marL="0" indent="0">
              <a:buNone/>
            </a:pPr>
            <a:r>
              <a:rPr lang="en-US" sz="1400" b="1" dirty="0">
                <a:solidFill>
                  <a:srgbClr val="00BFFF"/>
                </a:solidFill>
                <a:latin typeface="Calibri" pitchFamily="34" charset="0"/>
                <a:ea typeface="Calibri" pitchFamily="34" charset="-122"/>
                <a:cs typeface="Calibri" pitchFamily="34" charset="-120"/>
              </a:rPr>
              <a:t>Des équipes différentes travaillent sur des parties différentes</a:t>
            </a:r>
            <a:endParaRPr lang="en-US" sz="1400" dirty="0"/>
          </a:p>
          <a:p>
            <a:pPr marL="0" indent="0">
              <a:buNone/>
            </a:pPr>
            <a:r>
              <a:rPr lang="en-US" sz="1200" dirty="0">
                <a:solidFill>
                  <a:srgbClr val="E8ECF4"/>
                </a:solidFill>
                <a:latin typeface="Calibri" pitchFamily="34" charset="0"/>
                <a:ea typeface="Calibri" pitchFamily="34" charset="-122"/>
                <a:cs typeface="Calibri" pitchFamily="34" charset="-120"/>
              </a:rPr>
              <a:t>L'équipe paiement n'a pas besoin de toucher au catalogue.</a:t>
            </a:r>
            <a:endParaRPr lang="en-US" sz="1400" dirty="0"/>
          </a:p>
        </p:txBody>
      </p:sp>
      <p:sp>
        <p:nvSpPr>
          <p:cNvPr id="15" name="Shape 13"/>
          <p:cNvSpPr/>
          <p:nvPr/>
        </p:nvSpPr>
        <p:spPr>
          <a:xfrm>
            <a:off x="548640" y="3657600"/>
            <a:ext cx="8046720" cy="9144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6" name="Shape 14"/>
          <p:cNvSpPr/>
          <p:nvPr/>
        </p:nvSpPr>
        <p:spPr>
          <a:xfrm>
            <a:off x="685800" y="3886200"/>
            <a:ext cx="365760" cy="365760"/>
          </a:xfrm>
          <a:prstGeom prst="ellipse">
            <a:avLst/>
          </a:prstGeom>
          <a:solidFill>
            <a:srgbClr val="1E90FF">
              <a:alpha val="80000"/>
            </a:srgbClr>
          </a:solidFill>
          <a:ln/>
        </p:spPr>
        <p:txBody>
          <a:bodyPr/>
          <a:lstStyle/>
          <a:p>
            <a:endParaRPr lang="en-US"/>
          </a:p>
        </p:txBody>
      </p:sp>
      <p:sp>
        <p:nvSpPr>
          <p:cNvPr id="17" name="Text 15"/>
          <p:cNvSpPr/>
          <p:nvPr/>
        </p:nvSpPr>
        <p:spPr>
          <a:xfrm>
            <a:off x="685800" y="38862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188720" y="3749040"/>
            <a:ext cx="7223760" cy="731520"/>
          </a:xfrm>
          <a:prstGeom prst="rect">
            <a:avLst/>
          </a:prstGeom>
          <a:noFill/>
          <a:ln/>
        </p:spPr>
        <p:txBody>
          <a:bodyPr wrap="square" rtlCol="0" anchor="ctr"/>
          <a:lstStyle/>
          <a:p>
            <a:pPr marL="0" indent="0">
              <a:buNone/>
            </a:pPr>
            <a:r>
              <a:rPr lang="en-US" sz="1400" b="1" dirty="0">
                <a:solidFill>
                  <a:srgbClr val="00BFFF"/>
                </a:solidFill>
                <a:latin typeface="Calibri" pitchFamily="34" charset="0"/>
                <a:ea typeface="Calibri" pitchFamily="34" charset="-122"/>
                <a:cs typeface="Calibri" pitchFamily="34" charset="-120"/>
              </a:rPr>
              <a:t>Les cycles de vie sont différents</a:t>
            </a:r>
            <a:endParaRPr lang="en-US" sz="1400" dirty="0"/>
          </a:p>
          <a:p>
            <a:pPr marL="0" indent="0">
              <a:buNone/>
            </a:pPr>
            <a:r>
              <a:rPr lang="en-US" sz="1200" dirty="0">
                <a:solidFill>
                  <a:srgbClr val="E8ECF4"/>
                </a:solidFill>
                <a:latin typeface="Calibri" pitchFamily="34" charset="0"/>
                <a:ea typeface="Calibri" pitchFamily="34" charset="-122"/>
                <a:cs typeface="Calibri" pitchFamily="34" charset="-120"/>
              </a:rPr>
              <a:t>Le catalogue change tous les jours. Les commandes passées ne changent plus. Les factures sont immuables légalement.</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Le piège du monolithe de domaine</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51</a:t>
            </a:r>
            <a:endParaRPr lang="en-US" sz="900" dirty="0"/>
          </a:p>
        </p:txBody>
      </p:sp>
      <p:sp>
        <p:nvSpPr>
          <p:cNvPr id="6" name="Shape 4"/>
          <p:cNvSpPr/>
          <p:nvPr/>
        </p:nvSpPr>
        <p:spPr>
          <a:xfrm>
            <a:off x="548640" y="1188720"/>
            <a:ext cx="8046720" cy="13716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7" name="Shape 5"/>
          <p:cNvSpPr/>
          <p:nvPr/>
        </p:nvSpPr>
        <p:spPr>
          <a:xfrm>
            <a:off x="548640" y="1188720"/>
            <a:ext cx="54864" cy="1371600"/>
          </a:xfrm>
          <a:prstGeom prst="rect">
            <a:avLst/>
          </a:prstGeom>
          <a:solidFill>
            <a:srgbClr val="FF6B35"/>
          </a:solidFill>
          <a:ln/>
        </p:spPr>
        <p:txBody>
          <a:bodyPr/>
          <a:lstStyle/>
          <a:p>
            <a:endParaRPr lang="en-US"/>
          </a:p>
        </p:txBody>
      </p:sp>
      <p:sp>
        <p:nvSpPr>
          <p:cNvPr id="8" name="Text 6"/>
          <p:cNvSpPr/>
          <p:nvPr/>
        </p:nvSpPr>
        <p:spPr>
          <a:xfrm>
            <a:off x="822960" y="1280160"/>
            <a:ext cx="7498080" cy="11887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Sans Bounded Contexts, on finit avec une seule entité Product qui contient les propriétés du catalogue, du stock, de la facturation et de la commande. 40 propriétés, des dépendances dans tous les sens, et chaque modification risque de casser un contexte qui n'a rien à voir.</a:t>
            </a:r>
            <a:endParaRPr lang="en-US" sz="1300" dirty="0"/>
          </a:p>
        </p:txBody>
      </p:sp>
      <p:sp>
        <p:nvSpPr>
          <p:cNvPr id="9" name="Shape 7"/>
          <p:cNvSpPr/>
          <p:nvPr/>
        </p:nvSpPr>
        <p:spPr>
          <a:xfrm>
            <a:off x="548640" y="2834640"/>
            <a:ext cx="8046720" cy="13716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0" name="Shape 8"/>
          <p:cNvSpPr/>
          <p:nvPr/>
        </p:nvSpPr>
        <p:spPr>
          <a:xfrm>
            <a:off x="548640" y="2834640"/>
            <a:ext cx="54864" cy="1371600"/>
          </a:xfrm>
          <a:prstGeom prst="rect">
            <a:avLst/>
          </a:prstGeom>
          <a:solidFill>
            <a:srgbClr val="1E90FF"/>
          </a:solidFill>
          <a:ln/>
        </p:spPr>
        <p:txBody>
          <a:bodyPr/>
          <a:lstStyle/>
          <a:p>
            <a:endParaRPr lang="en-US"/>
          </a:p>
        </p:txBody>
      </p:sp>
      <p:sp>
        <p:nvSpPr>
          <p:cNvPr id="11" name="Text 9"/>
          <p:cNvSpPr/>
          <p:nvPr/>
        </p:nvSpPr>
        <p:spPr>
          <a:xfrm>
            <a:off x="822960" y="2926080"/>
            <a:ext cx="7498080" cy="11887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Le Bounded Context, c'est accepter que la duplication contrôlée entre contextes est préférable au couplage. Avoir un CatalogProduct et un ProductRef séparés, c'est quelques lignes de code en plus mais une indépendance totale entre les modules.</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914400"/>
            <a:ext cx="9144000" cy="457200"/>
          </a:xfrm>
          <a:prstGeom prst="rect">
            <a:avLst/>
          </a:prstGeom>
          <a:noFill/>
          <a:ln/>
        </p:spPr>
        <p:txBody>
          <a:bodyPr wrap="square" rtlCol="0" anchor="ctr"/>
          <a:lstStyle/>
          <a:p>
            <a:pPr marL="0" indent="0" algn="ctr">
              <a:buNone/>
            </a:pPr>
            <a:r>
              <a:rPr lang="en-US" sz="1400" kern="0" spc="600" dirty="0">
                <a:solidFill>
                  <a:srgbClr val="1E90FF"/>
                </a:solidFill>
                <a:latin typeface="Calibri" pitchFamily="34" charset="0"/>
                <a:ea typeface="Calibri" pitchFamily="34" charset="-122"/>
                <a:cs typeface="Calibri" pitchFamily="34" charset="-120"/>
              </a:rPr>
              <a:t>LE MESSAGE CLÉ</a:t>
            </a:r>
            <a:endParaRPr lang="en-US" sz="1400" dirty="0"/>
          </a:p>
        </p:txBody>
      </p:sp>
      <p:sp>
        <p:nvSpPr>
          <p:cNvPr id="3" name="Shape 1"/>
          <p:cNvSpPr/>
          <p:nvPr/>
        </p:nvSpPr>
        <p:spPr>
          <a:xfrm>
            <a:off x="1097280" y="1645920"/>
            <a:ext cx="6949440" cy="22860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4" name="Text 2"/>
          <p:cNvSpPr/>
          <p:nvPr/>
        </p:nvSpPr>
        <p:spPr>
          <a:xfrm>
            <a:off x="1371600" y="2019748"/>
            <a:ext cx="6400800" cy="914400"/>
          </a:xfrm>
          <a:prstGeom prst="rect">
            <a:avLst/>
          </a:prstGeom>
          <a:noFill/>
          <a:ln/>
        </p:spPr>
        <p:txBody>
          <a:bodyPr wrap="square"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Le Bounded Context trace la </a:t>
            </a:r>
            <a:r>
              <a:rPr lang="en-US" sz="1600" dirty="0" err="1">
                <a:solidFill>
                  <a:srgbClr val="FFFFFF"/>
                </a:solidFill>
                <a:latin typeface="Calibri" pitchFamily="34" charset="0"/>
                <a:ea typeface="Calibri" pitchFamily="34" charset="-122"/>
                <a:cs typeface="Calibri" pitchFamily="34" charset="-120"/>
              </a:rPr>
              <a:t>frontière</a:t>
            </a:r>
            <a:r>
              <a:rPr lang="en-US" sz="1600" dirty="0">
                <a:solidFill>
                  <a:srgbClr val="FFFFFF"/>
                </a:solidFill>
                <a:latin typeface="Calibri" pitchFamily="34" charset="0"/>
                <a:ea typeface="Calibri" pitchFamily="34" charset="-122"/>
                <a:cs typeface="Calibri" pitchFamily="34" charset="-120"/>
              </a:rPr>
              <a:t>. </a:t>
            </a:r>
          </a:p>
          <a:p>
            <a:pPr marL="0" indent="0" algn="ctr">
              <a:buNone/>
            </a:pPr>
            <a:r>
              <a:rPr lang="en-US" sz="1600" dirty="0">
                <a:solidFill>
                  <a:srgbClr val="FFFFFF"/>
                </a:solidFill>
                <a:latin typeface="Calibri" pitchFamily="34" charset="0"/>
                <a:ea typeface="Calibri" pitchFamily="34" charset="-122"/>
                <a:cs typeface="Calibri" pitchFamily="34" charset="-120"/>
              </a:rPr>
              <a:t>A l'intérieur, un modèle cohérent avec un vocabulaire précis. À l'extérieur, un autre monde avec ses propres règles.</a:t>
            </a:r>
            <a:endParaRPr lang="en-US" sz="1600" dirty="0"/>
          </a:p>
        </p:txBody>
      </p:sp>
      <p:sp>
        <p:nvSpPr>
          <p:cNvPr id="5" name="Text 3"/>
          <p:cNvSpPr/>
          <p:nvPr/>
        </p:nvSpPr>
        <p:spPr>
          <a:xfrm>
            <a:off x="1371600" y="3025588"/>
            <a:ext cx="6400800" cy="548640"/>
          </a:xfrm>
          <a:prstGeom prst="rect">
            <a:avLst/>
          </a:prstGeom>
          <a:noFill/>
          <a:ln/>
        </p:spPr>
        <p:txBody>
          <a:bodyPr wrap="square" rtlCol="0" anchor="ctr"/>
          <a:lstStyle/>
          <a:p>
            <a:pPr marL="0" indent="0" algn="ctr">
              <a:buNone/>
            </a:pPr>
            <a:r>
              <a:rPr lang="en-US" sz="1400" b="1" dirty="0">
                <a:solidFill>
                  <a:srgbClr val="00BFFF"/>
                </a:solidFill>
                <a:latin typeface="Calibri" pitchFamily="34" charset="0"/>
                <a:ea typeface="Calibri" pitchFamily="34" charset="-122"/>
                <a:cs typeface="Calibri" pitchFamily="34" charset="-120"/>
              </a:rPr>
              <a:t>Les contextes communiquent par ID et par événements, jamais par références directes.</a:t>
            </a:r>
            <a:endParaRPr lang="en-US" sz="1400" dirty="0"/>
          </a:p>
        </p:txBody>
      </p:sp>
      <p:sp>
        <p:nvSpPr>
          <p:cNvPr id="6" name="Text 4"/>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1371600"/>
            <a:ext cx="9144000" cy="1097280"/>
          </a:xfrm>
          <a:prstGeom prst="rect">
            <a:avLst/>
          </a:prstGeom>
          <a:noFill/>
          <a:ln/>
        </p:spPr>
        <p:txBody>
          <a:bodyPr wrap="square" rtlCol="0" anchor="ctr"/>
          <a:lstStyle/>
          <a:p>
            <a:pPr marL="0" indent="0" algn="ctr">
              <a:buNone/>
            </a:pPr>
            <a:r>
              <a:rPr lang="en-US" sz="6000" b="1" kern="0" spc="800" dirty="0">
                <a:solidFill>
                  <a:srgbClr val="FFFFFF"/>
                </a:solidFill>
                <a:latin typeface="Calibri" pitchFamily="34" charset="0"/>
                <a:ea typeface="Calibri" pitchFamily="34" charset="-122"/>
                <a:cs typeface="Calibri" pitchFamily="34" charset="-120"/>
              </a:rPr>
              <a:t>BLOC 8</a:t>
            </a:r>
            <a:endParaRPr lang="en-US" sz="6000" dirty="0"/>
          </a:p>
        </p:txBody>
      </p:sp>
      <p:sp>
        <p:nvSpPr>
          <p:cNvPr id="3" name="Text 1"/>
          <p:cNvSpPr/>
          <p:nvPr/>
        </p:nvSpPr>
        <p:spPr>
          <a:xfrm>
            <a:off x="914400" y="2560320"/>
            <a:ext cx="7315200" cy="731520"/>
          </a:xfrm>
          <a:prstGeom prst="rect">
            <a:avLst/>
          </a:prstGeom>
          <a:noFill/>
          <a:ln/>
        </p:spPr>
        <p:txBody>
          <a:bodyPr wrap="square" rtlCol="0" anchor="ctr"/>
          <a:lstStyle/>
          <a:p>
            <a:pPr marL="0" indent="0" algn="ctr">
              <a:buNone/>
            </a:pPr>
            <a:r>
              <a:rPr lang="en-US" sz="2400" dirty="0">
                <a:solidFill>
                  <a:srgbClr val="00BFFF"/>
                </a:solidFill>
                <a:latin typeface="Calibri" pitchFamily="34" charset="0"/>
                <a:ea typeface="Calibri" pitchFamily="34" charset="-122"/>
                <a:cs typeface="Calibri" pitchFamily="34" charset="-120"/>
              </a:rPr>
              <a:t>Go / No-Go du DDD</a:t>
            </a:r>
            <a:endParaRPr lang="en-US" sz="2400" dirty="0"/>
          </a:p>
        </p:txBody>
      </p:sp>
      <p:sp>
        <p:nvSpPr>
          <p:cNvPr id="4" name="Shape 2"/>
          <p:cNvSpPr/>
          <p:nvPr/>
        </p:nvSpPr>
        <p:spPr>
          <a:xfrm>
            <a:off x="3200400" y="3474720"/>
            <a:ext cx="2743200" cy="27432"/>
          </a:xfrm>
          <a:prstGeom prst="rect">
            <a:avLst/>
          </a:prstGeom>
          <a:solidFill>
            <a:srgbClr val="1E90FF">
              <a:alpha val="60000"/>
            </a:srgbClr>
          </a:solidFill>
          <a:ln/>
        </p:spPr>
        <p:txBody>
          <a:bodyPr/>
          <a:lstStyle/>
          <a:p>
            <a:endParaRPr lang="en-US"/>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Le coût honnête</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54</a:t>
            </a:r>
            <a:endParaRPr lang="en-US" sz="900" dirty="0"/>
          </a:p>
        </p:txBody>
      </p:sp>
      <p:sp>
        <p:nvSpPr>
          <p:cNvPr id="6" name="Text 4"/>
          <p:cNvSpPr/>
          <p:nvPr/>
        </p:nvSpPr>
        <p:spPr>
          <a:xfrm>
            <a:off x="548640" y="1005840"/>
            <a:ext cx="8046720" cy="36576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Rappel des chiffres : un simple CRUD passe de ~2 fichiers à ~15 fichiers avec le DDD complet.</a:t>
            </a:r>
            <a:endParaRPr lang="en-US" sz="13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365760" y="1554480"/>
          <a:ext cx="8412480" cy="1463040"/>
        </p:xfrm>
        <a:graphic>
          <a:graphicData uri="http://schemas.openxmlformats.org/drawingml/2006/table">
            <a:tbl>
              <a:tblPr/>
              <a:tblGrid>
                <a:gridCol w="22860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Coût</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21A42"/>
                    </a:solidFill>
                  </a:tcPr>
                </a:tc>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Détail</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21A42"/>
                    </a:solidFill>
                  </a:tcPr>
                </a:tc>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Verdict</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21A42"/>
                    </a:solidFill>
                  </a:tcPr>
                </a:tc>
                <a:extLst>
                  <a:ext uri="{0D108BD9-81ED-4DB2-BD59-A6C34878D82A}">
                    <a16:rowId xmlns:a16="http://schemas.microsoft.com/office/drawing/2014/main" val="10000"/>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Fichiers</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×8 plus de fichiers pour un même scénario</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i="1" dirty="0">
                          <a:solidFill>
                            <a:srgbClr val="8B99B8"/>
                          </a:solidFill>
                          <a:latin typeface="Calibri" pitchFamily="34" charset="0"/>
                          <a:ea typeface="Calibri" pitchFamily="34" charset="-122"/>
                          <a:cs typeface="Calibri" pitchFamily="34" charset="-120"/>
                        </a:rPr>
                        <a:t>Justifié si logique métier complexe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extLst>
                  <a:ext uri="{0D108BD9-81ED-4DB2-BD59-A6C34878D82A}">
                    <a16:rowId xmlns:a16="http://schemas.microsoft.com/office/drawing/2014/main" val="10001"/>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Mémoire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VO wrappent des primitives, Mappers copient entre couches</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i="1" dirty="0">
                          <a:solidFill>
                            <a:srgbClr val="8B99B8"/>
                          </a:solidFill>
                          <a:latin typeface="Calibri" pitchFamily="34" charset="0"/>
                          <a:ea typeface="Calibri" pitchFamily="34" charset="-122"/>
                          <a:cs typeface="Calibri" pitchFamily="34" charset="-120"/>
                        </a:rPr>
                        <a:t>Négligeable sur un serveur Node.js</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extLst>
                  <a:ext uri="{0D108BD9-81ED-4DB2-BD59-A6C34878D82A}">
                    <a16:rowId xmlns:a16="http://schemas.microsoft.com/office/drawing/2014/main" val="10002"/>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Courbe d'apprentissage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L'équipe doit intégrer les patterns et conventions</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tc>
                  <a:txBody>
                    <a:bodyPr/>
                    <a:lstStyle/>
                    <a:p>
                      <a:pPr marL="0" indent="0">
                        <a:buNone/>
                      </a:pPr>
                      <a:r>
                        <a:rPr lang="en-US" sz="1100" i="1" dirty="0">
                          <a:solidFill>
                            <a:srgbClr val="8B99B8"/>
                          </a:solidFill>
                          <a:latin typeface="Calibri" pitchFamily="34" charset="0"/>
                          <a:ea typeface="Calibri" pitchFamily="34" charset="-122"/>
                          <a:cs typeface="Calibri" pitchFamily="34" charset="-120"/>
                        </a:rPr>
                        <a:t>Investissement rentable à moyen terme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0D1333"/>
                    </a:solidFill>
                  </a:tcPr>
                </a:tc>
                <a:extLst>
                  <a:ext uri="{0D108BD9-81ED-4DB2-BD59-A6C34878D82A}">
                    <a16:rowId xmlns:a16="http://schemas.microsoft.com/office/drawing/2014/main" val="10003"/>
                  </a:ext>
                </a:extLst>
              </a:tr>
              <a:tr h="0">
                <a:tc>
                  <a:txBody>
                    <a:bodyPr/>
                    <a:lstStyle/>
                    <a:p>
                      <a:pPr marL="0" indent="0">
                        <a:buNone/>
                      </a:pPr>
                      <a:r>
                        <a:rPr lang="en-US" sz="1100" b="1" dirty="0">
                          <a:solidFill>
                            <a:srgbClr val="00BFFF"/>
                          </a:solidFill>
                          <a:latin typeface="Calibri" pitchFamily="34" charset="0"/>
                          <a:ea typeface="Calibri" pitchFamily="34" charset="-122"/>
                          <a:cs typeface="Calibri" pitchFamily="34" charset="-120"/>
                        </a:rPr>
                        <a:t>Vitesse initiale</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dirty="0">
                          <a:solidFill>
                            <a:srgbClr val="E8ECF4"/>
                          </a:solidFill>
                          <a:latin typeface="Calibri" pitchFamily="34" charset="0"/>
                          <a:ea typeface="Calibri" pitchFamily="34" charset="-122"/>
                          <a:cs typeface="Calibri" pitchFamily="34" charset="-120"/>
                        </a:rPr>
                        <a:t>Plus lent au démarrage (structure à poser)</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tc>
                  <a:txBody>
                    <a:bodyPr/>
                    <a:lstStyle/>
                    <a:p>
                      <a:pPr marL="0" indent="0">
                        <a:buNone/>
                      </a:pPr>
                      <a:r>
                        <a:rPr lang="en-US" sz="1100" i="1" dirty="0">
                          <a:solidFill>
                            <a:srgbClr val="8B99B8"/>
                          </a:solidFill>
                          <a:latin typeface="Calibri" pitchFamily="34" charset="0"/>
                          <a:ea typeface="Calibri" pitchFamily="34" charset="-122"/>
                          <a:cs typeface="Calibri" pitchFamily="34" charset="-120"/>
                        </a:rPr>
                        <a:t>S'inverse après quelques sprints</a:t>
                      </a:r>
                      <a:endParaRPr lang="en-US" sz="1100" dirty="0">
                        <a:latin typeface="Calibri" charset="0"/>
                        <a:ea typeface="Calibri" charset="0"/>
                        <a:cs typeface="Calibri" charset="0"/>
                      </a:endParaRPr>
                    </a:p>
                  </a:txBody>
                  <a:tcPr>
                    <a:lnL w="6350" cap="flat" cmpd="sng" algn="ctr">
                      <a:solidFill>
                        <a:srgbClr val="1E2A5E"/>
                      </a:solidFill>
                      <a:prstDash val="solid"/>
                      <a:round/>
                      <a:headEnd type="none" w="med" len="med"/>
                      <a:tailEnd type="none" w="med" len="med"/>
                    </a:lnL>
                    <a:lnR w="6350" cap="flat" cmpd="sng" algn="ctr">
                      <a:solidFill>
                        <a:srgbClr val="1E2A5E"/>
                      </a:solidFill>
                      <a:prstDash val="solid"/>
                      <a:round/>
                      <a:headEnd type="none" w="med" len="med"/>
                      <a:tailEnd type="none" w="med" len="med"/>
                    </a:lnR>
                    <a:lnT w="6350" cap="flat" cmpd="sng" algn="ctr">
                      <a:solidFill>
                        <a:srgbClr val="1E2A5E"/>
                      </a:solidFill>
                      <a:prstDash val="solid"/>
                      <a:round/>
                      <a:headEnd type="none" w="med" len="med"/>
                      <a:tailEnd type="none" w="med" len="med"/>
                    </a:lnT>
                    <a:lnB w="6350" cap="flat" cmpd="sng" algn="ctr">
                      <a:solidFill>
                        <a:srgbClr val="1E2A5E"/>
                      </a:solidFill>
                      <a:prstDash val="solid"/>
                      <a:round/>
                      <a:headEnd type="none" w="med" len="med"/>
                      <a:tailEnd type="none" w="med" len="med"/>
                    </a:lnB>
                    <a:solidFill>
                      <a:srgbClr val="101638"/>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GO — Quand utiliser le DDD</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55</a:t>
            </a:r>
            <a:endParaRPr lang="en-US" sz="900" dirty="0"/>
          </a:p>
        </p:txBody>
      </p:sp>
      <p:sp>
        <p:nvSpPr>
          <p:cNvPr id="6" name="Shape 4"/>
          <p:cNvSpPr/>
          <p:nvPr/>
        </p:nvSpPr>
        <p:spPr>
          <a:xfrm>
            <a:off x="548640" y="1234440"/>
            <a:ext cx="228600" cy="228600"/>
          </a:xfrm>
          <a:prstGeom prst="rect">
            <a:avLst/>
          </a:prstGeom>
          <a:solidFill>
            <a:srgbClr val="22C55E"/>
          </a:solidFill>
          <a:ln/>
        </p:spPr>
        <p:txBody>
          <a:bodyPr/>
          <a:lstStyle/>
          <a:p>
            <a:endParaRPr lang="en-US"/>
          </a:p>
        </p:txBody>
      </p:sp>
      <p:sp>
        <p:nvSpPr>
          <p:cNvPr id="7" name="Text 5"/>
          <p:cNvSpPr/>
          <p:nvPr/>
        </p:nvSpPr>
        <p:spPr>
          <a:xfrm>
            <a:off x="960120" y="1097280"/>
            <a:ext cx="7635240" cy="5029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Logique métier complexe avec des règles, des conditions, des calculs croisés</a:t>
            </a:r>
            <a:endParaRPr lang="en-US" sz="1300" dirty="0"/>
          </a:p>
        </p:txBody>
      </p:sp>
      <p:sp>
        <p:nvSpPr>
          <p:cNvPr id="8" name="Shape 6"/>
          <p:cNvSpPr/>
          <p:nvPr/>
        </p:nvSpPr>
        <p:spPr>
          <a:xfrm>
            <a:off x="548640" y="1828800"/>
            <a:ext cx="228600" cy="228600"/>
          </a:xfrm>
          <a:prstGeom prst="rect">
            <a:avLst/>
          </a:prstGeom>
          <a:solidFill>
            <a:srgbClr val="22C55E"/>
          </a:solidFill>
          <a:ln/>
        </p:spPr>
        <p:txBody>
          <a:bodyPr/>
          <a:lstStyle/>
          <a:p>
            <a:endParaRPr lang="en-US"/>
          </a:p>
        </p:txBody>
      </p:sp>
      <p:sp>
        <p:nvSpPr>
          <p:cNvPr id="9" name="Text 7"/>
          <p:cNvSpPr/>
          <p:nvPr/>
        </p:nvSpPr>
        <p:spPr>
          <a:xfrm>
            <a:off x="960120" y="1691640"/>
            <a:ext cx="7635240" cy="5029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Le domaine évolue souvent (nouvelles règles, changement de comportement)</a:t>
            </a:r>
            <a:endParaRPr lang="en-US" sz="1300" dirty="0"/>
          </a:p>
        </p:txBody>
      </p:sp>
      <p:sp>
        <p:nvSpPr>
          <p:cNvPr id="10" name="Shape 8"/>
          <p:cNvSpPr/>
          <p:nvPr/>
        </p:nvSpPr>
        <p:spPr>
          <a:xfrm>
            <a:off x="548640" y="2423160"/>
            <a:ext cx="228600" cy="228600"/>
          </a:xfrm>
          <a:prstGeom prst="rect">
            <a:avLst/>
          </a:prstGeom>
          <a:solidFill>
            <a:srgbClr val="22C55E"/>
          </a:solidFill>
          <a:ln/>
        </p:spPr>
        <p:txBody>
          <a:bodyPr/>
          <a:lstStyle/>
          <a:p>
            <a:endParaRPr lang="en-US"/>
          </a:p>
        </p:txBody>
      </p:sp>
      <p:sp>
        <p:nvSpPr>
          <p:cNvPr id="11" name="Text 9"/>
          <p:cNvSpPr/>
          <p:nvPr/>
        </p:nvSpPr>
        <p:spPr>
          <a:xfrm>
            <a:off x="960120" y="2286000"/>
            <a:ext cx="7635240" cy="5029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Application critique où les bugs métier ont un coût élevé (fintech, santé, juridique)</a:t>
            </a:r>
            <a:endParaRPr lang="en-US" sz="1300" dirty="0"/>
          </a:p>
        </p:txBody>
      </p:sp>
      <p:sp>
        <p:nvSpPr>
          <p:cNvPr id="12" name="Shape 10"/>
          <p:cNvSpPr/>
          <p:nvPr/>
        </p:nvSpPr>
        <p:spPr>
          <a:xfrm>
            <a:off x="548640" y="3017520"/>
            <a:ext cx="228600" cy="228600"/>
          </a:xfrm>
          <a:prstGeom prst="rect">
            <a:avLst/>
          </a:prstGeom>
          <a:solidFill>
            <a:srgbClr val="22C55E"/>
          </a:solidFill>
          <a:ln/>
        </p:spPr>
        <p:txBody>
          <a:bodyPr/>
          <a:lstStyle/>
          <a:p>
            <a:endParaRPr lang="en-US"/>
          </a:p>
        </p:txBody>
      </p:sp>
      <p:sp>
        <p:nvSpPr>
          <p:cNvPr id="13" name="Text 11"/>
          <p:cNvSpPr/>
          <p:nvPr/>
        </p:nvSpPr>
        <p:spPr>
          <a:xfrm>
            <a:off x="960120" y="2880360"/>
            <a:ext cx="7635240" cy="5029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Plusieurs développeurs travaillent en parallèle sur le même domaine</a:t>
            </a:r>
            <a:endParaRPr lang="en-US" sz="1300" dirty="0"/>
          </a:p>
        </p:txBody>
      </p:sp>
      <p:sp>
        <p:nvSpPr>
          <p:cNvPr id="14" name="Shape 12"/>
          <p:cNvSpPr/>
          <p:nvPr/>
        </p:nvSpPr>
        <p:spPr>
          <a:xfrm>
            <a:off x="548640" y="3611880"/>
            <a:ext cx="228600" cy="228600"/>
          </a:xfrm>
          <a:prstGeom prst="rect">
            <a:avLst/>
          </a:prstGeom>
          <a:solidFill>
            <a:srgbClr val="22C55E"/>
          </a:solidFill>
          <a:ln/>
        </p:spPr>
        <p:txBody>
          <a:bodyPr/>
          <a:lstStyle/>
          <a:p>
            <a:endParaRPr lang="en-US"/>
          </a:p>
        </p:txBody>
      </p:sp>
      <p:sp>
        <p:nvSpPr>
          <p:cNvPr id="15" name="Text 13"/>
          <p:cNvSpPr/>
          <p:nvPr/>
        </p:nvSpPr>
        <p:spPr>
          <a:xfrm>
            <a:off x="960120" y="3474720"/>
            <a:ext cx="7635240" cy="5029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Besoin de tests unitaires solides et rapides</a:t>
            </a:r>
            <a:endParaRPr lang="en-US" sz="1300" dirty="0"/>
          </a:p>
        </p:txBody>
      </p:sp>
      <p:sp>
        <p:nvSpPr>
          <p:cNvPr id="16" name="Shape 14"/>
          <p:cNvSpPr/>
          <p:nvPr/>
        </p:nvSpPr>
        <p:spPr>
          <a:xfrm>
            <a:off x="548640" y="4206240"/>
            <a:ext cx="228600" cy="228600"/>
          </a:xfrm>
          <a:prstGeom prst="rect">
            <a:avLst/>
          </a:prstGeom>
          <a:solidFill>
            <a:srgbClr val="22C55E"/>
          </a:solidFill>
          <a:ln/>
        </p:spPr>
        <p:txBody>
          <a:bodyPr/>
          <a:lstStyle/>
          <a:p>
            <a:endParaRPr lang="en-US"/>
          </a:p>
        </p:txBody>
      </p:sp>
      <p:sp>
        <p:nvSpPr>
          <p:cNvPr id="17" name="Text 15"/>
          <p:cNvSpPr/>
          <p:nvPr/>
        </p:nvSpPr>
        <p:spPr>
          <a:xfrm>
            <a:off x="960120" y="4069080"/>
            <a:ext cx="7635240" cy="5029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Le projet va vivre longtemps (2+ ans)</a:t>
            </a:r>
            <a:endParaRPr lang="en-US" sz="1300" dirty="0"/>
          </a:p>
        </p:txBody>
      </p:sp>
      <p:sp>
        <p:nvSpPr>
          <p:cNvPr id="18" name="Text 16"/>
          <p:cNvSpPr/>
          <p:nvPr/>
        </p:nvSpPr>
        <p:spPr>
          <a:xfrm>
            <a:off x="548640" y="4663440"/>
            <a:ext cx="8046720" cy="274320"/>
          </a:xfrm>
          <a:prstGeom prst="rect">
            <a:avLst/>
          </a:prstGeom>
          <a:noFill/>
          <a:ln/>
        </p:spPr>
        <p:txBody>
          <a:bodyPr wrap="square" rtlCol="0" anchor="ctr"/>
          <a:lstStyle/>
          <a:p>
            <a:pPr marL="0" indent="0">
              <a:buNone/>
            </a:pPr>
            <a:r>
              <a:rPr lang="en-US" sz="1100" i="1" dirty="0">
                <a:solidFill>
                  <a:srgbClr val="8B99B8"/>
                </a:solidFill>
                <a:latin typeface="Calibri" pitchFamily="34" charset="0"/>
                <a:ea typeface="Calibri" pitchFamily="34" charset="-122"/>
                <a:cs typeface="Calibri" pitchFamily="34" charset="-120"/>
              </a:rPr>
              <a:t>Exemples concrets : système de paiement, moteur de tarification, workflow d'approbation, facturation avec TVA/avoirs, gestion de risques.</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NO-GO — Quand éviter le DDD</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56</a:t>
            </a:r>
            <a:endParaRPr lang="en-US" sz="900" dirty="0"/>
          </a:p>
        </p:txBody>
      </p:sp>
      <p:sp>
        <p:nvSpPr>
          <p:cNvPr id="6" name="Shape 4"/>
          <p:cNvSpPr/>
          <p:nvPr/>
        </p:nvSpPr>
        <p:spPr>
          <a:xfrm>
            <a:off x="548640" y="1234440"/>
            <a:ext cx="228600" cy="228600"/>
          </a:xfrm>
          <a:prstGeom prst="rect">
            <a:avLst/>
          </a:prstGeom>
          <a:solidFill>
            <a:srgbClr val="EF4444"/>
          </a:solidFill>
          <a:ln/>
        </p:spPr>
        <p:txBody>
          <a:bodyPr/>
          <a:lstStyle/>
          <a:p>
            <a:endParaRPr lang="en-US"/>
          </a:p>
        </p:txBody>
      </p:sp>
      <p:sp>
        <p:nvSpPr>
          <p:cNvPr id="7" name="Text 5"/>
          <p:cNvSpPr/>
          <p:nvPr/>
        </p:nvSpPr>
        <p:spPr>
          <a:xfrm>
            <a:off x="960120" y="1097280"/>
            <a:ext cx="7635240" cy="5029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Simple CRUD sans logique métier (créer, lire, modifier, supprimer)</a:t>
            </a:r>
            <a:endParaRPr lang="en-US" sz="1300" dirty="0"/>
          </a:p>
        </p:txBody>
      </p:sp>
      <p:sp>
        <p:nvSpPr>
          <p:cNvPr id="8" name="Shape 6"/>
          <p:cNvSpPr/>
          <p:nvPr/>
        </p:nvSpPr>
        <p:spPr>
          <a:xfrm>
            <a:off x="548640" y="1828800"/>
            <a:ext cx="228600" cy="228600"/>
          </a:xfrm>
          <a:prstGeom prst="rect">
            <a:avLst/>
          </a:prstGeom>
          <a:solidFill>
            <a:srgbClr val="EF4444"/>
          </a:solidFill>
          <a:ln/>
        </p:spPr>
        <p:txBody>
          <a:bodyPr/>
          <a:lstStyle/>
          <a:p>
            <a:endParaRPr lang="en-US"/>
          </a:p>
        </p:txBody>
      </p:sp>
      <p:sp>
        <p:nvSpPr>
          <p:cNvPr id="9" name="Text 7"/>
          <p:cNvSpPr/>
          <p:nvPr/>
        </p:nvSpPr>
        <p:spPr>
          <a:xfrm>
            <a:off x="960120" y="1691640"/>
            <a:ext cx="7635240" cy="5029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Prototype ou MVP à valider rapidement</a:t>
            </a:r>
            <a:endParaRPr lang="en-US" sz="1300" dirty="0"/>
          </a:p>
        </p:txBody>
      </p:sp>
      <p:sp>
        <p:nvSpPr>
          <p:cNvPr id="10" name="Shape 8"/>
          <p:cNvSpPr/>
          <p:nvPr/>
        </p:nvSpPr>
        <p:spPr>
          <a:xfrm>
            <a:off x="548640" y="2423160"/>
            <a:ext cx="228600" cy="228600"/>
          </a:xfrm>
          <a:prstGeom prst="rect">
            <a:avLst/>
          </a:prstGeom>
          <a:solidFill>
            <a:srgbClr val="EF4444"/>
          </a:solidFill>
          <a:ln/>
        </p:spPr>
        <p:txBody>
          <a:bodyPr/>
          <a:lstStyle/>
          <a:p>
            <a:endParaRPr lang="en-US"/>
          </a:p>
        </p:txBody>
      </p:sp>
      <p:sp>
        <p:nvSpPr>
          <p:cNvPr id="11" name="Text 9"/>
          <p:cNvSpPr/>
          <p:nvPr/>
        </p:nvSpPr>
        <p:spPr>
          <a:xfrm>
            <a:off x="960120" y="2286000"/>
            <a:ext cx="7635240" cy="5029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Microservice de lecture seule (pas de mutation → pas besoin d'aggregates)</a:t>
            </a:r>
            <a:endParaRPr lang="en-US" sz="1300" dirty="0"/>
          </a:p>
        </p:txBody>
      </p:sp>
      <p:sp>
        <p:nvSpPr>
          <p:cNvPr id="12" name="Shape 10"/>
          <p:cNvSpPr/>
          <p:nvPr/>
        </p:nvSpPr>
        <p:spPr>
          <a:xfrm>
            <a:off x="548640" y="3017520"/>
            <a:ext cx="228600" cy="228600"/>
          </a:xfrm>
          <a:prstGeom prst="rect">
            <a:avLst/>
          </a:prstGeom>
          <a:solidFill>
            <a:srgbClr val="EF4444"/>
          </a:solidFill>
          <a:ln/>
        </p:spPr>
        <p:txBody>
          <a:bodyPr/>
          <a:lstStyle/>
          <a:p>
            <a:endParaRPr lang="en-US"/>
          </a:p>
        </p:txBody>
      </p:sp>
      <p:sp>
        <p:nvSpPr>
          <p:cNvPr id="13" name="Text 11"/>
          <p:cNvSpPr/>
          <p:nvPr/>
        </p:nvSpPr>
        <p:spPr>
          <a:xfrm>
            <a:off x="960120" y="2880360"/>
            <a:ext cx="7635240" cy="5029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Script ou outil interne jetable (durée de vie courte)</a:t>
            </a:r>
            <a:endParaRPr lang="en-US" sz="1300" dirty="0"/>
          </a:p>
        </p:txBody>
      </p:sp>
      <p:sp>
        <p:nvSpPr>
          <p:cNvPr id="14" name="Shape 12"/>
          <p:cNvSpPr/>
          <p:nvPr/>
        </p:nvSpPr>
        <p:spPr>
          <a:xfrm>
            <a:off x="548640" y="3611880"/>
            <a:ext cx="228600" cy="228600"/>
          </a:xfrm>
          <a:prstGeom prst="rect">
            <a:avLst/>
          </a:prstGeom>
          <a:solidFill>
            <a:srgbClr val="EF4444"/>
          </a:solidFill>
          <a:ln/>
        </p:spPr>
        <p:txBody>
          <a:bodyPr/>
          <a:lstStyle/>
          <a:p>
            <a:endParaRPr lang="en-US"/>
          </a:p>
        </p:txBody>
      </p:sp>
      <p:sp>
        <p:nvSpPr>
          <p:cNvPr id="15" name="Text 13"/>
          <p:cNvSpPr/>
          <p:nvPr/>
        </p:nvSpPr>
        <p:spPr>
          <a:xfrm>
            <a:off x="960120" y="3474720"/>
            <a:ext cx="7635240" cy="502920"/>
          </a:xfrm>
          <a:prstGeom prst="rect">
            <a:avLst/>
          </a:prstGeom>
          <a:noFill/>
          <a:ln/>
        </p:spPr>
        <p:txBody>
          <a:bodyPr wrap="square" rtlCol="0" anchor="ctr"/>
          <a:lstStyle/>
          <a:p>
            <a:pPr marL="0" indent="0">
              <a:buNone/>
            </a:pPr>
            <a:r>
              <a:rPr lang="en-US" sz="1300" dirty="0">
                <a:solidFill>
                  <a:srgbClr val="EF4344"/>
                </a:solidFill>
                <a:latin typeface="Calibri" pitchFamily="34" charset="0"/>
                <a:ea typeface="Calibri" pitchFamily="34" charset="-122"/>
                <a:cs typeface="Calibri" pitchFamily="34" charset="-120"/>
              </a:rPr>
              <a:t>Équipe junior sans accompagnement (le DDD mal compris fait plus de mal que de bien)</a:t>
            </a:r>
            <a:endParaRPr lang="en-US" sz="1300" dirty="0">
              <a:solidFill>
                <a:srgbClr val="EF4344"/>
              </a:solidFill>
            </a:endParaRPr>
          </a:p>
        </p:txBody>
      </p:sp>
      <p:sp>
        <p:nvSpPr>
          <p:cNvPr id="16" name="Shape 14"/>
          <p:cNvSpPr/>
          <p:nvPr/>
        </p:nvSpPr>
        <p:spPr>
          <a:xfrm>
            <a:off x="548640" y="4206240"/>
            <a:ext cx="228600" cy="228600"/>
          </a:xfrm>
          <a:prstGeom prst="rect">
            <a:avLst/>
          </a:prstGeom>
          <a:solidFill>
            <a:srgbClr val="EF4444"/>
          </a:solidFill>
          <a:ln/>
        </p:spPr>
        <p:txBody>
          <a:bodyPr/>
          <a:lstStyle/>
          <a:p>
            <a:endParaRPr lang="en-US"/>
          </a:p>
        </p:txBody>
      </p:sp>
      <p:sp>
        <p:nvSpPr>
          <p:cNvPr id="17" name="Text 15"/>
          <p:cNvSpPr/>
          <p:nvPr/>
        </p:nvSpPr>
        <p:spPr>
          <a:xfrm>
            <a:off x="960120" y="4069080"/>
            <a:ext cx="7635240" cy="502920"/>
          </a:xfrm>
          <a:prstGeom prst="rect">
            <a:avLst/>
          </a:prstGeom>
          <a:noFill/>
          <a:ln/>
        </p:spPr>
        <p:txBody>
          <a:bodyPr wrap="square" rtlCol="0" anchor="ctr"/>
          <a:lstStyle/>
          <a:p>
            <a:pPr marL="0" indent="0">
              <a:buNone/>
            </a:pPr>
            <a:r>
              <a:rPr lang="en-US" sz="1300" dirty="0">
                <a:solidFill>
                  <a:srgbClr val="E8ECF4"/>
                </a:solidFill>
                <a:latin typeface="Calibri" pitchFamily="34" charset="0"/>
                <a:ea typeface="Calibri" pitchFamily="34" charset="-122"/>
                <a:cs typeface="Calibri" pitchFamily="34" charset="-120"/>
              </a:rPr>
              <a:t>Deadline serrée sans possibilité de refactorer ensuite</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18288"/>
          </a:xfrm>
          <a:prstGeom prst="rect">
            <a:avLst/>
          </a:prstGeom>
          <a:solidFill>
            <a:srgbClr val="1E90FF"/>
          </a:solidFill>
          <a:ln/>
        </p:spPr>
        <p:txBody>
          <a:bodyPr/>
          <a:lstStyle/>
          <a:p>
            <a:endParaRPr lang="en-US"/>
          </a:p>
        </p:txBody>
      </p:sp>
      <p:sp>
        <p:nvSpPr>
          <p:cNvPr id="3" name="Shape 1"/>
          <p:cNvSpPr/>
          <p:nvPr/>
        </p:nvSpPr>
        <p:spPr>
          <a:xfrm>
            <a:off x="0" y="18288"/>
            <a:ext cx="9144000" cy="36576"/>
          </a:xfrm>
          <a:prstGeom prst="rect">
            <a:avLst/>
          </a:prstGeom>
          <a:solidFill>
            <a:srgbClr val="2563EB">
              <a:alpha val="30000"/>
            </a:srgbClr>
          </a:solidFill>
          <a:ln/>
        </p:spPr>
        <p:txBody>
          <a:bodyPr/>
          <a:lstStyle/>
          <a:p>
            <a:endParaRPr lang="en-US"/>
          </a:p>
        </p:txBody>
      </p:sp>
      <p:sp>
        <p:nvSpPr>
          <p:cNvPr id="4" name="Text 2"/>
          <p:cNvSpPr/>
          <p:nvPr/>
        </p:nvSpPr>
        <p:spPr>
          <a:xfrm>
            <a:off x="548640" y="27432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L'approche pragmatique : le DDD sélectif</a:t>
            </a:r>
            <a:endParaRPr lang="en-US" sz="2800" dirty="0"/>
          </a:p>
        </p:txBody>
      </p:sp>
      <p:sp>
        <p:nvSpPr>
          <p:cNvPr id="5" name="Text 3"/>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57</a:t>
            </a:r>
            <a:endParaRPr lang="en-US" sz="900" dirty="0"/>
          </a:p>
        </p:txBody>
      </p:sp>
      <p:sp>
        <p:nvSpPr>
          <p:cNvPr id="6" name="Text 4"/>
          <p:cNvSpPr/>
          <p:nvPr/>
        </p:nvSpPr>
        <p:spPr>
          <a:xfrm>
            <a:off x="548640" y="1005840"/>
            <a:ext cx="8046720" cy="548640"/>
          </a:xfrm>
          <a:prstGeom prst="rect">
            <a:avLst/>
          </a:prstGeom>
          <a:noFill/>
          <a:ln/>
        </p:spPr>
        <p:txBody>
          <a:bodyPr wrap="square" rtlCol="0" anchor="ctr"/>
          <a:lstStyle/>
          <a:p>
            <a:pPr marL="0" indent="0">
              <a:buNone/>
            </a:pPr>
            <a:r>
              <a:rPr lang="en-US" sz="1400" dirty="0">
                <a:solidFill>
                  <a:srgbClr val="E8ECF4"/>
                </a:solidFill>
                <a:latin typeface="Calibri" pitchFamily="34" charset="0"/>
                <a:ea typeface="Calibri" pitchFamily="34" charset="-122"/>
                <a:cs typeface="Calibri" pitchFamily="34" charset="-120"/>
              </a:rPr>
              <a:t>On n'est pas obligé de mettre du DDD partout. Dans un projet, certains modules sont des CRUD simples et d'autres ont une logique métier riche.</a:t>
            </a:r>
            <a:endParaRPr lang="en-US" sz="1400" dirty="0"/>
          </a:p>
        </p:txBody>
      </p:sp>
      <p:sp>
        <p:nvSpPr>
          <p:cNvPr id="7" name="Shape 5"/>
          <p:cNvSpPr/>
          <p:nvPr/>
        </p:nvSpPr>
        <p:spPr>
          <a:xfrm>
            <a:off x="548640" y="1737360"/>
            <a:ext cx="8046720" cy="109728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8" name="Text 6"/>
          <p:cNvSpPr/>
          <p:nvPr/>
        </p:nvSpPr>
        <p:spPr>
          <a:xfrm>
            <a:off x="822960" y="1828800"/>
            <a:ext cx="7498080" cy="914400"/>
          </a:xfrm>
          <a:prstGeom prst="rect">
            <a:avLst/>
          </a:prstGeom>
          <a:noFill/>
          <a:ln/>
        </p:spPr>
        <p:txBody>
          <a:bodyPr wrap="square" rtlCol="0" anchor="ctr"/>
          <a:lstStyle/>
          <a:p>
            <a:pPr marL="0" indent="0">
              <a:buNone/>
            </a:pPr>
            <a:r>
              <a:rPr lang="en-US" sz="1500" b="1" dirty="0">
                <a:solidFill>
                  <a:srgbClr val="00BFFF"/>
                </a:solidFill>
                <a:latin typeface="Calibri" pitchFamily="34" charset="0"/>
                <a:ea typeface="Calibri" pitchFamily="34" charset="-122"/>
                <a:cs typeface="Calibri" pitchFamily="34" charset="-120"/>
              </a:rPr>
              <a:t>La règle : </a:t>
            </a:r>
            <a:r>
              <a:rPr lang="en-US" sz="1500" dirty="0">
                <a:solidFill>
                  <a:srgbClr val="E8ECF4"/>
                </a:solidFill>
                <a:latin typeface="Calibri" pitchFamily="34" charset="0"/>
                <a:ea typeface="Calibri" pitchFamily="34" charset="-122"/>
                <a:cs typeface="Calibri" pitchFamily="34" charset="-120"/>
              </a:rPr>
              <a:t>identifier les modules avec une vraie logique métier et appliquer le DDD uniquement sur ceux-là.</a:t>
            </a:r>
            <a:endParaRPr lang="en-US" sz="1500" dirty="0"/>
          </a:p>
          <a:p>
            <a:pPr marL="0" indent="0">
              <a:buNone/>
            </a:pPr>
            <a:endParaRPr lang="en-US" sz="1500" dirty="0"/>
          </a:p>
          <a:p>
            <a:pPr marL="0" indent="0">
              <a:buNone/>
            </a:pPr>
            <a:r>
              <a:rPr lang="en-US" sz="1500" b="1" dirty="0">
                <a:solidFill>
                  <a:srgbClr val="FFFFFF"/>
                </a:solidFill>
                <a:latin typeface="Calibri" pitchFamily="34" charset="0"/>
                <a:ea typeface="Calibri" pitchFamily="34" charset="-122"/>
                <a:cs typeface="Calibri" pitchFamily="34" charset="-120"/>
              </a:rPr>
              <a:t>Le reste reste en CRUD classique !!!</a:t>
            </a:r>
            <a:endParaRPr lang="en-US" sz="1500" dirty="0"/>
          </a:p>
        </p:txBody>
      </p:sp>
      <p:sp>
        <p:nvSpPr>
          <p:cNvPr id="9" name="Shape 7"/>
          <p:cNvSpPr/>
          <p:nvPr/>
        </p:nvSpPr>
        <p:spPr>
          <a:xfrm>
            <a:off x="548640" y="3108960"/>
            <a:ext cx="3840480" cy="13716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0" name="Shape 8"/>
          <p:cNvSpPr/>
          <p:nvPr/>
        </p:nvSpPr>
        <p:spPr>
          <a:xfrm>
            <a:off x="548640" y="3108960"/>
            <a:ext cx="3840480" cy="365760"/>
          </a:xfrm>
          <a:prstGeom prst="rect">
            <a:avLst/>
          </a:prstGeom>
          <a:solidFill>
            <a:srgbClr val="22C55E">
              <a:alpha val="40000"/>
            </a:srgbClr>
          </a:solidFill>
          <a:ln/>
        </p:spPr>
        <p:txBody>
          <a:bodyPr/>
          <a:lstStyle/>
          <a:p>
            <a:endParaRPr lang="en-US"/>
          </a:p>
        </p:txBody>
      </p:sp>
      <p:sp>
        <p:nvSpPr>
          <p:cNvPr id="11" name="Text 9"/>
          <p:cNvSpPr/>
          <p:nvPr/>
        </p:nvSpPr>
        <p:spPr>
          <a:xfrm>
            <a:off x="731520" y="3127248"/>
            <a:ext cx="347472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DDD</a:t>
            </a:r>
            <a:endParaRPr lang="en-US" sz="1200" dirty="0"/>
          </a:p>
        </p:txBody>
      </p:sp>
      <p:sp>
        <p:nvSpPr>
          <p:cNvPr id="12" name="Text 10"/>
          <p:cNvSpPr/>
          <p:nvPr/>
        </p:nvSpPr>
        <p:spPr>
          <a:xfrm>
            <a:off x="731520" y="3566160"/>
            <a:ext cx="3474720" cy="822960"/>
          </a:xfrm>
          <a:prstGeom prst="rect">
            <a:avLst/>
          </a:prstGeom>
          <a:noFill/>
          <a:ln/>
        </p:spPr>
        <p:txBody>
          <a:bodyPr wrap="square" rtlCol="0" anchor="ctr"/>
          <a:lstStyle/>
          <a:p>
            <a:pPr marL="0" indent="0">
              <a:buNone/>
            </a:pPr>
            <a:r>
              <a:rPr lang="en-US" sz="1200" dirty="0">
                <a:solidFill>
                  <a:srgbClr val="E8ECF4"/>
                </a:solidFill>
                <a:latin typeface="Calibri" pitchFamily="34" charset="0"/>
                <a:ea typeface="Calibri" pitchFamily="34" charset="-122"/>
                <a:cs typeface="Calibri" pitchFamily="34" charset="-120"/>
              </a:rPr>
              <a:t>Modules avec logique métier riche</a:t>
            </a:r>
            <a:endParaRPr lang="en-US" sz="1200" dirty="0"/>
          </a:p>
          <a:p>
            <a:pPr marL="0" indent="0">
              <a:buNone/>
            </a:pPr>
            <a:r>
              <a:rPr lang="en-US" sz="1200" dirty="0">
                <a:solidFill>
                  <a:srgbClr val="E8ECF4"/>
                </a:solidFill>
                <a:latin typeface="Calibri" pitchFamily="34" charset="0"/>
                <a:ea typeface="Calibri" pitchFamily="34" charset="-122"/>
                <a:cs typeface="Calibri" pitchFamily="34" charset="-120"/>
              </a:rPr>
              <a:t>(paiement, tarification, workflow)</a:t>
            </a:r>
            <a:endParaRPr lang="en-US" sz="1200" dirty="0"/>
          </a:p>
        </p:txBody>
      </p:sp>
      <p:sp>
        <p:nvSpPr>
          <p:cNvPr id="13" name="Shape 11"/>
          <p:cNvSpPr/>
          <p:nvPr/>
        </p:nvSpPr>
        <p:spPr>
          <a:xfrm>
            <a:off x="4754880" y="3108960"/>
            <a:ext cx="3840480" cy="13716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14" name="Shape 12"/>
          <p:cNvSpPr/>
          <p:nvPr/>
        </p:nvSpPr>
        <p:spPr>
          <a:xfrm>
            <a:off x="4754880" y="3108960"/>
            <a:ext cx="3840480" cy="365760"/>
          </a:xfrm>
          <a:prstGeom prst="rect">
            <a:avLst/>
          </a:prstGeom>
          <a:solidFill>
            <a:srgbClr val="8B99B8">
              <a:alpha val="40000"/>
            </a:srgbClr>
          </a:solidFill>
          <a:ln/>
        </p:spPr>
        <p:txBody>
          <a:bodyPr/>
          <a:lstStyle/>
          <a:p>
            <a:endParaRPr lang="en-US">
              <a:solidFill>
                <a:schemeClr val="accent2"/>
              </a:solidFill>
            </a:endParaRPr>
          </a:p>
        </p:txBody>
      </p:sp>
      <p:sp>
        <p:nvSpPr>
          <p:cNvPr id="15" name="Text 13"/>
          <p:cNvSpPr/>
          <p:nvPr/>
        </p:nvSpPr>
        <p:spPr>
          <a:xfrm>
            <a:off x="4937760" y="3127248"/>
            <a:ext cx="347472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CRUD</a:t>
            </a:r>
            <a:endParaRPr lang="en-US" sz="1200" dirty="0"/>
          </a:p>
        </p:txBody>
      </p:sp>
      <p:sp>
        <p:nvSpPr>
          <p:cNvPr id="16" name="Text 14"/>
          <p:cNvSpPr/>
          <p:nvPr/>
        </p:nvSpPr>
        <p:spPr>
          <a:xfrm>
            <a:off x="4937760" y="3566160"/>
            <a:ext cx="3474720" cy="822960"/>
          </a:xfrm>
          <a:prstGeom prst="rect">
            <a:avLst/>
          </a:prstGeom>
          <a:noFill/>
          <a:ln/>
        </p:spPr>
        <p:txBody>
          <a:bodyPr wrap="square" rtlCol="0" anchor="ctr"/>
          <a:lstStyle/>
          <a:p>
            <a:pPr marL="0" indent="0">
              <a:buNone/>
            </a:pPr>
            <a:r>
              <a:rPr lang="en-US" sz="1200" dirty="0">
                <a:solidFill>
                  <a:srgbClr val="E8ECF4"/>
                </a:solidFill>
                <a:latin typeface="Calibri" pitchFamily="34" charset="0"/>
                <a:ea typeface="Calibri" pitchFamily="34" charset="-122"/>
                <a:cs typeface="Calibri" pitchFamily="34" charset="-120"/>
              </a:rPr>
              <a:t>Modules simples sans logique</a:t>
            </a:r>
            <a:endParaRPr lang="en-US" sz="1200" dirty="0"/>
          </a:p>
          <a:p>
            <a:pPr marL="0" indent="0">
              <a:buNone/>
            </a:pPr>
            <a:r>
              <a:rPr lang="en-US" sz="1200" dirty="0">
                <a:solidFill>
                  <a:srgbClr val="E8ECF4"/>
                </a:solidFill>
                <a:latin typeface="Calibri" pitchFamily="34" charset="0"/>
                <a:ea typeface="Calibri" pitchFamily="34" charset="-122"/>
                <a:cs typeface="Calibri" pitchFamily="34" charset="-120"/>
              </a:rPr>
              <a:t>(paramètres, logs, notifications)</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914400"/>
            <a:ext cx="9144000" cy="457200"/>
          </a:xfrm>
          <a:prstGeom prst="rect">
            <a:avLst/>
          </a:prstGeom>
          <a:noFill/>
          <a:ln/>
        </p:spPr>
        <p:txBody>
          <a:bodyPr wrap="square" rtlCol="0" anchor="ctr"/>
          <a:lstStyle/>
          <a:p>
            <a:pPr marL="0" indent="0" algn="ctr">
              <a:buNone/>
            </a:pPr>
            <a:r>
              <a:rPr lang="en-US" sz="1400" kern="0" spc="600" dirty="0">
                <a:solidFill>
                  <a:srgbClr val="1E90FF"/>
                </a:solidFill>
                <a:latin typeface="Calibri" pitchFamily="34" charset="0"/>
                <a:ea typeface="Calibri" pitchFamily="34" charset="-122"/>
                <a:cs typeface="Calibri" pitchFamily="34" charset="-120"/>
              </a:rPr>
              <a:t>LE MESSAGE CLÉ</a:t>
            </a:r>
            <a:endParaRPr lang="en-US" sz="1400" dirty="0"/>
          </a:p>
        </p:txBody>
      </p:sp>
      <p:sp>
        <p:nvSpPr>
          <p:cNvPr id="3" name="Shape 1"/>
          <p:cNvSpPr/>
          <p:nvPr/>
        </p:nvSpPr>
        <p:spPr>
          <a:xfrm>
            <a:off x="1097280" y="1645920"/>
            <a:ext cx="6949440" cy="2286000"/>
          </a:xfrm>
          <a:prstGeom prst="rect">
            <a:avLst/>
          </a:prstGeom>
          <a:solidFill>
            <a:srgbClr val="0D1333"/>
          </a:solidFill>
          <a:ln w="6350">
            <a:solidFill>
              <a:srgbClr val="1E3A6E"/>
            </a:solidFill>
            <a:prstDash val="solid"/>
          </a:ln>
          <a:effectLst>
            <a:outerShdw blurRad="101600" dist="38100" dir="8100000" algn="bl" rotWithShape="0">
              <a:srgbClr val="000000">
                <a:alpha val="40000"/>
              </a:srgbClr>
            </a:outerShdw>
          </a:effectLst>
        </p:spPr>
        <p:txBody>
          <a:bodyPr/>
          <a:lstStyle/>
          <a:p>
            <a:endParaRPr lang="en-US"/>
          </a:p>
        </p:txBody>
      </p:sp>
      <p:sp>
        <p:nvSpPr>
          <p:cNvPr id="4" name="Text 2"/>
          <p:cNvSpPr/>
          <p:nvPr/>
        </p:nvSpPr>
        <p:spPr>
          <a:xfrm>
            <a:off x="1371600" y="1737360"/>
            <a:ext cx="6400800" cy="73152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Le DDD n'est pas une religion.</a:t>
            </a:r>
            <a:endParaRPr lang="en-US" sz="2800" dirty="0"/>
          </a:p>
        </p:txBody>
      </p:sp>
      <p:sp>
        <p:nvSpPr>
          <p:cNvPr id="5" name="Text 3"/>
          <p:cNvSpPr/>
          <p:nvPr/>
        </p:nvSpPr>
        <p:spPr>
          <a:xfrm>
            <a:off x="1371600" y="2560320"/>
            <a:ext cx="6400800" cy="731520"/>
          </a:xfrm>
          <a:prstGeom prst="rect">
            <a:avLst/>
          </a:prstGeom>
          <a:noFill/>
          <a:ln/>
        </p:spPr>
        <p:txBody>
          <a:bodyPr wrap="square" rtlCol="0" anchor="ctr"/>
          <a:lstStyle/>
          <a:p>
            <a:pPr marL="0" indent="0" algn="ctr">
              <a:buNone/>
            </a:pPr>
            <a:r>
              <a:rPr lang="en-US" sz="1800" dirty="0">
                <a:solidFill>
                  <a:srgbClr val="00BFFF"/>
                </a:solidFill>
                <a:latin typeface="Calibri" pitchFamily="34" charset="0"/>
                <a:ea typeface="Calibri" pitchFamily="34" charset="-122"/>
                <a:cs typeface="Calibri" pitchFamily="34" charset="-120"/>
              </a:rPr>
              <a:t>C'est un outil. On l'utilise là où il apporte de la valeur, et on le laisse de côté ailleurs.</a:t>
            </a:r>
            <a:endParaRPr lang="en-US" sz="1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833972B-281C-6CE5-C558-9CCEA4D00A0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C379766-936C-20EA-2345-78F5187AA6FC}"/>
              </a:ext>
            </a:extLst>
          </p:cNvPr>
          <p:cNvSpPr/>
          <p:nvPr/>
        </p:nvSpPr>
        <p:spPr>
          <a:xfrm>
            <a:off x="0" y="2023110"/>
            <a:ext cx="9144000" cy="1097280"/>
          </a:xfrm>
          <a:prstGeom prst="rect">
            <a:avLst/>
          </a:prstGeom>
          <a:noFill/>
          <a:ln/>
        </p:spPr>
        <p:txBody>
          <a:bodyPr wrap="square" rtlCol="0" anchor="ctr"/>
          <a:lstStyle/>
          <a:p>
            <a:pPr marL="0" indent="0" algn="ctr">
              <a:buNone/>
            </a:pPr>
            <a:r>
              <a:rPr lang="en-US" sz="6000" b="1" kern="0" spc="800" dirty="0">
                <a:solidFill>
                  <a:srgbClr val="FFFFFF"/>
                </a:solidFill>
                <a:latin typeface="Calibri" pitchFamily="34" charset="0"/>
                <a:ea typeface="Calibri" pitchFamily="34" charset="-122"/>
                <a:cs typeface="Calibri" pitchFamily="34" charset="-120"/>
              </a:rPr>
              <a:t>Questions</a:t>
            </a:r>
            <a:endParaRPr lang="en-US" sz="6000" dirty="0"/>
          </a:p>
        </p:txBody>
      </p:sp>
      <p:sp>
        <p:nvSpPr>
          <p:cNvPr id="3" name="Text 1">
            <a:extLst>
              <a:ext uri="{FF2B5EF4-FFF2-40B4-BE49-F238E27FC236}">
                <a16:creationId xmlns:a16="http://schemas.microsoft.com/office/drawing/2014/main" id="{BB081A5C-10DE-CECD-E285-5BB62C11CC8D}"/>
              </a:ext>
            </a:extLst>
          </p:cNvPr>
          <p:cNvSpPr/>
          <p:nvPr/>
        </p:nvSpPr>
        <p:spPr>
          <a:xfrm>
            <a:off x="914400" y="2560320"/>
            <a:ext cx="7315200" cy="731520"/>
          </a:xfrm>
          <a:prstGeom prst="rect">
            <a:avLst/>
          </a:prstGeom>
          <a:noFill/>
          <a:ln/>
        </p:spPr>
        <p:txBody>
          <a:bodyPr wrap="square" rtlCol="0" anchor="ctr"/>
          <a:lstStyle/>
          <a:p>
            <a:pPr marL="0" indent="0" algn="ctr">
              <a:buNone/>
            </a:pPr>
            <a:endParaRPr lang="en-US" sz="2400" dirty="0"/>
          </a:p>
        </p:txBody>
      </p:sp>
      <p:sp>
        <p:nvSpPr>
          <p:cNvPr id="5" name="Text 3">
            <a:extLst>
              <a:ext uri="{FF2B5EF4-FFF2-40B4-BE49-F238E27FC236}">
                <a16:creationId xmlns:a16="http://schemas.microsoft.com/office/drawing/2014/main" id="{CAC02CA5-9FCA-ADC7-4313-7C20B93AE02D}"/>
              </a:ext>
            </a:extLst>
          </p:cNvPr>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53</a:t>
            </a:r>
            <a:endParaRPr lang="en-US" sz="900" dirty="0"/>
          </a:p>
        </p:txBody>
      </p:sp>
    </p:spTree>
    <p:extLst>
      <p:ext uri="{BB962C8B-B14F-4D97-AF65-F5344CB8AC3E}">
        <p14:creationId xmlns:p14="http://schemas.microsoft.com/office/powerpoint/2010/main" val="6396182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115F776-E835-CD61-5129-6FCF1C9AC4D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8EEC051-FBB6-547E-66EC-AB5E9C3CAA24}"/>
              </a:ext>
            </a:extLst>
          </p:cNvPr>
          <p:cNvSpPr/>
          <p:nvPr/>
        </p:nvSpPr>
        <p:spPr>
          <a:xfrm>
            <a:off x="0" y="2023110"/>
            <a:ext cx="9144000" cy="1097280"/>
          </a:xfrm>
          <a:prstGeom prst="rect">
            <a:avLst/>
          </a:prstGeom>
          <a:noFill/>
          <a:ln/>
        </p:spPr>
        <p:txBody>
          <a:bodyPr wrap="square" rtlCol="0" anchor="ctr"/>
          <a:lstStyle/>
          <a:p>
            <a:pPr marL="0" indent="0" algn="ctr">
              <a:buNone/>
            </a:pPr>
            <a:r>
              <a:rPr lang="en-US" sz="6000" b="1" kern="0" spc="800" dirty="0">
                <a:solidFill>
                  <a:srgbClr val="FFFFFF"/>
                </a:solidFill>
                <a:latin typeface="Calibri" pitchFamily="34" charset="0"/>
                <a:ea typeface="Calibri" pitchFamily="34" charset="-122"/>
                <a:cs typeface="Calibri" pitchFamily="34" charset="-120"/>
              </a:rPr>
              <a:t>Merci</a:t>
            </a:r>
            <a:endParaRPr lang="en-US" sz="6000" dirty="0"/>
          </a:p>
        </p:txBody>
      </p:sp>
      <p:sp>
        <p:nvSpPr>
          <p:cNvPr id="3" name="Text 1">
            <a:extLst>
              <a:ext uri="{FF2B5EF4-FFF2-40B4-BE49-F238E27FC236}">
                <a16:creationId xmlns:a16="http://schemas.microsoft.com/office/drawing/2014/main" id="{7C7098F6-488C-ADED-03A5-4D216528F4A0}"/>
              </a:ext>
            </a:extLst>
          </p:cNvPr>
          <p:cNvSpPr/>
          <p:nvPr/>
        </p:nvSpPr>
        <p:spPr>
          <a:xfrm>
            <a:off x="914400" y="2560320"/>
            <a:ext cx="7315200" cy="731520"/>
          </a:xfrm>
          <a:prstGeom prst="rect">
            <a:avLst/>
          </a:prstGeom>
          <a:noFill/>
          <a:ln/>
        </p:spPr>
        <p:txBody>
          <a:bodyPr wrap="square" rtlCol="0" anchor="ctr"/>
          <a:lstStyle/>
          <a:p>
            <a:pPr marL="0" indent="0" algn="ctr">
              <a:buNone/>
            </a:pPr>
            <a:endParaRPr lang="en-US" sz="2400" dirty="0"/>
          </a:p>
        </p:txBody>
      </p:sp>
      <p:sp>
        <p:nvSpPr>
          <p:cNvPr id="5" name="Text 3">
            <a:extLst>
              <a:ext uri="{FF2B5EF4-FFF2-40B4-BE49-F238E27FC236}">
                <a16:creationId xmlns:a16="http://schemas.microsoft.com/office/drawing/2014/main" id="{4CDC8D5E-1A2D-1562-3FF3-25E3BA5D52D3}"/>
              </a:ext>
            </a:extLst>
          </p:cNvPr>
          <p:cNvSpPr/>
          <p:nvPr/>
        </p:nvSpPr>
        <p:spPr>
          <a:xfrm>
            <a:off x="8503920" y="4754880"/>
            <a:ext cx="457200" cy="274320"/>
          </a:xfrm>
          <a:prstGeom prst="rect">
            <a:avLst/>
          </a:prstGeom>
          <a:noFill/>
          <a:ln/>
        </p:spPr>
        <p:txBody>
          <a:bodyPr wrap="square" rtlCol="0" anchor="ctr"/>
          <a:lstStyle/>
          <a:p>
            <a:pPr marL="0" indent="0" algn="r">
              <a:buNone/>
            </a:pPr>
            <a:r>
              <a:rPr lang="en-US" sz="900" dirty="0">
                <a:solidFill>
                  <a:srgbClr val="8B99B8"/>
                </a:solidFill>
                <a:latin typeface="Calibri" pitchFamily="34" charset="0"/>
                <a:ea typeface="Calibri" pitchFamily="34" charset="-122"/>
                <a:cs typeface="Calibri" pitchFamily="34" charset="-120"/>
              </a:rPr>
              <a:t>53</a:t>
            </a:r>
            <a:endParaRPr lang="en-US" sz="900" dirty="0"/>
          </a:p>
        </p:txBody>
      </p:sp>
    </p:spTree>
    <p:extLst>
      <p:ext uri="{BB962C8B-B14F-4D97-AF65-F5344CB8AC3E}">
        <p14:creationId xmlns:p14="http://schemas.microsoft.com/office/powerpoint/2010/main" val="35912837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382</TotalTime>
  <Words>3182</Words>
  <Application>Microsoft Macintosh PowerPoint</Application>
  <PresentationFormat>On-screen Show (16:9)</PresentationFormat>
  <Paragraphs>467</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Teck Talk - Initiation au DDD et à la Clean Architecture</dc:title>
  <dc:subject>PptxGenJS Presentation</dc:subject>
  <dc:creator>Jeremy Fleury</dc:creator>
  <cp:lastModifiedBy>Jérémy Fleury</cp:lastModifiedBy>
  <cp:revision>4</cp:revision>
  <dcterms:created xsi:type="dcterms:W3CDTF">2026-02-17T10:33:10Z</dcterms:created>
  <dcterms:modified xsi:type="dcterms:W3CDTF">2026-02-18T08:53:04Z</dcterms:modified>
</cp:coreProperties>
</file>