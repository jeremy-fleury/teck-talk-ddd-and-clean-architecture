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16"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43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46"/>
    <p:restoredTop sz="94610"/>
  </p:normalViewPr>
  <p:slideViewPr>
    <p:cSldViewPr snapToGrid="0" snapToObjects="1">
      <p:cViewPr varScale="1">
        <p:scale>
          <a:sx n="297" d="100"/>
          <a:sy n="297" d="100"/>
        </p:scale>
        <p:origin x="7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911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732F7-7DF3-AEAC-8410-64035B542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DDA0E-8590-CABA-6BEF-3DE8D0107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23801-FDEA-6705-D7A3-29428EBE1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47AA92-3C27-BE62-A40A-A5A15DA14CB2}"/>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70259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5AC8D-824C-F171-AEB2-D8029134E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394D7-BB8B-87E4-6B0C-A36914B93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D74B4-5C3B-6225-7BE3-1D45DB42C8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79468E-6B7F-0055-6AA9-308911A840CC}"/>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9926149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43BB-A8B9-D796-7804-0A5C3A6CF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04097-656D-0408-6D85-BCB12913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B9E44-AA25-D9D3-5E71-9068EE38F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C3DADE-4866-5AD9-CB53-E955E1CFAC0C}"/>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17798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097280"/>
            <a:ext cx="9144000" cy="1280160"/>
          </a:xfrm>
          <a:prstGeom prst="rect">
            <a:avLst/>
          </a:prstGeom>
          <a:noFill/>
          <a:ln/>
        </p:spPr>
        <p:txBody>
          <a:bodyPr wrap="square" rtlCol="0" anchor="ctr"/>
          <a:lstStyle/>
          <a:p>
            <a:pPr marL="0" indent="0" algn="ctr">
              <a:buNone/>
            </a:pPr>
            <a:r>
              <a:rPr lang="en-US" sz="6000" b="1" kern="0" spc="1000" dirty="0">
                <a:solidFill>
                  <a:srgbClr val="FFFFFF"/>
                </a:solidFill>
                <a:latin typeface="Calibri" pitchFamily="34" charset="0"/>
                <a:ea typeface="Calibri" pitchFamily="34" charset="-122"/>
                <a:cs typeface="Calibri" pitchFamily="34" charset="-120"/>
              </a:rPr>
              <a:t>TECK TALK</a:t>
            </a:r>
            <a:endParaRPr lang="en-US" sz="6000" dirty="0"/>
          </a:p>
        </p:txBody>
      </p:sp>
      <p:sp>
        <p:nvSpPr>
          <p:cNvPr id="3" name="Shape 1"/>
          <p:cNvSpPr/>
          <p:nvPr/>
        </p:nvSpPr>
        <p:spPr>
          <a:xfrm>
            <a:off x="2743200" y="2377440"/>
            <a:ext cx="3657600" cy="27432"/>
          </a:xfrm>
          <a:prstGeom prst="rect">
            <a:avLst/>
          </a:prstGeom>
          <a:solidFill>
            <a:srgbClr val="1E90FF"/>
          </a:solidFill>
          <a:ln/>
        </p:spPr>
        <p:txBody>
          <a:bodyPr/>
          <a:lstStyle/>
          <a:p>
            <a:endParaRPr lang="en-US"/>
          </a:p>
        </p:txBody>
      </p:sp>
      <p:sp>
        <p:nvSpPr>
          <p:cNvPr id="4" name="Text 2"/>
          <p:cNvSpPr/>
          <p:nvPr/>
        </p:nvSpPr>
        <p:spPr>
          <a:xfrm>
            <a:off x="457200" y="2651760"/>
            <a:ext cx="8229600" cy="731520"/>
          </a:xfrm>
          <a:prstGeom prst="rect">
            <a:avLst/>
          </a:prstGeom>
          <a:noFill/>
          <a:ln/>
        </p:spPr>
        <p:txBody>
          <a:bodyPr wrap="square" rtlCol="0" anchor="ctr"/>
          <a:lstStyle/>
          <a:p>
            <a:pPr marL="0" indent="0" algn="ctr">
              <a:buNone/>
            </a:pPr>
            <a:r>
              <a:rPr lang="en-US" sz="2200" dirty="0">
                <a:solidFill>
                  <a:srgbClr val="00BFFF"/>
                </a:solidFill>
                <a:latin typeface="Calibri" pitchFamily="34" charset="0"/>
                <a:ea typeface="Calibri" pitchFamily="34" charset="-122"/>
                <a:cs typeface="Calibri" pitchFamily="34" charset="-120"/>
              </a:rPr>
              <a:t>Initiation au DDD et à la Clean Architecture</a:t>
            </a:r>
            <a:endParaRPr lang="en-US" sz="2200" dirty="0"/>
          </a:p>
        </p:txBody>
      </p:sp>
      <p:sp>
        <p:nvSpPr>
          <p:cNvPr id="5" name="Text 3"/>
          <p:cNvSpPr/>
          <p:nvPr/>
        </p:nvSpPr>
        <p:spPr>
          <a:xfrm>
            <a:off x="0" y="3474720"/>
            <a:ext cx="9144000" cy="457200"/>
          </a:xfrm>
          <a:prstGeom prst="rect">
            <a:avLst/>
          </a:prstGeom>
          <a:noFill/>
          <a:ln/>
        </p:spPr>
        <p:txBody>
          <a:bodyPr wrap="square" rtlCol="0" anchor="ctr"/>
          <a:lstStyle/>
          <a:p>
            <a:pPr marL="0" indent="0" algn="ctr">
              <a:buNone/>
            </a:pPr>
            <a:r>
              <a:rPr lang="en-US" sz="1600" dirty="0">
                <a:solidFill>
                  <a:srgbClr val="8B99B8"/>
                </a:solidFill>
                <a:latin typeface="Calibri" pitchFamily="34" charset="0"/>
                <a:ea typeface="Calibri" pitchFamily="34" charset="-122"/>
                <a:cs typeface="Calibri" pitchFamily="34" charset="-120"/>
              </a:rPr>
              <a:t>Partie 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1</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Le constat</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a:t>
            </a:r>
            <a:endParaRPr lang="en-US" sz="900" dirty="0"/>
          </a:p>
        </p:txBody>
      </p:sp>
      <p:pic>
        <p:nvPicPr>
          <p:cNvPr id="8" name="Picture 7" descr="A screen shot of a computer program&#10;&#10;AI-generated content may be incorrect.">
            <a:extLst>
              <a:ext uri="{FF2B5EF4-FFF2-40B4-BE49-F238E27FC236}">
                <a16:creationId xmlns:a16="http://schemas.microsoft.com/office/drawing/2014/main" id="{B8C59A14-DFCB-1A3C-D7BC-F74489509EA9}"/>
              </a:ext>
            </a:extLst>
          </p:cNvPr>
          <p:cNvPicPr>
            <a:picLocks noChangeAspect="1"/>
          </p:cNvPicPr>
          <p:nvPr/>
        </p:nvPicPr>
        <p:blipFill>
          <a:blip r:embed="rId4"/>
          <a:stretch>
            <a:fillRect/>
          </a:stretch>
        </p:blipFill>
        <p:spPr>
          <a:xfrm>
            <a:off x="1962995" y="228600"/>
            <a:ext cx="5218010" cy="4663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Ce qu'on constate ensemble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Ce code a 5 </a:t>
            </a:r>
            <a:r>
              <a:rPr lang="en-US" sz="1400" b="1" dirty="0" err="1">
                <a:solidFill>
                  <a:schemeClr val="bg1"/>
                </a:solidFill>
                <a:latin typeface="Calibri" pitchFamily="34" charset="0"/>
                <a:ea typeface="Calibri" pitchFamily="34" charset="-122"/>
                <a:cs typeface="Calibri" pitchFamily="34" charset="-120"/>
              </a:rPr>
              <a:t>problèmes</a:t>
            </a:r>
            <a:r>
              <a:rPr lang="en-US" sz="1400" b="1" dirty="0">
                <a:solidFill>
                  <a:schemeClr val="bg1"/>
                </a:solidFill>
                <a:latin typeface="Calibri" pitchFamily="34" charset="0"/>
                <a:ea typeface="Calibri" pitchFamily="34" charset="-122"/>
                <a:cs typeface="Calibri" pitchFamily="34" charset="-120"/>
              </a:rPr>
              <a:t> :</a:t>
            </a:r>
            <a:endParaRPr lang="en-US" sz="1400" dirty="0">
              <a:solidFill>
                <a:schemeClr val="bg1"/>
              </a:solidFill>
            </a:endParaRPr>
          </a:p>
        </p:txBody>
      </p:sp>
      <p:sp>
        <p:nvSpPr>
          <p:cNvPr id="7" name="Shape 5"/>
          <p:cNvSpPr/>
          <p:nvPr/>
        </p:nvSpPr>
        <p:spPr>
          <a:xfrm>
            <a:off x="548640" y="1463040"/>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627632"/>
            <a:ext cx="292608" cy="292608"/>
          </a:xfrm>
          <a:prstGeom prst="ellipse">
            <a:avLst/>
          </a:prstGeom>
          <a:solidFill>
            <a:srgbClr val="1E90FF">
              <a:alpha val="80000"/>
            </a:srgbClr>
          </a:solidFill>
          <a:ln/>
        </p:spPr>
        <p:txBody>
          <a:bodyPr/>
          <a:lstStyle/>
          <a:p>
            <a:endParaRPr lang="en-US"/>
          </a:p>
        </p:txBody>
      </p:sp>
      <p:sp>
        <p:nvSpPr>
          <p:cNvPr id="9" name="Text 7"/>
          <p:cNvSpPr/>
          <p:nvPr/>
        </p:nvSpPr>
        <p:spPr>
          <a:xfrm>
            <a:off x="685800" y="1627632"/>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097280" y="1517904"/>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Logique métier dans le service</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Les règles de validation, le calcul du total, la vérification du statut… tout est mélangé avec l'accès à la base.</a:t>
            </a:r>
            <a:endParaRPr lang="en-US" sz="1300" dirty="0"/>
          </a:p>
        </p:txBody>
      </p:sp>
      <p:sp>
        <p:nvSpPr>
          <p:cNvPr id="11" name="Shape 9"/>
          <p:cNvSpPr/>
          <p:nvPr/>
        </p:nvSpPr>
        <p:spPr>
          <a:xfrm>
            <a:off x="548640" y="2176272"/>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340864"/>
            <a:ext cx="292608" cy="292608"/>
          </a:xfrm>
          <a:prstGeom prst="ellipse">
            <a:avLst/>
          </a:prstGeom>
          <a:solidFill>
            <a:srgbClr val="1E90FF">
              <a:alpha val="80000"/>
            </a:srgbClr>
          </a:solidFill>
          <a:ln/>
        </p:spPr>
        <p:txBody>
          <a:bodyPr/>
          <a:lstStyle/>
          <a:p>
            <a:endParaRPr lang="en-US"/>
          </a:p>
        </p:txBody>
      </p:sp>
      <p:sp>
        <p:nvSpPr>
          <p:cNvPr id="13" name="Text 11"/>
          <p:cNvSpPr/>
          <p:nvPr/>
        </p:nvSpPr>
        <p:spPr>
          <a:xfrm>
            <a:off x="685800" y="2340864"/>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097280" y="2231136"/>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Objet order sans comportement</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C'est un objet brut retourné par la DB. Il a des propriétés, mais il ne "</a:t>
            </a:r>
            <a:r>
              <a:rPr lang="en-US" sz="1100" dirty="0" err="1">
                <a:solidFill>
                  <a:srgbClr val="8B99B8"/>
                </a:solidFill>
                <a:latin typeface="Calibri" pitchFamily="34" charset="0"/>
                <a:ea typeface="Calibri" pitchFamily="34" charset="-122"/>
                <a:cs typeface="Calibri" pitchFamily="34" charset="-120"/>
              </a:rPr>
              <a:t>sait</a:t>
            </a:r>
            <a:r>
              <a:rPr lang="en-US" sz="1100" dirty="0">
                <a:solidFill>
                  <a:srgbClr val="8B99B8"/>
                </a:solidFill>
                <a:latin typeface="Calibri" pitchFamily="34" charset="0"/>
                <a:ea typeface="Calibri" pitchFamily="34" charset="-122"/>
                <a:cs typeface="Calibri" pitchFamily="34" charset="-120"/>
              </a:rPr>
              <a:t>" rien faire. On appelle ça un </a:t>
            </a:r>
            <a:r>
              <a:rPr lang="en-US" sz="1100" dirty="0">
                <a:solidFill>
                  <a:schemeClr val="bg1"/>
                </a:solidFill>
                <a:latin typeface="Calibri" pitchFamily="34" charset="0"/>
                <a:ea typeface="Calibri" pitchFamily="34" charset="-122"/>
                <a:cs typeface="Calibri" pitchFamily="34" charset="-120"/>
              </a:rPr>
              <a:t>modèle anémique</a:t>
            </a:r>
            <a:r>
              <a:rPr lang="en-US" sz="1100" dirty="0">
                <a:solidFill>
                  <a:srgbClr val="8B99B8"/>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548640" y="2889504"/>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054096"/>
            <a:ext cx="292608" cy="292608"/>
          </a:xfrm>
          <a:prstGeom prst="ellipse">
            <a:avLst/>
          </a:prstGeom>
          <a:solidFill>
            <a:srgbClr val="1E90FF">
              <a:alpha val="80000"/>
            </a:srgbClr>
          </a:solidFill>
          <a:ln/>
        </p:spPr>
        <p:txBody>
          <a:bodyPr/>
          <a:lstStyle/>
          <a:p>
            <a:endParaRPr lang="en-US"/>
          </a:p>
        </p:txBody>
      </p:sp>
      <p:sp>
        <p:nvSpPr>
          <p:cNvPr id="17" name="Text 15"/>
          <p:cNvSpPr/>
          <p:nvPr/>
        </p:nvSpPr>
        <p:spPr>
          <a:xfrm>
            <a:off x="685800" y="3054096"/>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097280" y="2944368"/>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Impossible de tester unitairement</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Pour vérifier une règle métier, on doit instancier toute l'infrastructure.</a:t>
            </a:r>
            <a:endParaRPr lang="en-US" sz="1300" dirty="0"/>
          </a:p>
        </p:txBody>
      </p:sp>
      <p:sp>
        <p:nvSpPr>
          <p:cNvPr id="19" name="Shape 17"/>
          <p:cNvSpPr/>
          <p:nvPr/>
        </p:nvSpPr>
        <p:spPr>
          <a:xfrm>
            <a:off x="548640" y="3602736"/>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0" name="Shape 18"/>
          <p:cNvSpPr/>
          <p:nvPr/>
        </p:nvSpPr>
        <p:spPr>
          <a:xfrm>
            <a:off x="685800" y="3767328"/>
            <a:ext cx="292608" cy="292608"/>
          </a:xfrm>
          <a:prstGeom prst="ellipse">
            <a:avLst/>
          </a:prstGeom>
          <a:solidFill>
            <a:srgbClr val="1E90FF">
              <a:alpha val="80000"/>
            </a:srgbClr>
          </a:solidFill>
          <a:ln/>
        </p:spPr>
        <p:txBody>
          <a:bodyPr/>
          <a:lstStyle/>
          <a:p>
            <a:endParaRPr lang="en-US"/>
          </a:p>
        </p:txBody>
      </p:sp>
      <p:sp>
        <p:nvSpPr>
          <p:cNvPr id="21" name="Text 19"/>
          <p:cNvSpPr/>
          <p:nvPr/>
        </p:nvSpPr>
        <p:spPr>
          <a:xfrm>
            <a:off x="685800" y="3767328"/>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097280" y="3657600"/>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Couplage ORM ↔ métier</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Changer de base ou d'ORM impose de réécrire la logique métier.</a:t>
            </a:r>
            <a:endParaRPr lang="en-US" sz="1300" dirty="0"/>
          </a:p>
        </p:txBody>
      </p:sp>
      <p:sp>
        <p:nvSpPr>
          <p:cNvPr id="23" name="Shape 21"/>
          <p:cNvSpPr/>
          <p:nvPr/>
        </p:nvSpPr>
        <p:spPr>
          <a:xfrm>
            <a:off x="548640" y="4315968"/>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4" name="Shape 22"/>
          <p:cNvSpPr/>
          <p:nvPr/>
        </p:nvSpPr>
        <p:spPr>
          <a:xfrm>
            <a:off x="685800" y="4480560"/>
            <a:ext cx="292608" cy="292608"/>
          </a:xfrm>
          <a:prstGeom prst="ellipse">
            <a:avLst/>
          </a:prstGeom>
          <a:solidFill>
            <a:srgbClr val="1E90FF">
              <a:alpha val="80000"/>
            </a:srgbClr>
          </a:solidFill>
          <a:ln/>
        </p:spPr>
        <p:txBody>
          <a:bodyPr/>
          <a:lstStyle/>
          <a:p>
            <a:endParaRPr lang="en-US"/>
          </a:p>
        </p:txBody>
      </p:sp>
      <p:sp>
        <p:nvSpPr>
          <p:cNvPr id="25" name="Text 23"/>
          <p:cNvSpPr/>
          <p:nvPr/>
        </p:nvSpPr>
        <p:spPr>
          <a:xfrm>
            <a:off x="685800" y="448056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1097280" y="4370832"/>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Duplication inévitable</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Chaque nouveau endpoint qui touche aux commandes va redécouvrir et ré-implémenter les mêmes règles.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2</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DDD vs Clean Architecture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vs Clean Architecture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097280"/>
            <a:ext cx="8046720" cy="1645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54864" cy="1645920"/>
          </a:xfrm>
          <a:prstGeom prst="rect">
            <a:avLst/>
          </a:prstGeom>
          <a:solidFill>
            <a:srgbClr val="1E90FF"/>
          </a:solidFill>
          <a:ln/>
        </p:spPr>
        <p:txBody>
          <a:bodyPr/>
          <a:lstStyle/>
          <a:p>
            <a:endParaRPr lang="en-US"/>
          </a:p>
        </p:txBody>
      </p:sp>
      <p:sp>
        <p:nvSpPr>
          <p:cNvPr id="8" name="Text 6"/>
          <p:cNvSpPr/>
          <p:nvPr/>
        </p:nvSpPr>
        <p:spPr>
          <a:xfrm>
            <a:off x="822960" y="1188720"/>
            <a:ext cx="7589520" cy="146304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Domain-Driven Design (DDD)</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Vient d'Eric Evans, popularisé au début des années 2000 avec son livre qui propose de concevoir le logiciel autour du "domaine métier" (modèle, langage commun, règles) plutôt qu'autour de la technique.</a:t>
            </a:r>
            <a:endParaRPr lang="en-US" sz="1500" dirty="0"/>
          </a:p>
        </p:txBody>
      </p:sp>
      <p:sp>
        <p:nvSpPr>
          <p:cNvPr id="9" name="Shape 7"/>
          <p:cNvSpPr/>
          <p:nvPr/>
        </p:nvSpPr>
        <p:spPr>
          <a:xfrm>
            <a:off x="548640" y="2926080"/>
            <a:ext cx="8046720" cy="1645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926080"/>
            <a:ext cx="54864" cy="1645920"/>
          </a:xfrm>
          <a:prstGeom prst="rect">
            <a:avLst/>
          </a:prstGeom>
          <a:solidFill>
            <a:srgbClr val="00BFFF"/>
          </a:solidFill>
          <a:ln/>
        </p:spPr>
        <p:txBody>
          <a:bodyPr/>
          <a:lstStyle/>
          <a:p>
            <a:endParaRPr lang="en-US"/>
          </a:p>
        </p:txBody>
      </p:sp>
      <p:sp>
        <p:nvSpPr>
          <p:cNvPr id="11" name="Text 9"/>
          <p:cNvSpPr/>
          <p:nvPr/>
        </p:nvSpPr>
        <p:spPr>
          <a:xfrm>
            <a:off x="822960" y="3017520"/>
            <a:ext cx="7589520" cy="146304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Clean Architecture</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Vient de Robert C. Martin ("Uncle Bob") sortie en 2017 et formalise une manière d'organiser le code en couches dépendant vers l'intérieur (entités / use cases) pour garder le métier indépendant des frameworks, de la base de données et de l'UI.</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L'évolution vers la Clean Architecture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1188720" y="1005840"/>
            <a:ext cx="18288" cy="3931920"/>
          </a:xfrm>
          <a:prstGeom prst="rect">
            <a:avLst/>
          </a:prstGeom>
          <a:solidFill>
            <a:srgbClr val="1E90FF">
              <a:alpha val="60000"/>
            </a:srgbClr>
          </a:solidFill>
          <a:ln/>
        </p:spPr>
        <p:txBody>
          <a:bodyPr/>
          <a:lstStyle/>
          <a:p>
            <a:endParaRPr lang="en-US"/>
          </a:p>
        </p:txBody>
      </p:sp>
      <p:sp>
        <p:nvSpPr>
          <p:cNvPr id="7" name="Shape 5"/>
          <p:cNvSpPr/>
          <p:nvPr/>
        </p:nvSpPr>
        <p:spPr>
          <a:xfrm>
            <a:off x="1097280" y="1115568"/>
            <a:ext cx="201168" cy="201168"/>
          </a:xfrm>
          <a:prstGeom prst="ellipse">
            <a:avLst/>
          </a:prstGeom>
          <a:solidFill>
            <a:srgbClr val="1E90FF"/>
          </a:solidFill>
          <a:ln/>
        </p:spPr>
        <p:txBody>
          <a:bodyPr/>
          <a:lstStyle/>
          <a:p>
            <a:endParaRPr lang="en-US"/>
          </a:p>
        </p:txBody>
      </p:sp>
      <p:sp>
        <p:nvSpPr>
          <p:cNvPr id="8" name="Text 6"/>
          <p:cNvSpPr/>
          <p:nvPr/>
        </p:nvSpPr>
        <p:spPr>
          <a:xfrm>
            <a:off x="274320" y="1051560"/>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1972</a:t>
            </a:r>
            <a:endParaRPr lang="en-US" sz="1100" dirty="0"/>
          </a:p>
        </p:txBody>
      </p:sp>
      <p:sp>
        <p:nvSpPr>
          <p:cNvPr id="9" name="Text 7"/>
          <p:cNvSpPr/>
          <p:nvPr/>
        </p:nvSpPr>
        <p:spPr>
          <a:xfrm>
            <a:off x="1463040" y="1005840"/>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Information Hiding</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David Parnas — </a:t>
            </a:r>
            <a:r>
              <a:rPr lang="en-US" sz="900" dirty="0" err="1">
                <a:solidFill>
                  <a:srgbClr val="8B99B8"/>
                </a:solidFill>
                <a:latin typeface="Calibri" pitchFamily="34" charset="0"/>
                <a:ea typeface="Calibri" pitchFamily="34" charset="-122"/>
                <a:cs typeface="Calibri" pitchFamily="34" charset="-120"/>
              </a:rPr>
              <a:t>Séparation</a:t>
            </a:r>
            <a:r>
              <a:rPr lang="en-US" sz="900" dirty="0">
                <a:solidFill>
                  <a:srgbClr val="8B99B8"/>
                </a:solidFill>
                <a:latin typeface="Calibri" pitchFamily="34" charset="0"/>
                <a:ea typeface="Calibri" pitchFamily="34" charset="-122"/>
                <a:cs typeface="Calibri" pitchFamily="34" charset="-120"/>
              </a:rPr>
              <a:t> des </a:t>
            </a:r>
            <a:r>
              <a:rPr lang="en-US" sz="900" dirty="0" err="1">
                <a:solidFill>
                  <a:srgbClr val="8B99B8"/>
                </a:solidFill>
                <a:latin typeface="Calibri" pitchFamily="34" charset="0"/>
                <a:ea typeface="Calibri" pitchFamily="34" charset="-122"/>
                <a:cs typeface="Calibri" pitchFamily="34" charset="-120"/>
              </a:rPr>
              <a:t>préoccupations</a:t>
            </a:r>
            <a:r>
              <a:rPr lang="en-US" sz="900" dirty="0">
                <a:solidFill>
                  <a:srgbClr val="8B99B8"/>
                </a:solidFill>
                <a:latin typeface="Calibri" pitchFamily="34" charset="0"/>
                <a:ea typeface="Calibri" pitchFamily="34" charset="-122"/>
                <a:cs typeface="Calibri" pitchFamily="34" charset="-120"/>
              </a:rPr>
              <a:t>, </a:t>
            </a:r>
            <a:r>
              <a:rPr lang="en-US" sz="900" dirty="0" err="1">
                <a:solidFill>
                  <a:srgbClr val="8B99B8"/>
                </a:solidFill>
                <a:latin typeface="Calibri" pitchFamily="34" charset="0"/>
                <a:ea typeface="Calibri" pitchFamily="34" charset="-122"/>
                <a:cs typeface="Calibri" pitchFamily="34" charset="-120"/>
              </a:rPr>
              <a:t>fondation</a:t>
            </a:r>
            <a:r>
              <a:rPr lang="en-US" sz="900" dirty="0">
                <a:solidFill>
                  <a:srgbClr val="8B99B8"/>
                </a:solidFill>
                <a:latin typeface="Calibri" pitchFamily="34" charset="0"/>
                <a:ea typeface="Calibri" pitchFamily="34" charset="-122"/>
                <a:cs typeface="Calibri" pitchFamily="34" charset="-120"/>
              </a:rPr>
              <a:t> </a:t>
            </a:r>
            <a:r>
              <a:rPr lang="en-US" sz="900" dirty="0" err="1">
                <a:solidFill>
                  <a:srgbClr val="8B99B8"/>
                </a:solidFill>
                <a:latin typeface="Calibri" pitchFamily="34" charset="0"/>
                <a:ea typeface="Calibri" pitchFamily="34" charset="-122"/>
                <a:cs typeface="Calibri" pitchFamily="34" charset="-120"/>
              </a:rPr>
              <a:t>théorique</a:t>
            </a:r>
            <a:r>
              <a:rPr lang="en-US" sz="900" dirty="0">
                <a:solidFill>
                  <a:srgbClr val="8B99B8"/>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97280" y="1609344"/>
            <a:ext cx="201168" cy="201168"/>
          </a:xfrm>
          <a:prstGeom prst="ellipse">
            <a:avLst/>
          </a:prstGeom>
          <a:solidFill>
            <a:srgbClr val="1E90FF"/>
          </a:solidFill>
          <a:ln/>
        </p:spPr>
        <p:txBody>
          <a:bodyPr/>
          <a:lstStyle/>
          <a:p>
            <a:endParaRPr lang="en-US"/>
          </a:p>
        </p:txBody>
      </p:sp>
      <p:sp>
        <p:nvSpPr>
          <p:cNvPr id="11" name="Text 9"/>
          <p:cNvSpPr/>
          <p:nvPr/>
        </p:nvSpPr>
        <p:spPr>
          <a:xfrm>
            <a:off x="274320" y="1545336"/>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1993</a:t>
            </a:r>
            <a:endParaRPr lang="en-US" sz="1100" dirty="0"/>
          </a:p>
        </p:txBody>
      </p:sp>
      <p:sp>
        <p:nvSpPr>
          <p:cNvPr id="12" name="Text 10"/>
          <p:cNvSpPr/>
          <p:nvPr/>
        </p:nvSpPr>
        <p:spPr>
          <a:xfrm>
            <a:off x="1463040" y="1499616"/>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Principes SOLID</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Règles de conception OO qui structureront tout le reste.</a:t>
            </a:r>
            <a:endParaRPr lang="en-US" sz="1100" dirty="0"/>
          </a:p>
        </p:txBody>
      </p:sp>
      <p:sp>
        <p:nvSpPr>
          <p:cNvPr id="13" name="Shape 11"/>
          <p:cNvSpPr/>
          <p:nvPr/>
        </p:nvSpPr>
        <p:spPr>
          <a:xfrm>
            <a:off x="1097280" y="2103120"/>
            <a:ext cx="201168" cy="201168"/>
          </a:xfrm>
          <a:prstGeom prst="ellipse">
            <a:avLst/>
          </a:prstGeom>
          <a:solidFill>
            <a:srgbClr val="1E90FF"/>
          </a:solidFill>
          <a:ln/>
        </p:spPr>
        <p:txBody>
          <a:bodyPr/>
          <a:lstStyle/>
          <a:p>
            <a:endParaRPr lang="en-US"/>
          </a:p>
        </p:txBody>
      </p:sp>
      <p:sp>
        <p:nvSpPr>
          <p:cNvPr id="14" name="Text 12"/>
          <p:cNvSpPr/>
          <p:nvPr/>
        </p:nvSpPr>
        <p:spPr>
          <a:xfrm>
            <a:off x="274320" y="2039112"/>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2003</a:t>
            </a:r>
            <a:endParaRPr lang="en-US" sz="1100" dirty="0"/>
          </a:p>
        </p:txBody>
      </p:sp>
      <p:sp>
        <p:nvSpPr>
          <p:cNvPr id="15" name="Text 13"/>
          <p:cNvSpPr/>
          <p:nvPr/>
        </p:nvSpPr>
        <p:spPr>
          <a:xfrm>
            <a:off x="1463040" y="1993392"/>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Domain-Driven Design</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Eric Evans — Le domaine métier au centre. Bounded Contexts, Aggregates, Ubiquitous Language.</a:t>
            </a:r>
            <a:endParaRPr lang="en-US" sz="1100" dirty="0"/>
          </a:p>
        </p:txBody>
      </p:sp>
      <p:sp>
        <p:nvSpPr>
          <p:cNvPr id="16" name="Shape 14"/>
          <p:cNvSpPr/>
          <p:nvPr/>
        </p:nvSpPr>
        <p:spPr>
          <a:xfrm>
            <a:off x="1097280" y="2596896"/>
            <a:ext cx="201168" cy="201168"/>
          </a:xfrm>
          <a:prstGeom prst="ellipse">
            <a:avLst/>
          </a:prstGeom>
          <a:solidFill>
            <a:srgbClr val="1E90FF"/>
          </a:solidFill>
          <a:ln/>
        </p:spPr>
        <p:txBody>
          <a:bodyPr/>
          <a:lstStyle/>
          <a:p>
            <a:endParaRPr lang="en-US"/>
          </a:p>
        </p:txBody>
      </p:sp>
      <p:sp>
        <p:nvSpPr>
          <p:cNvPr id="17" name="Text 15"/>
          <p:cNvSpPr/>
          <p:nvPr/>
        </p:nvSpPr>
        <p:spPr>
          <a:xfrm>
            <a:off x="274320" y="2532888"/>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2005</a:t>
            </a:r>
            <a:endParaRPr lang="en-US" sz="1100" dirty="0"/>
          </a:p>
        </p:txBody>
      </p:sp>
      <p:sp>
        <p:nvSpPr>
          <p:cNvPr id="18" name="Text 16"/>
          <p:cNvSpPr/>
          <p:nvPr/>
        </p:nvSpPr>
        <p:spPr>
          <a:xfrm>
            <a:off x="1463040" y="2487168"/>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Architecture Hexagonale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Alistair Cockburn — Ports &amp; Adapters : isoler le cœur métier des détails techniques.</a:t>
            </a:r>
            <a:endParaRPr lang="en-US" sz="1100" dirty="0"/>
          </a:p>
        </p:txBody>
      </p:sp>
      <p:sp>
        <p:nvSpPr>
          <p:cNvPr id="19" name="Shape 17"/>
          <p:cNvSpPr/>
          <p:nvPr/>
        </p:nvSpPr>
        <p:spPr>
          <a:xfrm>
            <a:off x="1097280" y="3090672"/>
            <a:ext cx="201168" cy="201168"/>
          </a:xfrm>
          <a:prstGeom prst="ellipse">
            <a:avLst/>
          </a:prstGeom>
          <a:solidFill>
            <a:srgbClr val="1E90FF"/>
          </a:solidFill>
          <a:ln/>
        </p:spPr>
        <p:txBody>
          <a:bodyPr/>
          <a:lstStyle/>
          <a:p>
            <a:endParaRPr lang="en-US"/>
          </a:p>
        </p:txBody>
      </p:sp>
      <p:sp>
        <p:nvSpPr>
          <p:cNvPr id="20" name="Text 18"/>
          <p:cNvSpPr/>
          <p:nvPr/>
        </p:nvSpPr>
        <p:spPr>
          <a:xfrm>
            <a:off x="274320" y="3026664"/>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2008</a:t>
            </a:r>
            <a:endParaRPr lang="en-US" sz="1100" dirty="0"/>
          </a:p>
        </p:txBody>
      </p:sp>
      <p:sp>
        <p:nvSpPr>
          <p:cNvPr id="21" name="Text 19"/>
          <p:cNvSpPr/>
          <p:nvPr/>
        </p:nvSpPr>
        <p:spPr>
          <a:xfrm>
            <a:off x="1463040" y="2980944"/>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Onion Architecture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Jeffrey Palermo — Couches concentriques, dépendances vers l'intérieur.</a:t>
            </a:r>
            <a:endParaRPr lang="en-US" sz="1100" dirty="0"/>
          </a:p>
        </p:txBody>
      </p:sp>
      <p:sp>
        <p:nvSpPr>
          <p:cNvPr id="22" name="Shape 20"/>
          <p:cNvSpPr/>
          <p:nvPr/>
        </p:nvSpPr>
        <p:spPr>
          <a:xfrm>
            <a:off x="1097280" y="3584448"/>
            <a:ext cx="201168" cy="201168"/>
          </a:xfrm>
          <a:prstGeom prst="ellipse">
            <a:avLst/>
          </a:prstGeom>
          <a:solidFill>
            <a:srgbClr val="1E90FF"/>
          </a:solidFill>
          <a:ln/>
        </p:spPr>
        <p:txBody>
          <a:bodyPr/>
          <a:lstStyle/>
          <a:p>
            <a:endParaRPr lang="en-US"/>
          </a:p>
        </p:txBody>
      </p:sp>
      <p:sp>
        <p:nvSpPr>
          <p:cNvPr id="23" name="Text 21"/>
          <p:cNvSpPr/>
          <p:nvPr/>
        </p:nvSpPr>
        <p:spPr>
          <a:xfrm>
            <a:off x="274320" y="3520440"/>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2012</a:t>
            </a:r>
            <a:endParaRPr lang="en-US" sz="1100" dirty="0"/>
          </a:p>
        </p:txBody>
      </p:sp>
      <p:sp>
        <p:nvSpPr>
          <p:cNvPr id="24" name="Text 22"/>
          <p:cNvSpPr/>
          <p:nvPr/>
        </p:nvSpPr>
        <p:spPr>
          <a:xfrm>
            <a:off x="1463040" y="3474720"/>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Clean Architecture"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Article qui synthétise Hexagonale + Onion + DDD en un modèle unifié.</a:t>
            </a:r>
            <a:endParaRPr lang="en-US" sz="1100" dirty="0"/>
          </a:p>
        </p:txBody>
      </p:sp>
      <p:sp>
        <p:nvSpPr>
          <p:cNvPr id="25" name="Shape 23"/>
          <p:cNvSpPr/>
          <p:nvPr/>
        </p:nvSpPr>
        <p:spPr>
          <a:xfrm>
            <a:off x="1097280" y="4078224"/>
            <a:ext cx="201168" cy="201168"/>
          </a:xfrm>
          <a:prstGeom prst="ellipse">
            <a:avLst/>
          </a:prstGeom>
          <a:solidFill>
            <a:srgbClr val="1E90FF"/>
          </a:solidFill>
          <a:ln/>
        </p:spPr>
        <p:txBody>
          <a:bodyPr/>
          <a:lstStyle/>
          <a:p>
            <a:endParaRPr lang="en-US"/>
          </a:p>
        </p:txBody>
      </p:sp>
      <p:sp>
        <p:nvSpPr>
          <p:cNvPr id="26" name="Text 24"/>
          <p:cNvSpPr/>
          <p:nvPr/>
        </p:nvSpPr>
        <p:spPr>
          <a:xfrm>
            <a:off x="274320" y="4014216"/>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2013</a:t>
            </a:r>
            <a:endParaRPr lang="en-US" sz="1100" dirty="0"/>
          </a:p>
        </p:txBody>
      </p:sp>
      <p:sp>
        <p:nvSpPr>
          <p:cNvPr id="27" name="Text 25"/>
          <p:cNvSpPr/>
          <p:nvPr/>
        </p:nvSpPr>
        <p:spPr>
          <a:xfrm>
            <a:off x="1463040" y="3968496"/>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Implementing DDD</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Vaughn Vernon — Le "Red Book" qui rend le DDD concret et implémentable.</a:t>
            </a:r>
            <a:endParaRPr lang="en-US" sz="1100" dirty="0"/>
          </a:p>
        </p:txBody>
      </p:sp>
      <p:sp>
        <p:nvSpPr>
          <p:cNvPr id="28" name="Shape 26"/>
          <p:cNvSpPr/>
          <p:nvPr/>
        </p:nvSpPr>
        <p:spPr>
          <a:xfrm>
            <a:off x="1097280" y="4572000"/>
            <a:ext cx="201168" cy="201168"/>
          </a:xfrm>
          <a:prstGeom prst="ellipse">
            <a:avLst/>
          </a:prstGeom>
          <a:solidFill>
            <a:srgbClr val="1E90FF"/>
          </a:solidFill>
          <a:ln/>
        </p:spPr>
        <p:txBody>
          <a:bodyPr/>
          <a:lstStyle/>
          <a:p>
            <a:endParaRPr lang="en-US"/>
          </a:p>
        </p:txBody>
      </p:sp>
      <p:sp>
        <p:nvSpPr>
          <p:cNvPr id="29" name="Text 27"/>
          <p:cNvSpPr/>
          <p:nvPr/>
        </p:nvSpPr>
        <p:spPr>
          <a:xfrm>
            <a:off x="274320" y="4507992"/>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2017</a:t>
            </a:r>
            <a:endParaRPr lang="en-US" sz="1100" dirty="0"/>
          </a:p>
        </p:txBody>
      </p:sp>
      <p:sp>
        <p:nvSpPr>
          <p:cNvPr id="30" name="Text 28"/>
          <p:cNvSpPr/>
          <p:nvPr/>
        </p:nvSpPr>
        <p:spPr>
          <a:xfrm>
            <a:off x="1463040" y="4462272"/>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Clean Architecture, le livre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Formalisation complète de l'approche.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(le quoi) vs Clean Architecture (le où)</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0972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731520" y="1188720"/>
            <a:ext cx="3474720" cy="365760"/>
          </a:xfrm>
          <a:prstGeom prst="rect">
            <a:avLst/>
          </a:prstGeom>
          <a:noFill/>
          <a:ln/>
        </p:spPr>
        <p:txBody>
          <a:bodyPr wrap="square" rtlCol="0" anchor="ctr"/>
          <a:lstStyle/>
          <a:p>
            <a:pPr marL="0" indent="0">
              <a:buNone/>
            </a:pPr>
            <a:r>
              <a:rPr lang="en-US" sz="1800" b="1" dirty="0">
                <a:solidFill>
                  <a:srgbClr val="00BFFF"/>
                </a:solidFill>
                <a:latin typeface="Calibri" pitchFamily="34" charset="0"/>
                <a:ea typeface="Calibri" pitchFamily="34" charset="-122"/>
                <a:cs typeface="Calibri" pitchFamily="34" charset="-120"/>
              </a:rPr>
              <a:t>DDD</a:t>
            </a:r>
            <a:endParaRPr lang="en-US" sz="1800" dirty="0"/>
          </a:p>
        </p:txBody>
      </p:sp>
      <p:sp>
        <p:nvSpPr>
          <p:cNvPr id="8" name="Text 6"/>
          <p:cNvSpPr/>
          <p:nvPr/>
        </p:nvSpPr>
        <p:spPr>
          <a:xfrm>
            <a:off x="731520" y="1554480"/>
            <a:ext cx="3474720" cy="10972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Dit comment modéliser le métier : quelles briques utiliser (Value Object, Entity, Aggregate), comment nommer les choses, où mettre la logique. C'est la substance.</a:t>
            </a:r>
            <a:endParaRPr lang="en-US" sz="1200" dirty="0"/>
          </a:p>
        </p:txBody>
      </p:sp>
      <p:sp>
        <p:nvSpPr>
          <p:cNvPr id="9" name="Text 7"/>
          <p:cNvSpPr/>
          <p:nvPr/>
        </p:nvSpPr>
        <p:spPr>
          <a:xfrm>
            <a:off x="731520" y="2743200"/>
            <a:ext cx="3474720" cy="54864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DDD sans Clean Archi → domaine riche mais couplé à l'infrastructure.</a:t>
            </a:r>
            <a:endParaRPr lang="en-US" sz="1100" dirty="0"/>
          </a:p>
        </p:txBody>
      </p:sp>
      <p:sp>
        <p:nvSpPr>
          <p:cNvPr id="10" name="Shape 8"/>
          <p:cNvSpPr/>
          <p:nvPr/>
        </p:nvSpPr>
        <p:spPr>
          <a:xfrm>
            <a:off x="4754880" y="10972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937760" y="1188720"/>
            <a:ext cx="3474720" cy="365760"/>
          </a:xfrm>
          <a:prstGeom prst="rect">
            <a:avLst/>
          </a:prstGeom>
          <a:noFill/>
          <a:ln/>
        </p:spPr>
        <p:txBody>
          <a:bodyPr wrap="square" rtlCol="0" anchor="ctr"/>
          <a:lstStyle/>
          <a:p>
            <a:pPr marL="0" indent="0">
              <a:buNone/>
            </a:pPr>
            <a:r>
              <a:rPr lang="en-US" sz="1800" b="1" dirty="0">
                <a:solidFill>
                  <a:srgbClr val="00BFFF"/>
                </a:solidFill>
                <a:latin typeface="Calibri" pitchFamily="34" charset="0"/>
                <a:ea typeface="Calibri" pitchFamily="34" charset="-122"/>
                <a:cs typeface="Calibri" pitchFamily="34" charset="-120"/>
              </a:rPr>
              <a:t>Clean Architecture</a:t>
            </a:r>
            <a:endParaRPr lang="en-US" sz="1800" dirty="0"/>
          </a:p>
        </p:txBody>
      </p:sp>
      <p:sp>
        <p:nvSpPr>
          <p:cNvPr id="12" name="Text 10"/>
          <p:cNvSpPr/>
          <p:nvPr/>
        </p:nvSpPr>
        <p:spPr>
          <a:xfrm>
            <a:off x="4937760" y="1554480"/>
            <a:ext cx="3474720" cy="10972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Dit comment organiser les couches : le domaine au centre, l'infra à l'extérieur, les dépendances toujours vers l'intérieur. C'est la structure.</a:t>
            </a:r>
            <a:endParaRPr lang="en-US" sz="1200" dirty="0"/>
          </a:p>
        </p:txBody>
      </p:sp>
      <p:sp>
        <p:nvSpPr>
          <p:cNvPr id="13" name="Text 11"/>
          <p:cNvSpPr/>
          <p:nvPr/>
        </p:nvSpPr>
        <p:spPr>
          <a:xfrm>
            <a:off x="4937760" y="2743200"/>
            <a:ext cx="3474720" cy="54864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Clean Archi sans DDD → couches bien séparées mais modèles anémiques.</a:t>
            </a:r>
            <a:endParaRPr lang="en-US" sz="1100" dirty="0"/>
          </a:p>
        </p:txBody>
      </p:sp>
      <p:sp>
        <p:nvSpPr>
          <p:cNvPr id="14" name="Shape 12"/>
          <p:cNvSpPr/>
          <p:nvPr/>
        </p:nvSpPr>
        <p:spPr>
          <a:xfrm>
            <a:off x="548640" y="384048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nchor="ctr"/>
          <a:lstStyle/>
          <a:p>
            <a:endParaRPr lang="en-US" dirty="0"/>
          </a:p>
        </p:txBody>
      </p:sp>
      <p:sp>
        <p:nvSpPr>
          <p:cNvPr id="15" name="Text 13"/>
          <p:cNvSpPr/>
          <p:nvPr/>
        </p:nvSpPr>
        <p:spPr>
          <a:xfrm>
            <a:off x="731520" y="4023360"/>
            <a:ext cx="7680960" cy="548640"/>
          </a:xfrm>
          <a:prstGeom prst="rect">
            <a:avLst/>
          </a:prstGeom>
          <a:noFill/>
          <a:ln/>
        </p:spPr>
        <p:txBody>
          <a:bodyPr wrap="square" rtlCol="0" anchor="ctr"/>
          <a:lstStyle/>
          <a:p>
            <a:pPr marL="0" indent="0" algn="ctr">
              <a:buNone/>
            </a:pPr>
            <a:r>
              <a:rPr lang="en-US" sz="1400" b="1" dirty="0">
                <a:solidFill>
                  <a:srgbClr val="00BFFF"/>
                </a:solidFill>
                <a:latin typeface="Calibri" pitchFamily="34" charset="0"/>
                <a:ea typeface="Calibri" pitchFamily="34" charset="-122"/>
                <a:cs typeface="Calibri" pitchFamily="34" charset="-120"/>
              </a:rPr>
              <a:t>Les deux ensemble → un domaine riche ET isolé de </a:t>
            </a:r>
            <a:r>
              <a:rPr lang="en-US" sz="1400" b="1" dirty="0" err="1">
                <a:solidFill>
                  <a:srgbClr val="00BFFF"/>
                </a:solidFill>
                <a:latin typeface="Calibri" pitchFamily="34" charset="0"/>
                <a:ea typeface="Calibri" pitchFamily="34" charset="-122"/>
                <a:cs typeface="Calibri" pitchFamily="34" charset="-120"/>
              </a:rPr>
              <a:t>l'infrastructure</a:t>
            </a:r>
            <a:r>
              <a:rPr lang="en-US" sz="1400" b="1" dirty="0">
                <a:solidFill>
                  <a:srgbClr val="00BFFF"/>
                </a:solidFill>
                <a:latin typeface="Calibri" pitchFamily="34" charset="0"/>
                <a:ea typeface="Calibri" pitchFamily="34" charset="-122"/>
                <a:cs typeface="Calibri" pitchFamily="34" charset="-120"/>
              </a:rPr>
              <a:t>.</a:t>
            </a:r>
            <a:br>
              <a:rPr lang="en-US" sz="1400" b="1" dirty="0">
                <a:solidFill>
                  <a:srgbClr val="00BFFF"/>
                </a:solidFill>
                <a:latin typeface="Calibri" pitchFamily="34" charset="0"/>
                <a:ea typeface="Calibri" pitchFamily="34" charset="-122"/>
                <a:cs typeface="Calibri" pitchFamily="34" charset="-120"/>
              </a:rPr>
            </a:br>
            <a:r>
              <a:rPr lang="en-US" sz="1400" b="1" dirty="0" err="1">
                <a:solidFill>
                  <a:srgbClr val="00BFFF"/>
                </a:solidFill>
                <a:latin typeface="Calibri" pitchFamily="34" charset="0"/>
                <a:ea typeface="Calibri" pitchFamily="34" charset="-122"/>
                <a:cs typeface="Calibri" pitchFamily="34" charset="-120"/>
              </a:rPr>
              <a:t>C'est</a:t>
            </a:r>
            <a:r>
              <a:rPr lang="en-US" sz="1400" b="1" dirty="0">
                <a:solidFill>
                  <a:srgbClr val="00BFFF"/>
                </a:solidFill>
                <a:latin typeface="Calibri" pitchFamily="34" charset="0"/>
                <a:ea typeface="Calibri" pitchFamily="34" charset="-122"/>
                <a:cs typeface="Calibri" pitchFamily="34" charset="-120"/>
              </a:rPr>
              <a:t> ce </a:t>
            </a:r>
            <a:r>
              <a:rPr lang="en-US" sz="1400" b="1" dirty="0" err="1">
                <a:solidFill>
                  <a:srgbClr val="00BFFF"/>
                </a:solidFill>
                <a:latin typeface="Calibri" pitchFamily="34" charset="0"/>
                <a:ea typeface="Calibri" pitchFamily="34" charset="-122"/>
                <a:cs typeface="Calibri" pitchFamily="34" charset="-120"/>
              </a:rPr>
              <a:t>qu'on</a:t>
            </a:r>
            <a:r>
              <a:rPr lang="en-US" sz="1400" b="1" dirty="0">
                <a:solidFill>
                  <a:srgbClr val="00BFFF"/>
                </a:solidFill>
                <a:latin typeface="Calibri" pitchFamily="34" charset="0"/>
                <a:ea typeface="Calibri" pitchFamily="34" charset="-122"/>
                <a:cs typeface="Calibri" pitchFamily="34" charset="-120"/>
              </a:rPr>
              <a:t> vise.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 Le quoi</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48640" y="1005840"/>
            <a:ext cx="8046720" cy="2743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Domain-Driven Design répond à la question :</a:t>
            </a:r>
            <a:endParaRPr lang="en-US" sz="1300" dirty="0"/>
          </a:p>
        </p:txBody>
      </p:sp>
      <p:sp>
        <p:nvSpPr>
          <p:cNvPr id="7" name="Text 5"/>
          <p:cNvSpPr/>
          <p:nvPr/>
        </p:nvSpPr>
        <p:spPr>
          <a:xfrm>
            <a:off x="548640" y="1280160"/>
            <a:ext cx="8046720" cy="36576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Comment modéliser mon métier dans le code ?</a:t>
            </a:r>
            <a:endParaRPr lang="en-US" sz="1600" dirty="0"/>
          </a:p>
        </p:txBody>
      </p:sp>
      <p:sp>
        <p:nvSpPr>
          <p:cNvPr id="8" name="Shape 6"/>
          <p:cNvSpPr/>
          <p:nvPr/>
        </p:nvSpPr>
        <p:spPr>
          <a:xfrm>
            <a:off x="548640" y="176022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9" name="Shape 7"/>
          <p:cNvSpPr/>
          <p:nvPr/>
        </p:nvSpPr>
        <p:spPr>
          <a:xfrm>
            <a:off x="548640" y="1760220"/>
            <a:ext cx="54864" cy="502920"/>
          </a:xfrm>
          <a:prstGeom prst="rect">
            <a:avLst/>
          </a:prstGeom>
          <a:solidFill>
            <a:srgbClr val="1E90FF"/>
          </a:solidFill>
          <a:ln/>
        </p:spPr>
        <p:txBody>
          <a:bodyPr/>
          <a:lstStyle/>
          <a:p>
            <a:endParaRPr lang="en-US"/>
          </a:p>
        </p:txBody>
      </p:sp>
      <p:sp>
        <p:nvSpPr>
          <p:cNvPr id="10" name="Text 8"/>
          <p:cNvSpPr/>
          <p:nvPr/>
        </p:nvSpPr>
        <p:spPr>
          <a:xfrm>
            <a:off x="822960" y="176022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Value Object — </a:t>
            </a:r>
            <a:r>
              <a:rPr lang="en-US" sz="1300" dirty="0">
                <a:solidFill>
                  <a:srgbClr val="E8ECF4"/>
                </a:solidFill>
                <a:latin typeface="Calibri" pitchFamily="34" charset="0"/>
                <a:ea typeface="Calibri" pitchFamily="34" charset="-122"/>
                <a:cs typeface="Calibri" pitchFamily="34" charset="-120"/>
              </a:rPr>
              <a:t>un objet défini par ses valeurs (Email, Money, IBAN)</a:t>
            </a:r>
            <a:endParaRPr lang="en-US" sz="1300" dirty="0"/>
          </a:p>
        </p:txBody>
      </p:sp>
      <p:sp>
        <p:nvSpPr>
          <p:cNvPr id="11" name="Shape 9"/>
          <p:cNvSpPr/>
          <p:nvPr/>
        </p:nvSpPr>
        <p:spPr>
          <a:xfrm>
            <a:off x="548640" y="235458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548640" y="2354580"/>
            <a:ext cx="54864" cy="502920"/>
          </a:xfrm>
          <a:prstGeom prst="rect">
            <a:avLst/>
          </a:prstGeom>
          <a:solidFill>
            <a:srgbClr val="1E90FF"/>
          </a:solidFill>
          <a:ln/>
        </p:spPr>
        <p:txBody>
          <a:bodyPr/>
          <a:lstStyle/>
          <a:p>
            <a:endParaRPr lang="en-US"/>
          </a:p>
        </p:txBody>
      </p:sp>
      <p:sp>
        <p:nvSpPr>
          <p:cNvPr id="13" name="Text 11"/>
          <p:cNvSpPr/>
          <p:nvPr/>
        </p:nvSpPr>
        <p:spPr>
          <a:xfrm>
            <a:off x="822960" y="235458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Entity — </a:t>
            </a:r>
            <a:r>
              <a:rPr lang="en-US" sz="1300" dirty="0">
                <a:solidFill>
                  <a:srgbClr val="E8ECF4"/>
                </a:solidFill>
                <a:latin typeface="Calibri" pitchFamily="34" charset="0"/>
                <a:ea typeface="Calibri" pitchFamily="34" charset="-122"/>
                <a:cs typeface="Calibri" pitchFamily="34" charset="-120"/>
              </a:rPr>
              <a:t>un objet avec une identité unique et un cycle de vie (User, Order, BankAccount)</a:t>
            </a:r>
            <a:endParaRPr lang="en-US" sz="1300" dirty="0"/>
          </a:p>
        </p:txBody>
      </p:sp>
      <p:sp>
        <p:nvSpPr>
          <p:cNvPr id="14" name="Shape 12"/>
          <p:cNvSpPr/>
          <p:nvPr/>
        </p:nvSpPr>
        <p:spPr>
          <a:xfrm>
            <a:off x="548640" y="294894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5" name="Shape 13"/>
          <p:cNvSpPr/>
          <p:nvPr/>
        </p:nvSpPr>
        <p:spPr>
          <a:xfrm>
            <a:off x="548640" y="2948940"/>
            <a:ext cx="54864" cy="502920"/>
          </a:xfrm>
          <a:prstGeom prst="rect">
            <a:avLst/>
          </a:prstGeom>
          <a:solidFill>
            <a:srgbClr val="1E90FF"/>
          </a:solidFill>
          <a:ln/>
        </p:spPr>
        <p:txBody>
          <a:bodyPr/>
          <a:lstStyle/>
          <a:p>
            <a:endParaRPr lang="en-US"/>
          </a:p>
        </p:txBody>
      </p:sp>
      <p:sp>
        <p:nvSpPr>
          <p:cNvPr id="16" name="Text 14"/>
          <p:cNvSpPr/>
          <p:nvPr/>
        </p:nvSpPr>
        <p:spPr>
          <a:xfrm>
            <a:off x="822960" y="294894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Aggregate — </a:t>
            </a:r>
            <a:r>
              <a:rPr lang="en-US" sz="1300" dirty="0">
                <a:solidFill>
                  <a:srgbClr val="E8ECF4"/>
                </a:solidFill>
                <a:latin typeface="Calibri" pitchFamily="34" charset="0"/>
                <a:ea typeface="Calibri" pitchFamily="34" charset="-122"/>
                <a:cs typeface="Calibri" pitchFamily="34" charset="-120"/>
              </a:rPr>
              <a:t>un groupe d'objets qui doivent rester cohérents ensemble</a:t>
            </a:r>
            <a:endParaRPr lang="en-US" sz="1300" dirty="0"/>
          </a:p>
        </p:txBody>
      </p:sp>
      <p:sp>
        <p:nvSpPr>
          <p:cNvPr id="17" name="Shape 15"/>
          <p:cNvSpPr/>
          <p:nvPr/>
        </p:nvSpPr>
        <p:spPr>
          <a:xfrm>
            <a:off x="548640" y="354330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8" name="Shape 16"/>
          <p:cNvSpPr/>
          <p:nvPr/>
        </p:nvSpPr>
        <p:spPr>
          <a:xfrm>
            <a:off x="548640" y="3543300"/>
            <a:ext cx="54864" cy="502920"/>
          </a:xfrm>
          <a:prstGeom prst="rect">
            <a:avLst/>
          </a:prstGeom>
          <a:solidFill>
            <a:srgbClr val="1E90FF"/>
          </a:solidFill>
          <a:ln/>
        </p:spPr>
        <p:txBody>
          <a:bodyPr/>
          <a:lstStyle/>
          <a:p>
            <a:endParaRPr lang="en-US"/>
          </a:p>
        </p:txBody>
      </p:sp>
      <p:sp>
        <p:nvSpPr>
          <p:cNvPr id="19" name="Text 17"/>
          <p:cNvSpPr/>
          <p:nvPr/>
        </p:nvSpPr>
        <p:spPr>
          <a:xfrm>
            <a:off x="822960" y="354330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Ubiquitous Language — </a:t>
            </a:r>
            <a:r>
              <a:rPr lang="en-US" sz="1300" dirty="0">
                <a:solidFill>
                  <a:srgbClr val="E8ECF4"/>
                </a:solidFill>
                <a:latin typeface="Calibri" pitchFamily="34" charset="0"/>
                <a:ea typeface="Calibri" pitchFamily="34" charset="-122"/>
                <a:cs typeface="Calibri" pitchFamily="34" charset="-120"/>
              </a:rPr>
              <a:t>le vocabulaire partagé entre devs et métier</a:t>
            </a:r>
            <a:endParaRPr lang="en-US" sz="1300" dirty="0"/>
          </a:p>
        </p:txBody>
      </p:sp>
      <p:sp>
        <p:nvSpPr>
          <p:cNvPr id="20" name="Shape 18"/>
          <p:cNvSpPr/>
          <p:nvPr/>
        </p:nvSpPr>
        <p:spPr>
          <a:xfrm>
            <a:off x="548640" y="413766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dirty="0"/>
          </a:p>
        </p:txBody>
      </p:sp>
      <p:sp>
        <p:nvSpPr>
          <p:cNvPr id="21" name="Shape 19"/>
          <p:cNvSpPr/>
          <p:nvPr/>
        </p:nvSpPr>
        <p:spPr>
          <a:xfrm>
            <a:off x="548640" y="4137660"/>
            <a:ext cx="54864" cy="502920"/>
          </a:xfrm>
          <a:prstGeom prst="rect">
            <a:avLst/>
          </a:prstGeom>
          <a:solidFill>
            <a:srgbClr val="1E90FF"/>
          </a:solidFill>
          <a:ln/>
        </p:spPr>
        <p:txBody>
          <a:bodyPr/>
          <a:lstStyle/>
          <a:p>
            <a:endParaRPr lang="en-US"/>
          </a:p>
        </p:txBody>
      </p:sp>
      <p:sp>
        <p:nvSpPr>
          <p:cNvPr id="22" name="Text 20"/>
          <p:cNvSpPr/>
          <p:nvPr/>
        </p:nvSpPr>
        <p:spPr>
          <a:xfrm>
            <a:off x="822960" y="413766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Bounded Context — </a:t>
            </a:r>
            <a:r>
              <a:rPr lang="en-US" sz="1300" dirty="0">
                <a:solidFill>
                  <a:srgbClr val="E8ECF4"/>
                </a:solidFill>
                <a:latin typeface="Calibri" pitchFamily="34" charset="0"/>
                <a:ea typeface="Calibri" pitchFamily="34" charset="-122"/>
                <a:cs typeface="Calibri" pitchFamily="34" charset="-120"/>
              </a:rPr>
              <a:t>les frontières entre sous-domaines</a:t>
            </a:r>
            <a:endParaRPr lang="en-US" sz="1300" dirty="0"/>
          </a:p>
        </p:txBody>
      </p:sp>
      <p:sp>
        <p:nvSpPr>
          <p:cNvPr id="23" name="Text 21"/>
          <p:cNvSpPr/>
          <p:nvPr/>
        </p:nvSpPr>
        <p:spPr>
          <a:xfrm>
            <a:off x="548640" y="4732020"/>
            <a:ext cx="8046720" cy="274320"/>
          </a:xfrm>
          <a:prstGeom prst="rect">
            <a:avLst/>
          </a:prstGeom>
          <a:noFill/>
          <a:ln/>
        </p:spPr>
        <p:txBody>
          <a:bodyPr wrap="square" rtlCol="0" anchor="ctr"/>
          <a:lstStyle/>
          <a:p>
            <a:pPr marL="0" indent="0">
              <a:buNone/>
            </a:pPr>
            <a:r>
              <a:rPr lang="en-US" sz="1300" dirty="0">
                <a:solidFill>
                  <a:srgbClr val="8B99B8"/>
                </a:solidFill>
                <a:latin typeface="Calibri" pitchFamily="34" charset="0"/>
                <a:ea typeface="Calibri" pitchFamily="34" charset="-122"/>
                <a:cs typeface="Calibri" pitchFamily="34" charset="-120"/>
              </a:rPr>
              <a:t>Le DDD dit quoi mettre dans ton code. Il donne la substance.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Clean Architecture — Le où</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548639" y="1005841"/>
            <a:ext cx="8046719" cy="1634266"/>
          </a:xfrm>
          <a:prstGeom prst="rect">
            <a:avLst/>
          </a:prstGeom>
          <a:noFill/>
          <a:ln/>
        </p:spPr>
        <p:txBody>
          <a:bodyPr wrap="square" rtlCol="0" anchor="ctr"/>
          <a:lstStyle/>
          <a:p>
            <a:pPr marL="0" indent="0" algn="just">
              <a:buNone/>
            </a:pPr>
            <a:r>
              <a:rPr lang="en-US" sz="1300" dirty="0">
                <a:solidFill>
                  <a:srgbClr val="E8ECF4"/>
                </a:solidFill>
                <a:latin typeface="Calibri" pitchFamily="34" charset="0"/>
                <a:ea typeface="Calibri" pitchFamily="34" charset="-122"/>
                <a:cs typeface="Calibri" pitchFamily="34" charset="-120"/>
              </a:rPr>
              <a:t>La Clean Architecture répond à la question :</a:t>
            </a:r>
            <a:endParaRPr lang="en-US" sz="1300" dirty="0"/>
          </a:p>
          <a:p>
            <a:pPr marL="0" indent="0">
              <a:buNone/>
            </a:pPr>
            <a:r>
              <a:rPr lang="en-US" sz="1500" b="1" dirty="0">
                <a:solidFill>
                  <a:srgbClr val="00BFFF"/>
                </a:solidFill>
                <a:latin typeface="Calibri" pitchFamily="34" charset="0"/>
                <a:ea typeface="Calibri" pitchFamily="34" charset="-122"/>
                <a:cs typeface="Calibri" pitchFamily="34" charset="-120"/>
              </a:rPr>
              <a:t>Comment organiser mes couches pour que le métier ne dépende pas de la technique ?</a:t>
            </a:r>
            <a:endParaRPr lang="en-US" sz="1300" dirty="0"/>
          </a:p>
          <a:p>
            <a:pPr marL="0" indent="0">
              <a:buNone/>
            </a:pP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Règle d'or : </a:t>
            </a:r>
            <a:r>
              <a:rPr lang="en-US" sz="1300" dirty="0">
                <a:solidFill>
                  <a:srgbClr val="E8ECF4"/>
                </a:solidFill>
                <a:latin typeface="Calibri" pitchFamily="34" charset="0"/>
                <a:ea typeface="Calibri" pitchFamily="34" charset="-122"/>
                <a:cs typeface="Calibri" pitchFamily="34" charset="-120"/>
              </a:rPr>
              <a:t>les dépendances vont toujours de l'extérieur vers l'intérieur.</a:t>
            </a: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Le domaine ne connaît ni Prisma, ni NestJS, ni HTTP.</a:t>
            </a:r>
            <a:endParaRPr lang="en-US" sz="1300" dirty="0"/>
          </a:p>
          <a:p>
            <a:pPr marL="0" indent="0">
              <a:buNone/>
            </a:pP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La Clean Archi dit </a:t>
            </a:r>
            <a:r>
              <a:rPr lang="en-US" sz="1300" b="1" dirty="0">
                <a:solidFill>
                  <a:srgbClr val="00BFFF"/>
                </a:solidFill>
                <a:latin typeface="Calibri" pitchFamily="34" charset="0"/>
                <a:ea typeface="Calibri" pitchFamily="34" charset="-122"/>
                <a:cs typeface="Calibri" pitchFamily="34" charset="-120"/>
              </a:rPr>
              <a:t>où</a:t>
            </a:r>
            <a:r>
              <a:rPr lang="en-US" sz="1300" dirty="0">
                <a:solidFill>
                  <a:srgbClr val="E8ECF4"/>
                </a:solidFill>
                <a:latin typeface="Calibri" pitchFamily="34" charset="0"/>
                <a:ea typeface="Calibri" pitchFamily="34" charset="-122"/>
                <a:cs typeface="Calibri" pitchFamily="34" charset="-120"/>
              </a:rPr>
              <a:t> placer chaque élément. Elle donne la structure.</a:t>
            </a:r>
            <a:endParaRPr lang="en-US" sz="1300" dirty="0"/>
          </a:p>
        </p:txBody>
      </p:sp>
      <p:sp>
        <p:nvSpPr>
          <p:cNvPr id="8" name="Text 5"/>
          <p:cNvSpPr/>
          <p:nvPr/>
        </p:nvSpPr>
        <p:spPr>
          <a:xfrm>
            <a:off x="548639" y="3560333"/>
            <a:ext cx="3474720" cy="27432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C'est une architecture en cercles concentriques :</a:t>
            </a:r>
            <a:endParaRPr lang="en-US" sz="1100" dirty="0"/>
          </a:p>
        </p:txBody>
      </p:sp>
      <p:pic>
        <p:nvPicPr>
          <p:cNvPr id="10" name="Picture 9" descr="A diagram of a software application&#10;&#10;AI-generated content may be incorrect.">
            <a:extLst>
              <a:ext uri="{FF2B5EF4-FFF2-40B4-BE49-F238E27FC236}">
                <a16:creationId xmlns:a16="http://schemas.microsoft.com/office/drawing/2014/main" id="{3716C6C1-E2CB-5CFD-F153-5CCD761F9EE3}"/>
              </a:ext>
            </a:extLst>
          </p:cNvPr>
          <p:cNvPicPr>
            <a:picLocks noChangeAspect="1"/>
          </p:cNvPicPr>
          <p:nvPr/>
        </p:nvPicPr>
        <p:blipFill>
          <a:blip r:embed="rId4"/>
          <a:stretch>
            <a:fillRect/>
          </a:stretch>
        </p:blipFill>
        <p:spPr>
          <a:xfrm>
            <a:off x="3642806" y="2768301"/>
            <a:ext cx="1858384" cy="1858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Sessions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133856"/>
            <a:ext cx="384048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133856"/>
            <a:ext cx="3840480" cy="457200"/>
          </a:xfrm>
          <a:prstGeom prst="rect">
            <a:avLst/>
          </a:prstGeom>
          <a:solidFill>
            <a:srgbClr val="1E90FF">
              <a:alpha val="40000"/>
            </a:srgbClr>
          </a:solidFill>
          <a:ln/>
        </p:spPr>
        <p:txBody>
          <a:bodyPr/>
          <a:lstStyle/>
          <a:p>
            <a:endParaRPr lang="en-US"/>
          </a:p>
        </p:txBody>
      </p:sp>
      <p:sp>
        <p:nvSpPr>
          <p:cNvPr id="8" name="Text 6"/>
          <p:cNvSpPr/>
          <p:nvPr/>
        </p:nvSpPr>
        <p:spPr>
          <a:xfrm>
            <a:off x="731520" y="1179576"/>
            <a:ext cx="34747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 1</a:t>
            </a:r>
            <a:endParaRPr lang="en-US" sz="1600" dirty="0"/>
          </a:p>
        </p:txBody>
      </p:sp>
      <p:sp>
        <p:nvSpPr>
          <p:cNvPr id="9" name="Text 7"/>
          <p:cNvSpPr/>
          <p:nvPr/>
        </p:nvSpPr>
        <p:spPr>
          <a:xfrm>
            <a:off x="731520" y="1773936"/>
            <a:ext cx="3474720" cy="13716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Le DDD</a:t>
            </a:r>
          </a:p>
          <a:p>
            <a:pPr marL="0" indent="0">
              <a:buNone/>
            </a:pPr>
            <a:r>
              <a:rPr lang="en-US" sz="1400" dirty="0">
                <a:solidFill>
                  <a:srgbClr val="E8ECF4"/>
                </a:solidFill>
                <a:latin typeface="Calibri" pitchFamily="34" charset="0"/>
                <a:ea typeface="Calibri" pitchFamily="34" charset="-122"/>
                <a:cs typeface="Calibri" pitchFamily="34" charset="-120"/>
              </a:rPr>
              <a:t>Comment modéliser le domain</a:t>
            </a:r>
            <a:r>
              <a:rPr lang="en-US" sz="1400" dirty="0"/>
              <a:t> </a:t>
            </a:r>
            <a:r>
              <a:rPr lang="en-US" sz="1400" dirty="0">
                <a:solidFill>
                  <a:srgbClr val="E8ECF4"/>
                </a:solidFill>
                <a:latin typeface="Calibri" pitchFamily="34" charset="0"/>
                <a:ea typeface="Calibri" pitchFamily="34" charset="-122"/>
                <a:cs typeface="Calibri" pitchFamily="34" charset="-120"/>
              </a:rPr>
              <a:t>(Value Object, Entity, Aggregate, Bounded Context)</a:t>
            </a:r>
            <a:endParaRPr lang="en-US" sz="1400" dirty="0"/>
          </a:p>
        </p:txBody>
      </p:sp>
      <p:sp>
        <p:nvSpPr>
          <p:cNvPr id="10" name="Shape 8"/>
          <p:cNvSpPr/>
          <p:nvPr/>
        </p:nvSpPr>
        <p:spPr>
          <a:xfrm>
            <a:off x="4754880" y="1133856"/>
            <a:ext cx="384048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4754880" y="1133856"/>
            <a:ext cx="3840480" cy="457200"/>
          </a:xfrm>
          <a:prstGeom prst="rect">
            <a:avLst/>
          </a:prstGeom>
          <a:solidFill>
            <a:srgbClr val="00BFFF">
              <a:alpha val="40000"/>
            </a:srgbClr>
          </a:solidFill>
          <a:ln/>
        </p:spPr>
        <p:txBody>
          <a:bodyPr/>
          <a:lstStyle/>
          <a:p>
            <a:endParaRPr lang="en-US"/>
          </a:p>
        </p:txBody>
      </p:sp>
      <p:sp>
        <p:nvSpPr>
          <p:cNvPr id="12" name="Text 10"/>
          <p:cNvSpPr/>
          <p:nvPr/>
        </p:nvSpPr>
        <p:spPr>
          <a:xfrm>
            <a:off x="4937760" y="1179576"/>
            <a:ext cx="34747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 2</a:t>
            </a:r>
            <a:endParaRPr lang="en-US" sz="1600" dirty="0"/>
          </a:p>
        </p:txBody>
      </p:sp>
      <p:sp>
        <p:nvSpPr>
          <p:cNvPr id="13" name="Text 11"/>
          <p:cNvSpPr/>
          <p:nvPr/>
        </p:nvSpPr>
        <p:spPr>
          <a:xfrm>
            <a:off x="4937760" y="1773936"/>
            <a:ext cx="3474720" cy="13716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La Clean Architecture</a:t>
            </a:r>
          </a:p>
          <a:p>
            <a:pPr marL="0" indent="0">
              <a:buNone/>
            </a:pPr>
            <a:r>
              <a:rPr lang="en-US" sz="1400" dirty="0">
                <a:solidFill>
                  <a:srgbClr val="E8ECF4"/>
                </a:solidFill>
                <a:latin typeface="Calibri" pitchFamily="34" charset="0"/>
                <a:ea typeface="Calibri" pitchFamily="34" charset="-122"/>
                <a:cs typeface="Calibri" pitchFamily="34" charset="-120"/>
              </a:rPr>
              <a:t>Comment organiser les couches</a:t>
            </a:r>
            <a:r>
              <a:rPr lang="en-US" sz="1400" dirty="0"/>
              <a:t> </a:t>
            </a:r>
            <a:r>
              <a:rPr lang="en-US" sz="1400" dirty="0">
                <a:solidFill>
                  <a:srgbClr val="E8ECF4"/>
                </a:solidFill>
                <a:latin typeface="Calibri" pitchFamily="34" charset="0"/>
                <a:ea typeface="Calibri" pitchFamily="34" charset="-122"/>
                <a:cs typeface="Calibri" pitchFamily="34" charset="-120"/>
              </a:rPr>
              <a:t>(Use Case, Repository, UoW, DI, Controller, DTO)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3</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Question aux </a:t>
            </a:r>
            <a:r>
              <a:rPr lang="en-US" sz="2400" dirty="0" err="1">
                <a:solidFill>
                  <a:srgbClr val="00BFFF"/>
                </a:solidFill>
                <a:latin typeface="Calibri" pitchFamily="34" charset="0"/>
                <a:ea typeface="Calibri" pitchFamily="34" charset="-122"/>
                <a:cs typeface="Calibri" pitchFamily="34" charset="-120"/>
              </a:rPr>
              <a:t>devs</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01</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Où vit </a:t>
            </a:r>
            <a:r>
              <a:rPr lang="en-US" sz="2800" b="1" dirty="0" err="1">
                <a:solidFill>
                  <a:srgbClr val="FFFFFF"/>
                </a:solidFill>
                <a:latin typeface="Calibri" pitchFamily="34" charset="0"/>
                <a:ea typeface="Calibri" pitchFamily="34" charset="-122"/>
                <a:cs typeface="Calibri" pitchFamily="34" charset="-120"/>
              </a:rPr>
              <a:t>votre</a:t>
            </a:r>
            <a:r>
              <a:rPr lang="en-US" sz="2800" b="1" dirty="0">
                <a:solidFill>
                  <a:srgbClr val="FFFFFF"/>
                </a:solidFill>
                <a:latin typeface="Calibri" pitchFamily="34" charset="0"/>
                <a:ea typeface="Calibri" pitchFamily="34" charset="-122"/>
                <a:cs typeface="Calibri" pitchFamily="34" charset="-120"/>
              </a:rPr>
              <a:t> logique métier aujourd'hui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02</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Si on vous demande de changer une règle métier. Combien de </a:t>
            </a:r>
            <a:r>
              <a:rPr lang="en-US" sz="2800" b="1" dirty="0" err="1">
                <a:solidFill>
                  <a:srgbClr val="FFFFFF"/>
                </a:solidFill>
                <a:latin typeface="Calibri" pitchFamily="34" charset="0"/>
                <a:ea typeface="Calibri" pitchFamily="34" charset="-122"/>
                <a:cs typeface="Calibri" pitchFamily="34" charset="-120"/>
              </a:rPr>
              <a:t>fichiers</a:t>
            </a:r>
            <a:r>
              <a:rPr lang="en-US" sz="2800" b="1" dirty="0">
                <a:solidFill>
                  <a:srgbClr val="FFFFFF"/>
                </a:solidFill>
                <a:latin typeface="Calibri" pitchFamily="34" charset="0"/>
                <a:ea typeface="Calibri" pitchFamily="34" charset="-122"/>
                <a:cs typeface="Calibri" pitchFamily="34" charset="-120"/>
              </a:rPr>
              <a:t> </a:t>
            </a:r>
            <a:r>
              <a:rPr lang="en-US" sz="2800" b="1" dirty="0" err="1">
                <a:solidFill>
                  <a:srgbClr val="FFFFFF"/>
                </a:solidFill>
                <a:latin typeface="Calibri" pitchFamily="34" charset="0"/>
                <a:ea typeface="Calibri" pitchFamily="34" charset="-122"/>
                <a:cs typeface="Calibri" pitchFamily="34" charset="-120"/>
              </a:rPr>
              <a:t>touchez</a:t>
            </a:r>
            <a:r>
              <a:rPr lang="en-US" sz="2800" b="1" dirty="0">
                <a:solidFill>
                  <a:srgbClr val="FFFFFF"/>
                </a:solidFill>
                <a:latin typeface="Calibri" pitchFamily="34" charset="0"/>
                <a:ea typeface="Calibri" pitchFamily="34" charset="-122"/>
                <a:cs typeface="Calibri" pitchFamily="34" charset="-120"/>
              </a:rPr>
              <a:t> vous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03</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Vos tests unitaires, ils testent quoi exactement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4</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Value Object</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 : la Primitive Obsession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48640" y="1005840"/>
            <a:ext cx="5029200" cy="36576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Qu'est-ce qu'un email dans le code aujourd'hui ?</a:t>
            </a:r>
            <a:endParaRPr lang="en-US" sz="1600" dirty="0"/>
          </a:p>
        </p:txBody>
      </p:sp>
      <p:sp>
        <p:nvSpPr>
          <p:cNvPr id="7" name="Text 5"/>
          <p:cNvSpPr/>
          <p:nvPr/>
        </p:nvSpPr>
        <p:spPr>
          <a:xfrm>
            <a:off x="548639" y="3411071"/>
            <a:ext cx="8046719" cy="1633368"/>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Un string peut contenir n'importe quoi. Il n'y a aucune garantie que c'est un email valide. Et si on a besoin de valider l'email, on doit le faire partout où on le manipule.</a:t>
            </a:r>
            <a:endParaRPr lang="en-US" sz="1300" dirty="0"/>
          </a:p>
          <a:p>
            <a:pPr marL="0" indent="0">
              <a:buNone/>
            </a:pP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C'est ce qu'on appelle la Primitive Obsession : utiliser des types primitifs (string, number, boolean) pour représenter des concepts métier qui méritent leur propre type.</a:t>
            </a:r>
            <a:endParaRPr lang="en-US" sz="1300" dirty="0"/>
          </a:p>
        </p:txBody>
      </p:sp>
      <p:pic>
        <p:nvPicPr>
          <p:cNvPr id="11" name="Picture 10" descr="A computer screen shot of a program&#10;&#10;AI-generated content may be incorrect.">
            <a:extLst>
              <a:ext uri="{FF2B5EF4-FFF2-40B4-BE49-F238E27FC236}">
                <a16:creationId xmlns:a16="http://schemas.microsoft.com/office/drawing/2014/main" id="{F3A1641A-D10F-7497-C4C2-91D101B9B34F}"/>
              </a:ext>
            </a:extLst>
          </p:cNvPr>
          <p:cNvPicPr>
            <a:picLocks noChangeAspect="1"/>
          </p:cNvPicPr>
          <p:nvPr/>
        </p:nvPicPr>
        <p:blipFill>
          <a:blip r:embed="rId4"/>
          <a:stretch>
            <a:fillRect/>
          </a:stretch>
        </p:blipFill>
        <p:spPr>
          <a:xfrm>
            <a:off x="638733" y="1443792"/>
            <a:ext cx="4298578" cy="214233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Value Object est un objet :</a:t>
            </a:r>
            <a:endParaRPr lang="en-US" sz="1500" dirty="0"/>
          </a:p>
        </p:txBody>
      </p:sp>
      <p:sp>
        <p:nvSpPr>
          <p:cNvPr id="7" name="Shape 5"/>
          <p:cNvSpPr/>
          <p:nvPr/>
        </p:nvSpPr>
        <p:spPr>
          <a:xfrm>
            <a:off x="548640" y="155448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822960"/>
          </a:xfrm>
          <a:prstGeom prst="rect">
            <a:avLst/>
          </a:prstGeom>
          <a:solidFill>
            <a:srgbClr val="1E90FF"/>
          </a:solidFill>
          <a:ln/>
        </p:spPr>
        <p:txBody>
          <a:bodyPr/>
          <a:lstStyle/>
          <a:p>
            <a:endParaRPr lang="en-US"/>
          </a:p>
        </p:txBody>
      </p:sp>
      <p:sp>
        <p:nvSpPr>
          <p:cNvPr id="9" name="Text 7"/>
          <p:cNvSpPr/>
          <p:nvPr/>
        </p:nvSpPr>
        <p:spPr>
          <a:xfrm>
            <a:off x="822960" y="164592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Défini par ses valeurs</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Pas d'identité propre. Deux emails identiques sont le même objet.</a:t>
            </a:r>
            <a:endParaRPr lang="en-US" sz="1500" dirty="0"/>
          </a:p>
        </p:txBody>
      </p:sp>
      <p:sp>
        <p:nvSpPr>
          <p:cNvPr id="10" name="Shape 8"/>
          <p:cNvSpPr/>
          <p:nvPr/>
        </p:nvSpPr>
        <p:spPr>
          <a:xfrm>
            <a:off x="548640" y="256032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560320"/>
            <a:ext cx="54864" cy="822960"/>
          </a:xfrm>
          <a:prstGeom prst="rect">
            <a:avLst/>
          </a:prstGeom>
          <a:solidFill>
            <a:srgbClr val="1E90FF"/>
          </a:solidFill>
          <a:ln/>
        </p:spPr>
        <p:txBody>
          <a:bodyPr/>
          <a:lstStyle/>
          <a:p>
            <a:endParaRPr lang="en-US"/>
          </a:p>
        </p:txBody>
      </p:sp>
      <p:sp>
        <p:nvSpPr>
          <p:cNvPr id="12" name="Text 10"/>
          <p:cNvSpPr/>
          <p:nvPr/>
        </p:nvSpPr>
        <p:spPr>
          <a:xfrm>
            <a:off x="822960" y="265176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Immutable</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Une fois créé, on ne peut pas le modifier. Pour "changer" un email, on en crée un nouveau.</a:t>
            </a:r>
            <a:endParaRPr lang="en-US" sz="1500" dirty="0"/>
          </a:p>
        </p:txBody>
      </p:sp>
      <p:sp>
        <p:nvSpPr>
          <p:cNvPr id="13" name="Shape 11"/>
          <p:cNvSpPr/>
          <p:nvPr/>
        </p:nvSpPr>
        <p:spPr>
          <a:xfrm>
            <a:off x="548640" y="356616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566160"/>
            <a:ext cx="54864" cy="822960"/>
          </a:xfrm>
          <a:prstGeom prst="rect">
            <a:avLst/>
          </a:prstGeom>
          <a:solidFill>
            <a:srgbClr val="1E90FF"/>
          </a:solidFill>
          <a:ln/>
        </p:spPr>
        <p:txBody>
          <a:bodyPr/>
          <a:lstStyle/>
          <a:p>
            <a:endParaRPr lang="en-US"/>
          </a:p>
        </p:txBody>
      </p:sp>
      <p:sp>
        <p:nvSpPr>
          <p:cNvPr id="15" name="Text 13"/>
          <p:cNvSpPr/>
          <p:nvPr/>
        </p:nvSpPr>
        <p:spPr>
          <a:xfrm>
            <a:off x="822960" y="365760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Auto-validant</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Un Value Object invalide ne peut pas exister. La validation est dans le constructeur.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Analogie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097280"/>
            <a:ext cx="3840480" cy="27432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3840480" cy="457200"/>
          </a:xfrm>
          <a:prstGeom prst="rect">
            <a:avLst/>
          </a:prstGeom>
          <a:solidFill>
            <a:srgbClr val="1E90FF">
              <a:alpha val="40000"/>
            </a:srgbClr>
          </a:solidFill>
          <a:ln/>
        </p:spPr>
        <p:txBody>
          <a:bodyPr/>
          <a:lstStyle/>
          <a:p>
            <a:endParaRPr lang="en-US"/>
          </a:p>
        </p:txBody>
      </p:sp>
      <p:sp>
        <p:nvSpPr>
          <p:cNvPr id="8" name="Text 6"/>
          <p:cNvSpPr/>
          <p:nvPr/>
        </p:nvSpPr>
        <p:spPr>
          <a:xfrm>
            <a:off x="731520" y="11430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VALUE OBJECT</a:t>
            </a:r>
            <a:endParaRPr lang="en-US" sz="1400" dirty="0"/>
          </a:p>
        </p:txBody>
      </p:sp>
      <p:sp>
        <p:nvSpPr>
          <p:cNvPr id="9" name="Text 7"/>
          <p:cNvSpPr/>
          <p:nvPr/>
        </p:nvSpPr>
        <p:spPr>
          <a:xfrm>
            <a:off x="731520" y="1645920"/>
            <a:ext cx="3474720" cy="20116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Un billet de 20€ est un Value Object.</a:t>
            </a:r>
          </a:p>
          <a:p>
            <a:pPr marL="0" indent="0">
              <a:buNone/>
            </a:pPr>
            <a:r>
              <a:rPr lang="en-US" sz="1200" dirty="0">
                <a:solidFill>
                  <a:srgbClr val="E8ECF4"/>
                </a:solidFill>
                <a:latin typeface="Calibri" pitchFamily="34" charset="0"/>
                <a:ea typeface="Calibri" pitchFamily="34" charset="-122"/>
                <a:cs typeface="Calibri" pitchFamily="34" charset="-120"/>
              </a:rPr>
              <a:t>Si je te donne un billet de 20€ et que tu me donnes un autre billet de 20€, on est </a:t>
            </a:r>
            <a:r>
              <a:rPr lang="en-US" sz="1200" dirty="0" err="1">
                <a:solidFill>
                  <a:srgbClr val="E8ECF4"/>
                </a:solidFill>
                <a:latin typeface="Calibri" pitchFamily="34" charset="0"/>
                <a:ea typeface="Calibri" pitchFamily="34" charset="-122"/>
                <a:cs typeface="Calibri" pitchFamily="34" charset="-120"/>
              </a:rPr>
              <a:t>quittes</a:t>
            </a:r>
            <a:r>
              <a:rPr lang="en-US" sz="1200" dirty="0">
                <a:solidFill>
                  <a:srgbClr val="E8ECF4"/>
                </a:solidFill>
                <a:latin typeface="Calibri" pitchFamily="34" charset="0"/>
                <a:ea typeface="Calibri" pitchFamily="34" charset="-122"/>
                <a:cs typeface="Calibri" pitchFamily="34" charset="-120"/>
              </a:rPr>
              <a:t>.</a:t>
            </a:r>
          </a:p>
          <a:p>
            <a:pPr marL="0" indent="0">
              <a:buNone/>
            </a:pPr>
            <a:r>
              <a:rPr lang="en-US" sz="1200" dirty="0">
                <a:solidFill>
                  <a:srgbClr val="E8ECF4"/>
                </a:solidFill>
                <a:latin typeface="Calibri" pitchFamily="34" charset="0"/>
                <a:ea typeface="Calibri" pitchFamily="34" charset="-122"/>
                <a:cs typeface="Calibri" pitchFamily="34" charset="-120"/>
              </a:rPr>
              <a:t>On ne distingue pas les billets entre eux (pas d'identité). Et tu ne peux pas "modifier" un billet.</a:t>
            </a:r>
            <a:endParaRPr lang="en-US" sz="1200" dirty="0"/>
          </a:p>
        </p:txBody>
      </p:sp>
      <p:sp>
        <p:nvSpPr>
          <p:cNvPr id="10" name="Shape 8"/>
          <p:cNvSpPr/>
          <p:nvPr/>
        </p:nvSpPr>
        <p:spPr>
          <a:xfrm>
            <a:off x="4754880" y="1097280"/>
            <a:ext cx="3840480" cy="27432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4754880" y="1097280"/>
            <a:ext cx="3840480" cy="457200"/>
          </a:xfrm>
          <a:prstGeom prst="rect">
            <a:avLst/>
          </a:prstGeom>
          <a:solidFill>
            <a:srgbClr val="00BFFF">
              <a:alpha val="40000"/>
            </a:srgbClr>
          </a:solidFill>
          <a:ln/>
        </p:spPr>
        <p:txBody>
          <a:bodyPr/>
          <a:lstStyle/>
          <a:p>
            <a:endParaRPr lang="en-US"/>
          </a:p>
        </p:txBody>
      </p:sp>
      <p:sp>
        <p:nvSpPr>
          <p:cNvPr id="12" name="Text 10"/>
          <p:cNvSpPr/>
          <p:nvPr/>
        </p:nvSpPr>
        <p:spPr>
          <a:xfrm>
            <a:off x="4937760" y="11430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ENTITY</a:t>
            </a:r>
            <a:endParaRPr lang="en-US" sz="1400" dirty="0"/>
          </a:p>
        </p:txBody>
      </p:sp>
      <p:sp>
        <p:nvSpPr>
          <p:cNvPr id="13" name="Text 11"/>
          <p:cNvSpPr/>
          <p:nvPr/>
        </p:nvSpPr>
        <p:spPr>
          <a:xfrm>
            <a:off x="4937760" y="1645920"/>
            <a:ext cx="3474720" cy="20116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Un passeport est une Entity.</a:t>
            </a:r>
          </a:p>
          <a:p>
            <a:pPr marL="0" indent="0">
              <a:buNone/>
            </a:pPr>
            <a:r>
              <a:rPr lang="en-US" sz="1200" dirty="0">
                <a:solidFill>
                  <a:srgbClr val="E8ECF4"/>
                </a:solidFill>
                <a:latin typeface="Calibri" pitchFamily="34" charset="0"/>
                <a:ea typeface="Calibri" pitchFamily="34" charset="-122"/>
                <a:cs typeface="Calibri" pitchFamily="34" charset="-120"/>
              </a:rPr>
              <a:t>Deux passeports avec le même nom et la même photo sont quand même deux passeports différents (numéro unique). </a:t>
            </a:r>
          </a:p>
          <a:p>
            <a:pPr marL="0" indent="0">
              <a:buNone/>
            </a:pPr>
            <a:r>
              <a:rPr lang="en-US" sz="1200" dirty="0">
                <a:solidFill>
                  <a:srgbClr val="E8ECF4"/>
                </a:solidFill>
                <a:latin typeface="Calibri" pitchFamily="34" charset="0"/>
                <a:ea typeface="Calibri" pitchFamily="34" charset="-122"/>
                <a:cs typeface="Calibri" pitchFamily="34" charset="-120"/>
              </a:rPr>
              <a:t>Et le passeport évolue : on ajoute des visas, il expire.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Les règles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1645920"/>
        </p:xfrm>
        <a:graphic>
          <a:graphicData uri="http://schemas.openxmlformats.org/drawingml/2006/table">
            <a:tbl>
              <a:tblPr/>
              <a:tblGrid>
                <a:gridCol w="27432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Règle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Constructeur privé</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On force l'utilisation d'une méthode factory static create()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Validation à la création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Un Value Object invalide ne peut pas exister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Propriétés readonly</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Aucune mutation possible après la création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Pas de setter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Jamais. Pour "modifier", on crée une nouvelle instance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equals() par valeur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Deux VO avec les mêmes valeurs sont égaux</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22</a:t>
            </a:r>
            <a:endParaRPr lang="en-US" sz="900" dirty="0"/>
          </a:p>
        </p:txBody>
      </p:sp>
      <p:pic>
        <p:nvPicPr>
          <p:cNvPr id="8" name="Picture 7" descr="A screen shot of a computer program&#10;&#10;AI-generated content may be incorrect.">
            <a:extLst>
              <a:ext uri="{FF2B5EF4-FFF2-40B4-BE49-F238E27FC236}">
                <a16:creationId xmlns:a16="http://schemas.microsoft.com/office/drawing/2014/main" id="{5BE94221-79D4-75A4-7BB1-70DAA07E95C3}"/>
              </a:ext>
            </a:extLst>
          </p:cNvPr>
          <p:cNvPicPr>
            <a:picLocks noChangeAspect="1"/>
          </p:cNvPicPr>
          <p:nvPr/>
        </p:nvPicPr>
        <p:blipFill>
          <a:blip r:embed="rId4"/>
          <a:stretch>
            <a:fillRect/>
          </a:stretch>
        </p:blipFill>
        <p:spPr>
          <a:xfrm>
            <a:off x="2358006" y="228601"/>
            <a:ext cx="4427988" cy="466343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23</a:t>
            </a:r>
            <a:endParaRPr lang="en-US" sz="900" dirty="0"/>
          </a:p>
        </p:txBody>
      </p:sp>
      <p:pic>
        <p:nvPicPr>
          <p:cNvPr id="10" name="Picture 9" descr="A screenshot of a computer program&#10;&#10;AI-generated content may be incorrect.">
            <a:extLst>
              <a:ext uri="{FF2B5EF4-FFF2-40B4-BE49-F238E27FC236}">
                <a16:creationId xmlns:a16="http://schemas.microsoft.com/office/drawing/2014/main" id="{411BC9B9-2A04-50F6-602C-3A817F2B7A71}"/>
              </a:ext>
            </a:extLst>
          </p:cNvPr>
          <p:cNvPicPr>
            <a:picLocks noChangeAspect="1"/>
          </p:cNvPicPr>
          <p:nvPr/>
        </p:nvPicPr>
        <p:blipFill>
          <a:blip r:embed="rId4"/>
          <a:stretch>
            <a:fillRect/>
          </a:stretch>
        </p:blipFill>
        <p:spPr>
          <a:xfrm>
            <a:off x="2612671" y="228600"/>
            <a:ext cx="3918657" cy="46606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Autres exemples de Value Objects courants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3803301090"/>
              </p:ext>
            </p:extLst>
          </p:nvPr>
        </p:nvGraphicFramePr>
        <p:xfrm>
          <a:off x="1057387" y="1202436"/>
          <a:ext cx="7029226" cy="2331720"/>
        </p:xfrm>
        <a:graphic>
          <a:graphicData uri="http://schemas.openxmlformats.org/drawingml/2006/table">
            <a:tbl>
              <a:tblPr/>
              <a:tblGrid>
                <a:gridCol w="1699161">
                  <a:extLst>
                    <a:ext uri="{9D8B030D-6E8A-4147-A177-3AD203B41FA5}">
                      <a16:colId xmlns:a16="http://schemas.microsoft.com/office/drawing/2014/main" val="20000"/>
                    </a:ext>
                  </a:extLst>
                </a:gridCol>
                <a:gridCol w="1869077">
                  <a:extLst>
                    <a:ext uri="{9D8B030D-6E8A-4147-A177-3AD203B41FA5}">
                      <a16:colId xmlns:a16="http://schemas.microsoft.com/office/drawing/2014/main" val="20001"/>
                    </a:ext>
                  </a:extLst>
                </a:gridCol>
                <a:gridCol w="3460988">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Value Object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Remplace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Ce qu'il garantit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Email</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valide, normalisé (trim, lowercase)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Money</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Montant positif, devise explicite, pas de mélange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PhoneNumber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E.164, pays identifié</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IBAN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valide, clé de contrôle vérifiée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DateRange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 start, end }</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end &gt; start garanti, méthodes contains(), overlaps()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Entre 0 et 100, méthodes of() pour calculer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Address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objet brut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Champs requis validés, formatage cohérent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OrderStatus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 | enum</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Transitions validées (DRAFT → CONFIRMED, pas l'inverse)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1828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dirty="0"/>
          </a:p>
        </p:txBody>
      </p:sp>
      <p:sp>
        <p:nvSpPr>
          <p:cNvPr id="4" name="Text 2"/>
          <p:cNvSpPr/>
          <p:nvPr/>
        </p:nvSpPr>
        <p:spPr>
          <a:xfrm>
            <a:off x="1371600" y="1688054"/>
            <a:ext cx="6400800" cy="10972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Un Value Object invalide ne peut pas exister. Si vous avez un objet Email dans les mains, vous savez qu'il est valide. Vous n'avez plus jamais besoin de re-</a:t>
            </a:r>
            <a:r>
              <a:rPr lang="en-US" sz="1600" dirty="0" err="1">
                <a:solidFill>
                  <a:srgbClr val="FFFFFF"/>
                </a:solidFill>
                <a:latin typeface="Calibri" pitchFamily="34" charset="0"/>
                <a:ea typeface="Calibri" pitchFamily="34" charset="-122"/>
                <a:cs typeface="Calibri" pitchFamily="34" charset="-120"/>
              </a:rPr>
              <a:t>vérifier</a:t>
            </a: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1371600" y="2648174"/>
            <a:ext cx="6400800" cy="731520"/>
          </a:xfrm>
          <a:prstGeom prst="rect">
            <a:avLst/>
          </a:prstGeom>
          <a:noFill/>
          <a:ln/>
        </p:spPr>
        <p:txBody>
          <a:bodyPr wrap="square" rtlCol="0" anchor="ctr"/>
          <a:lstStyle/>
          <a:p>
            <a:pPr marL="0" indent="0" algn="ctr">
              <a:buNone/>
            </a:pPr>
            <a:r>
              <a:rPr lang="en-US" sz="1300" dirty="0">
                <a:solidFill>
                  <a:srgbClr val="8B99B8"/>
                </a:solidFill>
                <a:latin typeface="Calibri" pitchFamily="34" charset="0"/>
                <a:ea typeface="Calibri" pitchFamily="34" charset="-122"/>
                <a:cs typeface="Calibri" pitchFamily="34" charset="-120"/>
              </a:rPr>
              <a:t>C'est le concept le plus simple du DDD et le plus rentable immédiatement. Même si vous ne faites jamais rien d'autre en DDD, adopter les Value Objects améliore déjà votre code.</a:t>
            </a:r>
            <a:endParaRPr lang="en-US" sz="13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5</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Entity</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différence fondamentale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48640" y="1005840"/>
            <a:ext cx="8046720" cy="274320"/>
          </a:xfrm>
          <a:prstGeom prst="rect">
            <a:avLst/>
          </a:prstGeom>
          <a:noFill/>
          <a:ln/>
        </p:spPr>
        <p:txBody>
          <a:bodyPr wrap="square" rtlCol="0" anchor="ctr"/>
          <a:lstStyle/>
          <a:p>
            <a:pPr marL="0" indent="0">
              <a:buNone/>
            </a:pPr>
            <a:r>
              <a:rPr lang="en-US" sz="1300" dirty="0">
                <a:solidFill>
                  <a:srgbClr val="8B99B8"/>
                </a:solidFill>
                <a:latin typeface="Calibri" pitchFamily="34" charset="0"/>
                <a:ea typeface="Calibri" pitchFamily="34" charset="-122"/>
                <a:cs typeface="Calibri" pitchFamily="34" charset="-120"/>
              </a:rPr>
              <a:t>Pose la question :</a:t>
            </a:r>
            <a:endParaRPr lang="en-US" sz="1300" dirty="0"/>
          </a:p>
        </p:txBody>
      </p:sp>
      <p:sp>
        <p:nvSpPr>
          <p:cNvPr id="7" name="Shape 5"/>
          <p:cNvSpPr/>
          <p:nvPr/>
        </p:nvSpPr>
        <p:spPr>
          <a:xfrm>
            <a:off x="548640" y="1463040"/>
            <a:ext cx="8046720" cy="11887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463040"/>
            <a:ext cx="54864" cy="1188720"/>
          </a:xfrm>
          <a:prstGeom prst="rect">
            <a:avLst/>
          </a:prstGeom>
          <a:solidFill>
            <a:srgbClr val="1E90FF"/>
          </a:solidFill>
          <a:ln/>
        </p:spPr>
        <p:txBody>
          <a:bodyPr/>
          <a:lstStyle/>
          <a:p>
            <a:endParaRPr lang="en-US"/>
          </a:p>
        </p:txBody>
      </p:sp>
      <p:sp>
        <p:nvSpPr>
          <p:cNvPr id="9" name="Text 7"/>
          <p:cNvSpPr/>
          <p:nvPr/>
        </p:nvSpPr>
        <p:spPr>
          <a:xfrm>
            <a:off x="822960" y="1554480"/>
            <a:ext cx="7589520" cy="10058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Est-ce qu'un billet de 20€ a un numéro de série qui compte pour vous au </a:t>
            </a:r>
            <a:r>
              <a:rPr lang="en-US" sz="1400" dirty="0" err="1">
                <a:solidFill>
                  <a:srgbClr val="E8ECF4"/>
                </a:solidFill>
                <a:latin typeface="Calibri" pitchFamily="34" charset="0"/>
                <a:ea typeface="Calibri" pitchFamily="34" charset="-122"/>
                <a:cs typeface="Calibri" pitchFamily="34" charset="-120"/>
              </a:rPr>
              <a:t>quotidien</a:t>
            </a:r>
            <a:r>
              <a:rPr lang="en-US" sz="1400" dirty="0">
                <a:solidFill>
                  <a:srgbClr val="E8ECF4"/>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00BFFF"/>
                </a:solidFill>
                <a:latin typeface="Calibri" pitchFamily="34" charset="0"/>
                <a:ea typeface="Calibri" pitchFamily="34" charset="-122"/>
                <a:cs typeface="Calibri" pitchFamily="34" charset="-120"/>
              </a:rPr>
              <a:t>Deux billets de 20€ sont interchangeables → Value Object.</a:t>
            </a:r>
            <a:endParaRPr lang="en-US" sz="1400" dirty="0"/>
          </a:p>
        </p:txBody>
      </p:sp>
      <p:sp>
        <p:nvSpPr>
          <p:cNvPr id="10" name="Shape 8"/>
          <p:cNvSpPr/>
          <p:nvPr/>
        </p:nvSpPr>
        <p:spPr>
          <a:xfrm>
            <a:off x="548640" y="2926080"/>
            <a:ext cx="8046720" cy="11887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926080"/>
            <a:ext cx="54864" cy="1188720"/>
          </a:xfrm>
          <a:prstGeom prst="rect">
            <a:avLst/>
          </a:prstGeom>
          <a:solidFill>
            <a:srgbClr val="00BFFF"/>
          </a:solidFill>
          <a:ln/>
        </p:spPr>
        <p:txBody>
          <a:bodyPr/>
          <a:lstStyle/>
          <a:p>
            <a:endParaRPr lang="en-US"/>
          </a:p>
        </p:txBody>
      </p:sp>
      <p:sp>
        <p:nvSpPr>
          <p:cNvPr id="12" name="Text 10"/>
          <p:cNvSpPr/>
          <p:nvPr/>
        </p:nvSpPr>
        <p:spPr>
          <a:xfrm>
            <a:off x="822960" y="3017520"/>
            <a:ext cx="7589520" cy="10058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Est-ce que votre compte en banque est interchangeable avec celui de votre voisin, même s'il a le même </a:t>
            </a:r>
            <a:r>
              <a:rPr lang="en-US" sz="1400" dirty="0" err="1">
                <a:solidFill>
                  <a:srgbClr val="E8ECF4"/>
                </a:solidFill>
                <a:latin typeface="Calibri" pitchFamily="34" charset="0"/>
                <a:ea typeface="Calibri" pitchFamily="34" charset="-122"/>
                <a:cs typeface="Calibri" pitchFamily="34" charset="-120"/>
              </a:rPr>
              <a:t>solde</a:t>
            </a:r>
            <a:r>
              <a:rPr lang="en-US" sz="1400" dirty="0">
                <a:solidFill>
                  <a:srgbClr val="E8ECF4"/>
                </a:solidFill>
                <a:latin typeface="Calibri" pitchFamily="34" charset="0"/>
                <a:ea typeface="Calibri" pitchFamily="34" charset="-122"/>
                <a:cs typeface="Calibri" pitchFamily="34" charset="-120"/>
              </a:rPr>
              <a:t> ?</a:t>
            </a:r>
          </a:p>
          <a:p>
            <a:pPr marL="0" indent="0">
              <a:buNone/>
            </a:pPr>
            <a:r>
              <a:rPr lang="en-US" sz="1400" b="1" dirty="0" err="1">
                <a:solidFill>
                  <a:srgbClr val="00BFFF"/>
                </a:solidFill>
                <a:latin typeface="Calibri" pitchFamily="34" charset="0"/>
                <a:ea typeface="Calibri" pitchFamily="34" charset="-122"/>
                <a:cs typeface="Calibri" pitchFamily="34" charset="-120"/>
              </a:rPr>
              <a:t>Chaque</a:t>
            </a:r>
            <a:r>
              <a:rPr lang="en-US" sz="1400" b="1" dirty="0">
                <a:solidFill>
                  <a:srgbClr val="00BFFF"/>
                </a:solidFill>
                <a:latin typeface="Calibri" pitchFamily="34" charset="0"/>
                <a:ea typeface="Calibri" pitchFamily="34" charset="-122"/>
                <a:cs typeface="Calibri" pitchFamily="34" charset="-120"/>
              </a:rPr>
              <a:t> compte a un numéro unique → Entity.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28</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Une Entity est un objet :</a:t>
            </a:r>
            <a:endParaRPr lang="en-US" sz="1500" dirty="0"/>
          </a:p>
        </p:txBody>
      </p:sp>
      <p:sp>
        <p:nvSpPr>
          <p:cNvPr id="7" name="Shape 5"/>
          <p:cNvSpPr/>
          <p:nvPr/>
        </p:nvSpPr>
        <p:spPr>
          <a:xfrm>
            <a:off x="548640" y="155448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685800"/>
          </a:xfrm>
          <a:prstGeom prst="rect">
            <a:avLst/>
          </a:prstGeom>
          <a:solidFill>
            <a:srgbClr val="1E90FF"/>
          </a:solidFill>
          <a:ln/>
        </p:spPr>
        <p:txBody>
          <a:bodyPr/>
          <a:lstStyle/>
          <a:p>
            <a:endParaRPr lang="en-US"/>
          </a:p>
        </p:txBody>
      </p:sp>
      <p:sp>
        <p:nvSpPr>
          <p:cNvPr id="9" name="Text 7"/>
          <p:cNvSpPr/>
          <p:nvPr/>
        </p:nvSpPr>
        <p:spPr>
          <a:xfrm>
            <a:off x="822960" y="160020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Définie par son identité</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Un UUID ou CUID unique et immutable.</a:t>
            </a:r>
            <a:endParaRPr lang="en-US" sz="1400" dirty="0"/>
          </a:p>
        </p:txBody>
      </p:sp>
      <p:sp>
        <p:nvSpPr>
          <p:cNvPr id="10" name="Shape 8"/>
          <p:cNvSpPr/>
          <p:nvPr/>
        </p:nvSpPr>
        <p:spPr>
          <a:xfrm>
            <a:off x="548640" y="237744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377440"/>
            <a:ext cx="54864" cy="685800"/>
          </a:xfrm>
          <a:prstGeom prst="rect">
            <a:avLst/>
          </a:prstGeom>
          <a:solidFill>
            <a:srgbClr val="1E90FF"/>
          </a:solidFill>
          <a:ln/>
        </p:spPr>
        <p:txBody>
          <a:bodyPr/>
          <a:lstStyle/>
          <a:p>
            <a:endParaRPr lang="en-US"/>
          </a:p>
        </p:txBody>
      </p:sp>
      <p:sp>
        <p:nvSpPr>
          <p:cNvPr id="12" name="Text 10"/>
          <p:cNvSpPr/>
          <p:nvPr/>
        </p:nvSpPr>
        <p:spPr>
          <a:xfrm>
            <a:off x="822960" y="242316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Qui a un cycle de vie</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Il est créé, il évolue (mutations d'état), il peut être supprimé.</a:t>
            </a:r>
            <a:endParaRPr lang="en-US" sz="1400" dirty="0"/>
          </a:p>
        </p:txBody>
      </p:sp>
      <p:sp>
        <p:nvSpPr>
          <p:cNvPr id="13" name="Shape 11"/>
          <p:cNvSpPr/>
          <p:nvPr/>
        </p:nvSpPr>
        <p:spPr>
          <a:xfrm>
            <a:off x="548640" y="320040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200400"/>
            <a:ext cx="54864" cy="685800"/>
          </a:xfrm>
          <a:prstGeom prst="rect">
            <a:avLst/>
          </a:prstGeom>
          <a:solidFill>
            <a:srgbClr val="1E90FF"/>
          </a:solidFill>
          <a:ln/>
        </p:spPr>
        <p:txBody>
          <a:bodyPr/>
          <a:lstStyle/>
          <a:p>
            <a:endParaRPr lang="en-US"/>
          </a:p>
        </p:txBody>
      </p:sp>
      <p:sp>
        <p:nvSpPr>
          <p:cNvPr id="15" name="Text 13"/>
          <p:cNvSpPr/>
          <p:nvPr/>
        </p:nvSpPr>
        <p:spPr>
          <a:xfrm>
            <a:off x="822960" y="324612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Qui contient sa logique métier</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Les règles vivent dans l'entité, pas dans un service extérieur.</a:t>
            </a:r>
            <a:endParaRPr lang="en-US" sz="1400" dirty="0"/>
          </a:p>
        </p:txBody>
      </p:sp>
      <p:sp>
        <p:nvSpPr>
          <p:cNvPr id="16" name="Shape 14"/>
          <p:cNvSpPr/>
          <p:nvPr/>
        </p:nvSpPr>
        <p:spPr>
          <a:xfrm>
            <a:off x="548640" y="402336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7" name="Shape 15"/>
          <p:cNvSpPr/>
          <p:nvPr/>
        </p:nvSpPr>
        <p:spPr>
          <a:xfrm>
            <a:off x="548640" y="4023360"/>
            <a:ext cx="54864" cy="685800"/>
          </a:xfrm>
          <a:prstGeom prst="rect">
            <a:avLst/>
          </a:prstGeom>
          <a:solidFill>
            <a:srgbClr val="1E90FF"/>
          </a:solidFill>
          <a:ln/>
        </p:spPr>
        <p:txBody>
          <a:bodyPr/>
          <a:lstStyle/>
          <a:p>
            <a:endParaRPr lang="en-US"/>
          </a:p>
        </p:txBody>
      </p:sp>
      <p:sp>
        <p:nvSpPr>
          <p:cNvPr id="18" name="Text 16"/>
          <p:cNvSpPr/>
          <p:nvPr/>
        </p:nvSpPr>
        <p:spPr>
          <a:xfrm>
            <a:off x="822960" y="406908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Comparée par identité</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Deux entités avec les mêmes attributs mais des IDs différents sont différentes.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 du modèle anémique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48640" y="3806429"/>
            <a:ext cx="5462866" cy="11200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L'entité BankAccount est un sac de données.</a:t>
            </a:r>
          </a:p>
          <a:p>
            <a:pPr marL="0" indent="0">
              <a:buNone/>
            </a:pPr>
            <a:r>
              <a:rPr lang="en-US" sz="1200" dirty="0">
                <a:solidFill>
                  <a:srgbClr val="E8ECF4"/>
                </a:solidFill>
                <a:latin typeface="Calibri" pitchFamily="34" charset="0"/>
                <a:ea typeface="Calibri" pitchFamily="34" charset="-122"/>
                <a:cs typeface="Calibri" pitchFamily="34" charset="-120"/>
              </a:rPr>
              <a:t>Elle ne "sait" rien.</a:t>
            </a:r>
          </a:p>
          <a:p>
            <a:pPr marL="0" indent="0">
              <a:buNone/>
            </a:pPr>
            <a:r>
              <a:rPr lang="en-US" sz="1200" dirty="0">
                <a:solidFill>
                  <a:srgbClr val="E8ECF4"/>
                </a:solidFill>
                <a:latin typeface="Calibri" pitchFamily="34" charset="0"/>
                <a:ea typeface="Calibri" pitchFamily="34" charset="-122"/>
                <a:cs typeface="Calibri" pitchFamily="34" charset="-120"/>
              </a:rPr>
              <a:t>Toute l'intelligence est dans le service.</a:t>
            </a:r>
          </a:p>
          <a:p>
            <a:pPr marL="0" indent="0">
              <a:buNone/>
            </a:pPr>
            <a:r>
              <a:rPr lang="en-US" sz="1200" dirty="0">
                <a:solidFill>
                  <a:srgbClr val="E8ECF4"/>
                </a:solidFill>
                <a:latin typeface="Calibri" pitchFamily="34" charset="0"/>
                <a:ea typeface="Calibri" pitchFamily="34" charset="-122"/>
                <a:cs typeface="Calibri" pitchFamily="34" charset="-120"/>
              </a:rPr>
              <a:t>Si un autre service a besoin de faire un retrait, il va recoder les mêmes vérifications.</a:t>
            </a:r>
            <a:endParaRPr lang="en-US" sz="1200" dirty="0"/>
          </a:p>
        </p:txBody>
      </p:sp>
      <p:pic>
        <p:nvPicPr>
          <p:cNvPr id="10" name="Picture 9" descr="A computer screen shot of a program code&#10;&#10;AI-generated content may be incorrect.">
            <a:extLst>
              <a:ext uri="{FF2B5EF4-FFF2-40B4-BE49-F238E27FC236}">
                <a16:creationId xmlns:a16="http://schemas.microsoft.com/office/drawing/2014/main" id="{EFC2C03B-C78B-EF0C-7BEC-8DE6C39985CC}"/>
              </a:ext>
            </a:extLst>
          </p:cNvPr>
          <p:cNvPicPr>
            <a:picLocks noChangeAspect="1"/>
          </p:cNvPicPr>
          <p:nvPr/>
        </p:nvPicPr>
        <p:blipFill>
          <a:blip r:embed="rId4"/>
          <a:stretch>
            <a:fillRect/>
          </a:stretch>
        </p:blipFill>
        <p:spPr>
          <a:xfrm>
            <a:off x="2407096" y="930163"/>
            <a:ext cx="4329808" cy="28762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modèle riche : l'entité qui sait faire des choses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30</a:t>
            </a:r>
            <a:endParaRPr lang="en-US" sz="900" dirty="0"/>
          </a:p>
        </p:txBody>
      </p:sp>
      <p:pic>
        <p:nvPicPr>
          <p:cNvPr id="9" name="Picture 8" descr="A screenshot of a computer program&#10;&#10;AI-generated content may be incorrect.">
            <a:extLst>
              <a:ext uri="{FF2B5EF4-FFF2-40B4-BE49-F238E27FC236}">
                <a16:creationId xmlns:a16="http://schemas.microsoft.com/office/drawing/2014/main" id="{2E57EE2A-89A1-99DC-3AE0-50377EF18403}"/>
              </a:ext>
            </a:extLst>
          </p:cNvPr>
          <p:cNvPicPr>
            <a:picLocks noChangeAspect="1"/>
          </p:cNvPicPr>
          <p:nvPr/>
        </p:nvPicPr>
        <p:blipFill>
          <a:blip r:embed="rId4"/>
          <a:stretch>
            <a:fillRect/>
          </a:stretch>
        </p:blipFill>
        <p:spPr>
          <a:xfrm>
            <a:off x="2141117" y="914400"/>
            <a:ext cx="4861766" cy="3931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MESSAGE CLÉ</a:t>
            </a:r>
            <a:endParaRPr lang="en-US" sz="1400" dirty="0"/>
          </a:p>
        </p:txBody>
      </p:sp>
      <p:sp>
        <p:nvSpPr>
          <p:cNvPr id="3" name="Shape 1"/>
          <p:cNvSpPr/>
          <p:nvPr/>
        </p:nvSpPr>
        <p:spPr>
          <a:xfrm>
            <a:off x="1097280" y="1645920"/>
            <a:ext cx="6949440" cy="23774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918895"/>
            <a:ext cx="640080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L'entité n'est pas un sac de données !</a:t>
            </a:r>
            <a:endParaRPr lang="en-US" sz="2200" dirty="0"/>
          </a:p>
        </p:txBody>
      </p:sp>
      <p:sp>
        <p:nvSpPr>
          <p:cNvPr id="5" name="Text 3"/>
          <p:cNvSpPr/>
          <p:nvPr/>
        </p:nvSpPr>
        <p:spPr>
          <a:xfrm>
            <a:off x="1371600" y="2467535"/>
            <a:ext cx="6400800" cy="548640"/>
          </a:xfrm>
          <a:prstGeom prst="rect">
            <a:avLst/>
          </a:prstGeom>
          <a:noFill/>
          <a:ln/>
        </p:spPr>
        <p:txBody>
          <a:bodyPr wrap="square" rtlCol="0" anchor="ctr"/>
          <a:lstStyle/>
          <a:p>
            <a:pPr marL="0" indent="0" algn="ctr">
              <a:buNone/>
            </a:pPr>
            <a:r>
              <a:rPr lang="en-US" sz="1500" dirty="0">
                <a:solidFill>
                  <a:srgbClr val="E8ECF4"/>
                </a:solidFill>
                <a:latin typeface="Calibri" pitchFamily="34" charset="0"/>
                <a:ea typeface="Calibri" pitchFamily="34" charset="-122"/>
                <a:cs typeface="Calibri" pitchFamily="34" charset="-120"/>
              </a:rPr>
              <a:t>C'est un objet qui sait faire des choses et qui protège ses propres règles.</a:t>
            </a:r>
            <a:endParaRPr lang="en-US" sz="1500" dirty="0"/>
          </a:p>
        </p:txBody>
      </p:sp>
      <p:sp>
        <p:nvSpPr>
          <p:cNvPr id="6" name="Text 4"/>
          <p:cNvSpPr/>
          <p:nvPr/>
        </p:nvSpPr>
        <p:spPr>
          <a:xfrm>
            <a:off x="1371600" y="3016175"/>
            <a:ext cx="6400800" cy="731520"/>
          </a:xfrm>
          <a:prstGeom prst="rect">
            <a:avLst/>
          </a:prstGeom>
          <a:noFill/>
          <a:ln/>
        </p:spPr>
        <p:txBody>
          <a:bodyPr wrap="square" rtlCol="0" anchor="ctr"/>
          <a:lstStyle/>
          <a:p>
            <a:pPr marL="0" indent="0" algn="ctr">
              <a:buNone/>
            </a:pPr>
            <a:r>
              <a:rPr lang="en-US" sz="1400" i="1" dirty="0">
                <a:solidFill>
                  <a:srgbClr val="00BFFF"/>
                </a:solidFill>
                <a:latin typeface="Calibri" pitchFamily="34" charset="0"/>
                <a:ea typeface="Calibri" pitchFamily="34" charset="-122"/>
                <a:cs typeface="Calibri" pitchFamily="34" charset="-120"/>
              </a:rPr>
              <a:t>Si tu veux retirer de l'argent, tu demandes au compte de le faire.</a:t>
            </a:r>
            <a:endParaRPr lang="en-US" sz="1400" dirty="0"/>
          </a:p>
          <a:p>
            <a:pPr marL="0" indent="0" algn="ctr">
              <a:buNone/>
            </a:pPr>
            <a:r>
              <a:rPr lang="en-US" sz="1400" i="1" dirty="0">
                <a:solidFill>
                  <a:srgbClr val="00BFFF"/>
                </a:solidFill>
                <a:latin typeface="Calibri" pitchFamily="34" charset="0"/>
                <a:ea typeface="Calibri" pitchFamily="34" charset="-122"/>
                <a:cs typeface="Calibri" pitchFamily="34" charset="-120"/>
              </a:rPr>
              <a:t>Tu ne fais pas </a:t>
            </a:r>
            <a:r>
              <a:rPr lang="en-US" sz="1400" i="1" dirty="0">
                <a:solidFill>
                  <a:schemeClr val="accent6"/>
                </a:solidFill>
                <a:latin typeface="Calibri" pitchFamily="34" charset="0"/>
                <a:ea typeface="Calibri" pitchFamily="34" charset="-122"/>
                <a:cs typeface="Calibri" pitchFamily="34" charset="-120"/>
              </a:rPr>
              <a:t>balance -= amount </a:t>
            </a:r>
            <a:r>
              <a:rPr lang="en-US" sz="1400" i="1" dirty="0">
                <a:solidFill>
                  <a:srgbClr val="00BFFF"/>
                </a:solidFill>
                <a:latin typeface="Calibri" pitchFamily="34" charset="0"/>
                <a:ea typeface="Calibri" pitchFamily="34" charset="-122"/>
                <a:cs typeface="Calibri" pitchFamily="34" charset="-120"/>
              </a:rPr>
              <a:t>toi-même.</a:t>
            </a:r>
            <a:endParaRPr lang="en-US" sz="14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6</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Aggregate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48640" y="1005840"/>
            <a:ext cx="8046720" cy="73152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Imaginons une commande avec des items. Si j'ajoute un item, le total de la commande change. Si je modifie un item directement sans passer par la commande, le total peut devenir incohérent.</a:t>
            </a:r>
            <a:endParaRPr lang="en-US" sz="1400" dirty="0"/>
          </a:p>
        </p:txBody>
      </p:sp>
      <p:sp>
        <p:nvSpPr>
          <p:cNvPr id="7" name="Text 5"/>
          <p:cNvSpPr/>
          <p:nvPr/>
        </p:nvSpPr>
        <p:spPr>
          <a:xfrm>
            <a:off x="548640" y="3858768"/>
            <a:ext cx="8046720" cy="3657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L'Aggregate résout ce problème en imposant un point d'entrée unique.</a:t>
            </a:r>
            <a:endParaRPr lang="en-US" sz="1400" dirty="0"/>
          </a:p>
        </p:txBody>
      </p:sp>
      <p:pic>
        <p:nvPicPr>
          <p:cNvPr id="11" name="Picture 10" descr="A screen shot of a computer program&#10;&#10;AI-generated content may be incorrect.">
            <a:extLst>
              <a:ext uri="{FF2B5EF4-FFF2-40B4-BE49-F238E27FC236}">
                <a16:creationId xmlns:a16="http://schemas.microsoft.com/office/drawing/2014/main" id="{BD63589F-7C14-E6E5-5D38-89CAEF1F2F62}"/>
              </a:ext>
            </a:extLst>
          </p:cNvPr>
          <p:cNvPicPr>
            <a:picLocks noChangeAspect="1"/>
          </p:cNvPicPr>
          <p:nvPr/>
        </p:nvPicPr>
        <p:blipFill>
          <a:blip r:embed="rId4"/>
          <a:stretch>
            <a:fillRect/>
          </a:stretch>
        </p:blipFill>
        <p:spPr>
          <a:xfrm>
            <a:off x="644563" y="1824484"/>
            <a:ext cx="5635214" cy="19471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Aggregate est :</a:t>
            </a:r>
            <a:endParaRPr lang="en-US" sz="1500" dirty="0"/>
          </a:p>
        </p:txBody>
      </p:sp>
      <p:sp>
        <p:nvSpPr>
          <p:cNvPr id="7" name="Shape 5"/>
          <p:cNvSpPr/>
          <p:nvPr/>
        </p:nvSpPr>
        <p:spPr>
          <a:xfrm>
            <a:off x="548640" y="155448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640080"/>
          </a:xfrm>
          <a:prstGeom prst="rect">
            <a:avLst/>
          </a:prstGeom>
          <a:solidFill>
            <a:srgbClr val="1E90FF"/>
          </a:solidFill>
          <a:ln/>
        </p:spPr>
        <p:txBody>
          <a:bodyPr/>
          <a:lstStyle/>
          <a:p>
            <a:endParaRPr lang="en-US"/>
          </a:p>
        </p:txBody>
      </p:sp>
      <p:sp>
        <p:nvSpPr>
          <p:cNvPr id="9" name="Text 7"/>
          <p:cNvSpPr/>
          <p:nvPr/>
        </p:nvSpPr>
        <p:spPr>
          <a:xfrm>
            <a:off x="822960" y="155448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Un groupe d'Entities et de Value Objects qui forment une unité de cohérence.</a:t>
            </a:r>
            <a:endParaRPr lang="en-US" sz="1400" dirty="0"/>
          </a:p>
        </p:txBody>
      </p:sp>
      <p:sp>
        <p:nvSpPr>
          <p:cNvPr id="13" name="Shape 11"/>
          <p:cNvSpPr/>
          <p:nvPr/>
        </p:nvSpPr>
        <p:spPr>
          <a:xfrm>
            <a:off x="548640" y="237744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2377440"/>
            <a:ext cx="54864" cy="640080"/>
          </a:xfrm>
          <a:prstGeom prst="rect">
            <a:avLst/>
          </a:prstGeom>
          <a:solidFill>
            <a:srgbClr val="1E90FF"/>
          </a:solidFill>
          <a:ln/>
        </p:spPr>
        <p:txBody>
          <a:bodyPr/>
          <a:lstStyle/>
          <a:p>
            <a:endParaRPr lang="en-US"/>
          </a:p>
        </p:txBody>
      </p:sp>
      <p:sp>
        <p:nvSpPr>
          <p:cNvPr id="15" name="Text 13"/>
          <p:cNvSpPr/>
          <p:nvPr/>
        </p:nvSpPr>
        <p:spPr>
          <a:xfrm>
            <a:off x="822960" y="237744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Toute modification passe par </a:t>
            </a:r>
            <a:r>
              <a:rPr lang="en-US" sz="1400" dirty="0" err="1">
                <a:solidFill>
                  <a:srgbClr val="E8ECF4"/>
                </a:solidFill>
                <a:latin typeface="Calibri" pitchFamily="34" charset="0"/>
                <a:ea typeface="Calibri" pitchFamily="34" charset="-122"/>
                <a:cs typeface="Calibri" pitchFamily="34" charset="-120"/>
              </a:rPr>
              <a:t>l’Aggregate</a:t>
            </a:r>
            <a:r>
              <a:rPr lang="en-US" sz="1400" dirty="0">
                <a:solidFill>
                  <a:srgbClr val="E8ECF4"/>
                </a:solidFill>
                <a:latin typeface="Calibri" pitchFamily="34" charset="0"/>
                <a:ea typeface="Calibri" pitchFamily="34" charset="-122"/>
                <a:cs typeface="Calibri" pitchFamily="34" charset="-120"/>
              </a:rPr>
              <a:t>, qui garantit la cohérence de l'ensemble.</a:t>
            </a:r>
            <a:endParaRPr lang="en-US" sz="1400" dirty="0"/>
          </a:p>
        </p:txBody>
      </p:sp>
      <p:sp>
        <p:nvSpPr>
          <p:cNvPr id="16" name="Shape 14"/>
          <p:cNvSpPr/>
          <p:nvPr/>
        </p:nvSpPr>
        <p:spPr>
          <a:xfrm>
            <a:off x="548640" y="315468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7" name="Shape 15"/>
          <p:cNvSpPr/>
          <p:nvPr/>
        </p:nvSpPr>
        <p:spPr>
          <a:xfrm>
            <a:off x="548640" y="3154680"/>
            <a:ext cx="54864" cy="640080"/>
          </a:xfrm>
          <a:prstGeom prst="rect">
            <a:avLst/>
          </a:prstGeom>
          <a:solidFill>
            <a:srgbClr val="1E90FF"/>
          </a:solidFill>
          <a:ln/>
        </p:spPr>
        <p:txBody>
          <a:bodyPr/>
          <a:lstStyle/>
          <a:p>
            <a:endParaRPr lang="en-US"/>
          </a:p>
        </p:txBody>
      </p:sp>
      <p:sp>
        <p:nvSpPr>
          <p:cNvPr id="18" name="Text 16"/>
          <p:cNvSpPr/>
          <p:nvPr/>
        </p:nvSpPr>
        <p:spPr>
          <a:xfrm>
            <a:off x="822960" y="315468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Chargé et persisté </a:t>
            </a:r>
            <a:r>
              <a:rPr lang="en-US" sz="1400" dirty="0" err="1">
                <a:solidFill>
                  <a:srgbClr val="E8ECF4"/>
                </a:solidFill>
                <a:latin typeface="Calibri" pitchFamily="34" charset="0"/>
                <a:ea typeface="Calibri" pitchFamily="34" charset="-122"/>
                <a:cs typeface="Calibri" pitchFamily="34" charset="-120"/>
              </a:rPr>
              <a:t>en</a:t>
            </a:r>
            <a:r>
              <a:rPr lang="en-US" sz="1400" dirty="0">
                <a:solidFill>
                  <a:srgbClr val="E8ECF4"/>
                </a:solidFill>
                <a:latin typeface="Calibri" pitchFamily="34" charset="0"/>
                <a:ea typeface="Calibri" pitchFamily="34" charset="-122"/>
                <a:cs typeface="Calibri" pitchFamily="34" charset="-120"/>
              </a:rPr>
              <a:t> bloc, c'est l'unité de transaction.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Analogie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35</a:t>
            </a:r>
            <a:endParaRPr lang="en-US" sz="900" dirty="0"/>
          </a:p>
        </p:txBody>
      </p:sp>
      <p:sp>
        <p:nvSpPr>
          <p:cNvPr id="6" name="Text 4"/>
          <p:cNvSpPr/>
          <p:nvPr/>
        </p:nvSpPr>
        <p:spPr>
          <a:xfrm>
            <a:off x="548640" y="1005840"/>
            <a:ext cx="8046720" cy="45720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Un Aggregate, c'est comme une entreprise. </a:t>
            </a:r>
            <a:r>
              <a:rPr lang="en-US" sz="1600" b="1" dirty="0" err="1">
                <a:solidFill>
                  <a:srgbClr val="00BFFF"/>
                </a:solidFill>
                <a:latin typeface="Calibri" pitchFamily="34" charset="0"/>
                <a:ea typeface="Calibri" pitchFamily="34" charset="-122"/>
                <a:cs typeface="Calibri" pitchFamily="34" charset="-120"/>
              </a:rPr>
              <a:t>L'Aggregate</a:t>
            </a:r>
            <a:r>
              <a:rPr lang="en-US" sz="1600" b="1" dirty="0">
                <a:solidFill>
                  <a:srgbClr val="00BFFF"/>
                </a:solidFill>
                <a:latin typeface="Calibri" pitchFamily="34" charset="0"/>
                <a:ea typeface="Calibri" pitchFamily="34" charset="-122"/>
                <a:cs typeface="Calibri" pitchFamily="34" charset="-120"/>
              </a:rPr>
              <a:t>, c'est le PDG.</a:t>
            </a:r>
            <a:endParaRPr lang="en-US" sz="1600" dirty="0"/>
          </a:p>
        </p:txBody>
      </p:sp>
      <p:sp>
        <p:nvSpPr>
          <p:cNvPr id="7" name="Shape 5"/>
          <p:cNvSpPr/>
          <p:nvPr/>
        </p:nvSpPr>
        <p:spPr>
          <a:xfrm>
            <a:off x="548640" y="164592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828800"/>
            <a:ext cx="320040" cy="320040"/>
          </a:xfrm>
          <a:prstGeom prst="ellipse">
            <a:avLst/>
          </a:prstGeom>
          <a:solidFill>
            <a:srgbClr val="1E90FF">
              <a:alpha val="80000"/>
            </a:srgbClr>
          </a:solidFill>
          <a:ln/>
        </p:spPr>
        <p:txBody>
          <a:bodyPr/>
          <a:lstStyle/>
          <a:p>
            <a:endParaRPr lang="en-US"/>
          </a:p>
        </p:txBody>
      </p:sp>
      <p:sp>
        <p:nvSpPr>
          <p:cNvPr id="9" name="Text 7"/>
          <p:cNvSpPr/>
          <p:nvPr/>
        </p:nvSpPr>
        <p:spPr>
          <a:xfrm>
            <a:off x="685800" y="182880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88720" y="169164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Tu ne vas pas parler directement au comptable pour modifier la paie de quelqu'un (accès direct à </a:t>
            </a:r>
            <a:r>
              <a:rPr lang="en-US" sz="1200" dirty="0" err="1">
                <a:solidFill>
                  <a:srgbClr val="E8ECF4"/>
                </a:solidFill>
                <a:latin typeface="Calibri" pitchFamily="34" charset="0"/>
                <a:ea typeface="Calibri" pitchFamily="34" charset="-122"/>
                <a:cs typeface="Calibri" pitchFamily="34" charset="-120"/>
              </a:rPr>
              <a:t>une</a:t>
            </a:r>
            <a:r>
              <a:rPr lang="en-US" sz="1200" dirty="0">
                <a:solidFill>
                  <a:srgbClr val="E8ECF4"/>
                </a:solidFill>
                <a:latin typeface="Calibri" pitchFamily="34" charset="0"/>
                <a:ea typeface="Calibri" pitchFamily="34" charset="-122"/>
                <a:cs typeface="Calibri" pitchFamily="34" charset="-120"/>
              </a:rPr>
              <a:t> Entity). Tu passes par le PDG (Aggregate).</a:t>
            </a:r>
            <a:endParaRPr lang="en-US" sz="1200" dirty="0"/>
          </a:p>
        </p:txBody>
      </p:sp>
      <p:sp>
        <p:nvSpPr>
          <p:cNvPr id="11" name="Shape 9"/>
          <p:cNvSpPr/>
          <p:nvPr/>
        </p:nvSpPr>
        <p:spPr>
          <a:xfrm>
            <a:off x="548640" y="246888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651760"/>
            <a:ext cx="320040" cy="320040"/>
          </a:xfrm>
          <a:prstGeom prst="ellipse">
            <a:avLst/>
          </a:prstGeom>
          <a:solidFill>
            <a:srgbClr val="1E90FF">
              <a:alpha val="80000"/>
            </a:srgbClr>
          </a:solidFill>
          <a:ln/>
        </p:spPr>
        <p:txBody>
          <a:bodyPr/>
          <a:lstStyle/>
          <a:p>
            <a:endParaRPr lang="en-US"/>
          </a:p>
        </p:txBody>
      </p:sp>
      <p:sp>
        <p:nvSpPr>
          <p:cNvPr id="13" name="Text 11"/>
          <p:cNvSpPr/>
          <p:nvPr/>
        </p:nvSpPr>
        <p:spPr>
          <a:xfrm>
            <a:off x="685800" y="265176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188720" y="251460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 PDG s'assure que la modification est cohérente avec la politique de </a:t>
            </a:r>
            <a:r>
              <a:rPr lang="en-US" sz="1200" dirty="0" err="1">
                <a:solidFill>
                  <a:srgbClr val="E8ECF4"/>
                </a:solidFill>
                <a:latin typeface="Calibri" pitchFamily="34" charset="0"/>
                <a:ea typeface="Calibri" pitchFamily="34" charset="-122"/>
                <a:cs typeface="Calibri" pitchFamily="34" charset="-120"/>
              </a:rPr>
              <a:t>l'entreprise</a:t>
            </a:r>
            <a:r>
              <a:rPr lang="en-US" sz="1200" dirty="0">
                <a:solidFill>
                  <a:srgbClr val="E8ECF4"/>
                </a:solidFill>
                <a:latin typeface="Calibri" pitchFamily="34" charset="0"/>
                <a:ea typeface="Calibri" pitchFamily="34" charset="-122"/>
                <a:cs typeface="Calibri" pitchFamily="34" charset="-120"/>
              </a:rPr>
              <a:t> (Value Object).</a:t>
            </a:r>
            <a:endParaRPr lang="en-US" sz="1200" dirty="0"/>
          </a:p>
        </p:txBody>
      </p:sp>
      <p:sp>
        <p:nvSpPr>
          <p:cNvPr id="15" name="Shape 13"/>
          <p:cNvSpPr/>
          <p:nvPr/>
        </p:nvSpPr>
        <p:spPr>
          <a:xfrm>
            <a:off x="548640" y="329184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474720"/>
            <a:ext cx="320040" cy="320040"/>
          </a:xfrm>
          <a:prstGeom prst="ellipse">
            <a:avLst/>
          </a:prstGeom>
          <a:solidFill>
            <a:srgbClr val="1E90FF">
              <a:alpha val="80000"/>
            </a:srgbClr>
          </a:solidFill>
          <a:ln/>
        </p:spPr>
        <p:txBody>
          <a:bodyPr/>
          <a:lstStyle/>
          <a:p>
            <a:endParaRPr lang="en-US"/>
          </a:p>
        </p:txBody>
      </p:sp>
      <p:sp>
        <p:nvSpPr>
          <p:cNvPr id="17" name="Text 15"/>
          <p:cNvSpPr/>
          <p:nvPr/>
        </p:nvSpPr>
        <p:spPr>
          <a:xfrm>
            <a:off x="685800" y="347472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88720" y="333756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Si l'entreprise embauche quelqu'un, le PDG met à jour l'organigramme ET la paie en même temps (transaction).</a:t>
            </a:r>
            <a:endParaRPr lang="en-US" sz="1200" dirty="0"/>
          </a:p>
        </p:txBody>
      </p:sp>
      <p:sp>
        <p:nvSpPr>
          <p:cNvPr id="19" name="Shape 17"/>
          <p:cNvSpPr/>
          <p:nvPr/>
        </p:nvSpPr>
        <p:spPr>
          <a:xfrm>
            <a:off x="548640" y="411480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0" name="Shape 18"/>
          <p:cNvSpPr/>
          <p:nvPr/>
        </p:nvSpPr>
        <p:spPr>
          <a:xfrm>
            <a:off x="685800" y="4297680"/>
            <a:ext cx="320040" cy="320040"/>
          </a:xfrm>
          <a:prstGeom prst="ellipse">
            <a:avLst/>
          </a:prstGeom>
          <a:solidFill>
            <a:srgbClr val="1E90FF">
              <a:alpha val="80000"/>
            </a:srgbClr>
          </a:solidFill>
          <a:ln/>
        </p:spPr>
        <p:txBody>
          <a:bodyPr/>
          <a:lstStyle/>
          <a:p>
            <a:endParaRPr lang="en-US"/>
          </a:p>
        </p:txBody>
      </p:sp>
      <p:sp>
        <p:nvSpPr>
          <p:cNvPr id="21" name="Text 19"/>
          <p:cNvSpPr/>
          <p:nvPr/>
        </p:nvSpPr>
        <p:spPr>
          <a:xfrm>
            <a:off x="685800" y="429768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88720" y="416052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De l'extérieur, on ne voit </a:t>
            </a:r>
            <a:r>
              <a:rPr lang="en-US" sz="1200" dirty="0" err="1">
                <a:solidFill>
                  <a:srgbClr val="E8ECF4"/>
                </a:solidFill>
                <a:latin typeface="Calibri" pitchFamily="34" charset="0"/>
                <a:ea typeface="Calibri" pitchFamily="34" charset="-122"/>
                <a:cs typeface="Calibri" pitchFamily="34" charset="-120"/>
              </a:rPr>
              <a:t>que</a:t>
            </a:r>
            <a:r>
              <a:rPr lang="en-US" sz="1200" dirty="0">
                <a:solidFill>
                  <a:srgbClr val="E8ECF4"/>
                </a:solidFill>
                <a:latin typeface="Calibri" pitchFamily="34" charset="0"/>
                <a:ea typeface="Calibri" pitchFamily="34" charset="-122"/>
                <a:cs typeface="Calibri" pitchFamily="34" charset="-120"/>
              </a:rPr>
              <a:t> </a:t>
            </a:r>
            <a:r>
              <a:rPr lang="en-US" sz="1200" dirty="0" err="1">
                <a:solidFill>
                  <a:srgbClr val="E8ECF4"/>
                </a:solidFill>
                <a:latin typeface="Calibri" pitchFamily="34" charset="0"/>
                <a:ea typeface="Calibri" pitchFamily="34" charset="-122"/>
                <a:cs typeface="Calibri" pitchFamily="34" charset="-120"/>
              </a:rPr>
              <a:t>l'entreprise</a:t>
            </a:r>
            <a:r>
              <a:rPr lang="en-US" sz="1200" dirty="0">
                <a:solidFill>
                  <a:srgbClr val="E8ECF4"/>
                </a:solidFill>
                <a:latin typeface="Calibri" pitchFamily="34" charset="0"/>
                <a:ea typeface="Calibri" pitchFamily="34" charset="-122"/>
                <a:cs typeface="Calibri" pitchFamily="34" charset="-120"/>
              </a:rPr>
              <a:t> / PDG (Aggregate), pas ses rouages internes.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828800"/>
            <a:ext cx="9144000" cy="1097280"/>
          </a:xfrm>
          <a:prstGeom prst="rect">
            <a:avLst/>
          </a:prstGeom>
          <a:noFill/>
          <a:ln/>
        </p:spPr>
        <p:txBody>
          <a:bodyPr wrap="square" rtlCol="0" anchor="ctr"/>
          <a:lstStyle/>
          <a:p>
            <a:pPr marL="0" indent="0" algn="ctr">
              <a:buNone/>
            </a:pPr>
            <a:r>
              <a:rPr lang="en-US" sz="4800" b="1" kern="0" spc="600" dirty="0">
                <a:solidFill>
                  <a:srgbClr val="FFFFFF"/>
                </a:solidFill>
                <a:latin typeface="Calibri" pitchFamily="34" charset="0"/>
                <a:ea typeface="Calibri" pitchFamily="34" charset="-122"/>
                <a:cs typeface="Calibri" pitchFamily="34" charset="-120"/>
              </a:rPr>
              <a:t>LES 4 RÈGLES</a:t>
            </a:r>
            <a:endParaRPr lang="en-US" sz="4800" dirty="0"/>
          </a:p>
        </p:txBody>
      </p:sp>
      <p:sp>
        <p:nvSpPr>
          <p:cNvPr id="3" name="Text 1"/>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1 — </a:t>
            </a:r>
            <a:r>
              <a:rPr lang="en-US" sz="2800" b="1" dirty="0" err="1">
                <a:solidFill>
                  <a:srgbClr val="FFFFFF"/>
                </a:solidFill>
                <a:latin typeface="Calibri" pitchFamily="34" charset="0"/>
                <a:ea typeface="Calibri" pitchFamily="34" charset="-122"/>
                <a:cs typeface="Calibri" pitchFamily="34" charset="-120"/>
              </a:rPr>
              <a:t>Accès</a:t>
            </a:r>
            <a:r>
              <a:rPr lang="en-US" sz="2800" b="1" dirty="0">
                <a:solidFill>
                  <a:srgbClr val="FFFFFF"/>
                </a:solidFill>
                <a:latin typeface="Calibri" pitchFamily="34" charset="0"/>
                <a:ea typeface="Calibri" pitchFamily="34" charset="-122"/>
                <a:cs typeface="Calibri" pitchFamily="34" charset="-120"/>
              </a:rPr>
              <a:t> par </a:t>
            </a:r>
            <a:r>
              <a:rPr lang="en-US" sz="2800" b="1" dirty="0" err="1">
                <a:solidFill>
                  <a:srgbClr val="FFFFFF"/>
                </a:solidFill>
                <a:latin typeface="Calibri" pitchFamily="34" charset="0"/>
                <a:ea typeface="Calibri" pitchFamily="34" charset="-122"/>
                <a:cs typeface="Calibri" pitchFamily="34" charset="-120"/>
              </a:rPr>
              <a:t>l’Aggregate</a:t>
            </a:r>
            <a:r>
              <a:rPr lang="en-US" sz="2800" b="1" dirty="0">
                <a:solidFill>
                  <a:srgbClr val="FFFFFF"/>
                </a:solidFill>
                <a:latin typeface="Calibri" pitchFamily="34" charset="0"/>
                <a:ea typeface="Calibri" pitchFamily="34" charset="-122"/>
                <a:cs typeface="Calibri" pitchFamily="34" charset="-120"/>
              </a:rPr>
              <a:t> </a:t>
            </a:r>
            <a:r>
              <a:rPr lang="en-US" sz="2800" b="1" dirty="0" err="1">
                <a:solidFill>
                  <a:srgbClr val="FFFFFF"/>
                </a:solidFill>
                <a:latin typeface="Calibri" pitchFamily="34" charset="0"/>
                <a:ea typeface="Calibri" pitchFamily="34" charset="-122"/>
                <a:cs typeface="Calibri" pitchFamily="34" charset="-120"/>
              </a:rPr>
              <a:t>uniquement</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37</a:t>
            </a:r>
            <a:endParaRPr lang="en-US" sz="900" dirty="0"/>
          </a:p>
        </p:txBody>
      </p:sp>
      <p:pic>
        <p:nvPicPr>
          <p:cNvPr id="15" name="Picture 14" descr="A screen shot of a computer program&#10;&#10;AI-generated content may be incorrect.">
            <a:extLst>
              <a:ext uri="{FF2B5EF4-FFF2-40B4-BE49-F238E27FC236}">
                <a16:creationId xmlns:a16="http://schemas.microsoft.com/office/drawing/2014/main" id="{FA7E23C4-D161-1907-AB43-C642DFB656C7}"/>
              </a:ext>
            </a:extLst>
          </p:cNvPr>
          <p:cNvPicPr>
            <a:picLocks noChangeAspect="1"/>
          </p:cNvPicPr>
          <p:nvPr/>
        </p:nvPicPr>
        <p:blipFill>
          <a:blip r:embed="rId4"/>
          <a:stretch>
            <a:fillRect/>
          </a:stretch>
        </p:blipFill>
        <p:spPr>
          <a:xfrm>
            <a:off x="548640" y="914400"/>
            <a:ext cx="6127991" cy="38919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2 — Références externes par ID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38</a:t>
            </a:r>
            <a:endParaRPr lang="en-US" sz="900" dirty="0"/>
          </a:p>
        </p:txBody>
      </p:sp>
      <p:sp>
        <p:nvSpPr>
          <p:cNvPr id="6" name="Text 4"/>
          <p:cNvSpPr/>
          <p:nvPr/>
        </p:nvSpPr>
        <p:spPr>
          <a:xfrm>
            <a:off x="548640" y="1005840"/>
            <a:ext cx="8046720" cy="7315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Pourquoi ? Parce que si Payment avait une référence directe à Order, modifier Order pourrait impacter Payment dans la même transaction → on ne sait plus où sont les frontières.</a:t>
            </a:r>
            <a:endParaRPr lang="en-US" sz="1300" dirty="0"/>
          </a:p>
        </p:txBody>
      </p:sp>
      <p:pic>
        <p:nvPicPr>
          <p:cNvPr id="14" name="Picture 13" descr="A screen shot of a computer&#10;&#10;AI-generated content may be incorrect.">
            <a:extLst>
              <a:ext uri="{FF2B5EF4-FFF2-40B4-BE49-F238E27FC236}">
                <a16:creationId xmlns:a16="http://schemas.microsoft.com/office/drawing/2014/main" id="{973EEBBE-3044-CA86-4698-F5470B02556C}"/>
              </a:ext>
            </a:extLst>
          </p:cNvPr>
          <p:cNvPicPr>
            <a:picLocks noChangeAspect="1"/>
          </p:cNvPicPr>
          <p:nvPr/>
        </p:nvPicPr>
        <p:blipFill>
          <a:blip r:embed="rId4"/>
          <a:stretch>
            <a:fillRect/>
          </a:stretch>
        </p:blipFill>
        <p:spPr>
          <a:xfrm>
            <a:off x="632011" y="1737360"/>
            <a:ext cx="5060576" cy="254590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3 — Chargé et persisté en bloc</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48640" y="1371600"/>
            <a:ext cx="804672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554480"/>
            <a:ext cx="7498080" cy="182880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appel à </a:t>
            </a:r>
            <a:r>
              <a:rPr lang="en-US" sz="1500" b="1" dirty="0">
                <a:solidFill>
                  <a:srgbClr val="00BFFF"/>
                </a:solidFill>
                <a:latin typeface="Calibri" pitchFamily="34" charset="0"/>
                <a:ea typeface="Calibri" pitchFamily="34" charset="-122"/>
                <a:cs typeface="Calibri" pitchFamily="34" charset="-120"/>
              </a:rPr>
              <a:t>orderRepository.findById(id)</a:t>
            </a:r>
            <a:r>
              <a:rPr lang="en-US" sz="1500" dirty="0">
                <a:solidFill>
                  <a:srgbClr val="E8ECF4"/>
                </a:solidFill>
                <a:latin typeface="Calibri" pitchFamily="34" charset="0"/>
                <a:ea typeface="Calibri" pitchFamily="34" charset="-122"/>
                <a:cs typeface="Calibri" pitchFamily="34" charset="-120"/>
              </a:rPr>
              <a:t> charge l'Order et tous ses OrderItems.</a:t>
            </a:r>
            <a:endParaRPr lang="en-US" sz="1500" dirty="0"/>
          </a:p>
          <a:p>
            <a:pPr marL="0" indent="0">
              <a:buNone/>
            </a:pPr>
            <a:endParaRPr lang="en-US" sz="1500" dirty="0"/>
          </a:p>
          <a:p>
            <a:pPr marL="0" indent="0">
              <a:buNone/>
            </a:pPr>
            <a:r>
              <a:rPr lang="en-US" sz="1500" dirty="0">
                <a:solidFill>
                  <a:srgbClr val="E8ECF4"/>
                </a:solidFill>
                <a:latin typeface="Calibri" pitchFamily="34" charset="0"/>
                <a:ea typeface="Calibri" pitchFamily="34" charset="-122"/>
                <a:cs typeface="Calibri" pitchFamily="34" charset="-120"/>
              </a:rPr>
              <a:t>Un appel à </a:t>
            </a:r>
            <a:r>
              <a:rPr lang="en-US" sz="1500" b="1" dirty="0">
                <a:solidFill>
                  <a:srgbClr val="00BFFF"/>
                </a:solidFill>
                <a:latin typeface="Calibri" pitchFamily="34" charset="0"/>
                <a:ea typeface="Calibri" pitchFamily="34" charset="-122"/>
                <a:cs typeface="Calibri" pitchFamily="34" charset="-120"/>
              </a:rPr>
              <a:t>orderRepository.save(order)</a:t>
            </a:r>
            <a:r>
              <a:rPr lang="en-US" sz="1500" dirty="0">
                <a:solidFill>
                  <a:srgbClr val="E8ECF4"/>
                </a:solidFill>
                <a:latin typeface="Calibri" pitchFamily="34" charset="0"/>
                <a:ea typeface="Calibri" pitchFamily="34" charset="-122"/>
                <a:cs typeface="Calibri" pitchFamily="34" charset="-120"/>
              </a:rPr>
              <a:t> sauvegarde l'Order et tous ses OrderItems dans la même transaction.</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Règle 4 — Les Domain Events sont émis par </a:t>
            </a:r>
            <a:r>
              <a:rPr lang="en-US" sz="2700" b="1" dirty="0" err="1">
                <a:solidFill>
                  <a:srgbClr val="FFFFFF"/>
                </a:solidFill>
                <a:latin typeface="Calibri" pitchFamily="34" charset="0"/>
                <a:ea typeface="Calibri" pitchFamily="34" charset="-122"/>
                <a:cs typeface="Calibri" pitchFamily="34" charset="-120"/>
              </a:rPr>
              <a:t>l’Aggregate</a:t>
            </a:r>
            <a:endParaRPr lang="en-US" sz="27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40</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Quand quelque chose d'important se passe (commande confirmée, commande annulée), </a:t>
            </a:r>
            <a:r>
              <a:rPr lang="en-US" sz="1400" dirty="0" err="1">
                <a:solidFill>
                  <a:srgbClr val="E8ECF4"/>
                </a:solidFill>
                <a:latin typeface="Calibri" pitchFamily="34" charset="0"/>
                <a:ea typeface="Calibri" pitchFamily="34" charset="-122"/>
                <a:cs typeface="Calibri" pitchFamily="34" charset="-120"/>
              </a:rPr>
              <a:t>c'est</a:t>
            </a:r>
            <a:r>
              <a:rPr lang="en-US" sz="1400" dirty="0">
                <a:solidFill>
                  <a:srgbClr val="E8ECF4"/>
                </a:solidFill>
                <a:latin typeface="Calibri" pitchFamily="34" charset="0"/>
                <a:ea typeface="Calibri" pitchFamily="34" charset="-122"/>
                <a:cs typeface="Calibri" pitchFamily="34" charset="-120"/>
              </a:rPr>
              <a:t> </a:t>
            </a:r>
            <a:r>
              <a:rPr lang="en-US" sz="1400" dirty="0" err="1">
                <a:solidFill>
                  <a:srgbClr val="E8ECF4"/>
                </a:solidFill>
                <a:latin typeface="Calibri" pitchFamily="34" charset="0"/>
                <a:ea typeface="Calibri" pitchFamily="34" charset="-122"/>
                <a:cs typeface="Calibri" pitchFamily="34" charset="-120"/>
              </a:rPr>
              <a:t>l’Aggregate</a:t>
            </a:r>
            <a:r>
              <a:rPr lang="en-US" sz="1400" dirty="0">
                <a:solidFill>
                  <a:srgbClr val="E8ECF4"/>
                </a:solidFill>
                <a:latin typeface="Calibri" pitchFamily="34" charset="0"/>
                <a:ea typeface="Calibri" pitchFamily="34" charset="-122"/>
                <a:cs typeface="Calibri" pitchFamily="34" charset="-120"/>
              </a:rPr>
              <a:t> qui émet l'événement.</a:t>
            </a:r>
            <a:endParaRPr lang="en-US" sz="1400" dirty="0"/>
          </a:p>
        </p:txBody>
      </p:sp>
      <p:pic>
        <p:nvPicPr>
          <p:cNvPr id="10" name="Picture 9" descr="A screen shot of a computer code&#10;&#10;AI-generated content may be incorrect.">
            <a:extLst>
              <a:ext uri="{FF2B5EF4-FFF2-40B4-BE49-F238E27FC236}">
                <a16:creationId xmlns:a16="http://schemas.microsoft.com/office/drawing/2014/main" id="{F0BAD9AF-DD31-DE27-E127-07CB53ED67FF}"/>
              </a:ext>
            </a:extLst>
          </p:cNvPr>
          <p:cNvPicPr>
            <a:picLocks noChangeAspect="1"/>
          </p:cNvPicPr>
          <p:nvPr/>
        </p:nvPicPr>
        <p:blipFill>
          <a:blip r:embed="rId4"/>
          <a:stretch>
            <a:fillRect/>
          </a:stretch>
        </p:blipFill>
        <p:spPr>
          <a:xfrm>
            <a:off x="548640" y="1770753"/>
            <a:ext cx="5270186" cy="276785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dimensionner un Aggregate ?</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48640" y="1188720"/>
            <a:ext cx="8046720" cy="10972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280160"/>
            <a:ext cx="7498080" cy="45720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La question à se poser : "Ces deux objets doivent-ils être modifiés dans la même transaction pour rester cohérents ?"</a:t>
            </a:r>
            <a:endParaRPr lang="en-US" sz="1500" dirty="0"/>
          </a:p>
        </p:txBody>
      </p:sp>
      <p:sp>
        <p:nvSpPr>
          <p:cNvPr id="8" name="Text 6"/>
          <p:cNvSpPr/>
          <p:nvPr/>
        </p:nvSpPr>
        <p:spPr>
          <a:xfrm>
            <a:off x="822960" y="1828800"/>
            <a:ext cx="749808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Si oui → même Aggregate.  Si non → Aggregates séparés, reliés par ID.</a:t>
            </a:r>
            <a:endParaRPr lang="en-US" sz="1400" dirty="0"/>
          </a:p>
        </p:txBody>
      </p:sp>
      <p:sp>
        <p:nvSpPr>
          <p:cNvPr id="9" name="Shape 7"/>
          <p:cNvSpPr/>
          <p:nvPr/>
        </p:nvSpPr>
        <p:spPr>
          <a:xfrm>
            <a:off x="548640" y="256032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560320"/>
            <a:ext cx="54864" cy="1371600"/>
          </a:xfrm>
          <a:prstGeom prst="rect">
            <a:avLst/>
          </a:prstGeom>
          <a:solidFill>
            <a:srgbClr val="FF6B35"/>
          </a:solidFill>
          <a:ln/>
        </p:spPr>
        <p:txBody>
          <a:bodyPr/>
          <a:lstStyle/>
          <a:p>
            <a:endParaRPr lang="en-US"/>
          </a:p>
        </p:txBody>
      </p:sp>
      <p:sp>
        <p:nvSpPr>
          <p:cNvPr id="11" name="Text 9"/>
          <p:cNvSpPr/>
          <p:nvPr/>
        </p:nvSpPr>
        <p:spPr>
          <a:xfrm>
            <a:off x="822960" y="2651760"/>
            <a:ext cx="7498080" cy="11887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Règle d'or : </a:t>
            </a:r>
            <a:r>
              <a:rPr lang="en-US" sz="1300" dirty="0">
                <a:solidFill>
                  <a:srgbClr val="E8ECF4"/>
                </a:solidFill>
                <a:latin typeface="Calibri" pitchFamily="34" charset="0"/>
                <a:ea typeface="Calibri" pitchFamily="34" charset="-122"/>
                <a:cs typeface="Calibri" pitchFamily="34" charset="-120"/>
              </a:rPr>
              <a:t>un Aggregate doit être le plus petit possible. Si on met trop de choses dans un Aggregate, on crée des problèmes de performance (tout charger en mémoire) et de concurrence (tout verrouiller en transaction).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0116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828800"/>
            <a:ext cx="6400800" cy="1463040"/>
          </a:xfrm>
          <a:prstGeom prst="rect">
            <a:avLst/>
          </a:prstGeom>
          <a:noFill/>
          <a:ln/>
        </p:spPr>
        <p:txBody>
          <a:bodyPr wrap="square" rtlCol="0" anchor="ctr"/>
          <a:lstStyle/>
          <a:p>
            <a:pPr marL="0" indent="0" algn="ctr">
              <a:buNone/>
            </a:pPr>
            <a:r>
              <a:rPr lang="en-US" sz="1700" dirty="0">
                <a:solidFill>
                  <a:srgbClr val="FFFFFF"/>
                </a:solidFill>
                <a:latin typeface="Calibri" pitchFamily="34" charset="0"/>
                <a:ea typeface="Calibri" pitchFamily="34" charset="-122"/>
                <a:cs typeface="Calibri" pitchFamily="34" charset="-120"/>
              </a:rPr>
              <a:t>L'Aggregate est le gardien de la cohérence. Toute modification passe par </a:t>
            </a:r>
            <a:r>
              <a:rPr lang="en-US" sz="1700" dirty="0" err="1">
                <a:solidFill>
                  <a:srgbClr val="FFFFFF"/>
                </a:solidFill>
                <a:latin typeface="Calibri" pitchFamily="34" charset="0"/>
                <a:ea typeface="Calibri" pitchFamily="34" charset="-122"/>
                <a:cs typeface="Calibri" pitchFamily="34" charset="-120"/>
              </a:rPr>
              <a:t>lui</a:t>
            </a:r>
            <a:r>
              <a:rPr lang="en-US" sz="1700" dirty="0">
                <a:solidFill>
                  <a:srgbClr val="FFFFFF"/>
                </a:solidFill>
                <a:latin typeface="Calibri" pitchFamily="34" charset="0"/>
                <a:ea typeface="Calibri" pitchFamily="34" charset="-122"/>
                <a:cs typeface="Calibri" pitchFamily="34" charset="-120"/>
              </a:rPr>
              <a:t>, qui vérifie les invariants avant d'accepter le changement. </a:t>
            </a:r>
          </a:p>
          <a:p>
            <a:pPr marL="0" indent="0" algn="ctr">
              <a:buNone/>
            </a:pPr>
            <a:r>
              <a:rPr lang="en-US" sz="1700" dirty="0">
                <a:solidFill>
                  <a:srgbClr val="FFFFFF"/>
                </a:solidFill>
                <a:latin typeface="Calibri" pitchFamily="34" charset="0"/>
                <a:ea typeface="Calibri" pitchFamily="34" charset="-122"/>
                <a:cs typeface="Calibri" pitchFamily="34" charset="-120"/>
              </a:rPr>
              <a:t>De l'extérieur, on ne </a:t>
            </a:r>
            <a:r>
              <a:rPr lang="en-US" sz="1700" dirty="0" err="1">
                <a:solidFill>
                  <a:srgbClr val="FFFFFF"/>
                </a:solidFill>
                <a:latin typeface="Calibri" pitchFamily="34" charset="0"/>
                <a:ea typeface="Calibri" pitchFamily="34" charset="-122"/>
                <a:cs typeface="Calibri" pitchFamily="34" charset="-120"/>
              </a:rPr>
              <a:t>voit</a:t>
            </a:r>
            <a:r>
              <a:rPr lang="en-US" sz="1700" dirty="0">
                <a:solidFill>
                  <a:srgbClr val="FFFFFF"/>
                </a:solidFill>
                <a:latin typeface="Calibri" pitchFamily="34" charset="0"/>
                <a:ea typeface="Calibri" pitchFamily="34" charset="-122"/>
                <a:cs typeface="Calibri" pitchFamily="34" charset="-120"/>
              </a:rPr>
              <a:t> </a:t>
            </a:r>
            <a:r>
              <a:rPr lang="en-US" sz="1700" dirty="0" err="1">
                <a:solidFill>
                  <a:srgbClr val="FFFFFF"/>
                </a:solidFill>
                <a:latin typeface="Calibri" pitchFamily="34" charset="0"/>
                <a:ea typeface="Calibri" pitchFamily="34" charset="-122"/>
                <a:cs typeface="Calibri" pitchFamily="34" charset="-120"/>
              </a:rPr>
              <a:t>que</a:t>
            </a:r>
            <a:r>
              <a:rPr lang="en-US" sz="1700" dirty="0">
                <a:solidFill>
                  <a:srgbClr val="FFFFFF"/>
                </a:solidFill>
                <a:latin typeface="Calibri" pitchFamily="34" charset="0"/>
                <a:ea typeface="Calibri" pitchFamily="34" charset="-122"/>
                <a:cs typeface="Calibri" pitchFamily="34" charset="-120"/>
              </a:rPr>
              <a:t> </a:t>
            </a:r>
            <a:r>
              <a:rPr lang="en-US" sz="1700" dirty="0" err="1">
                <a:solidFill>
                  <a:srgbClr val="FFFFFF"/>
                </a:solidFill>
                <a:latin typeface="Calibri" pitchFamily="34" charset="0"/>
                <a:ea typeface="Calibri" pitchFamily="34" charset="-122"/>
                <a:cs typeface="Calibri" pitchFamily="34" charset="-120"/>
              </a:rPr>
              <a:t>l’Aggregate</a:t>
            </a: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9A93B43-C74F-6896-56DA-A57EFB1C434F}"/>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0C5D582A-45E0-8422-C7B3-23B3F5E67BB7}"/>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42</a:t>
            </a:r>
            <a:endParaRPr lang="en-US" sz="900" dirty="0"/>
          </a:p>
        </p:txBody>
      </p:sp>
      <p:pic>
        <p:nvPicPr>
          <p:cNvPr id="9" name="Picture 8" descr="A screenshot of a computer&#10;&#10;AI-generated content may be incorrect.">
            <a:extLst>
              <a:ext uri="{FF2B5EF4-FFF2-40B4-BE49-F238E27FC236}">
                <a16:creationId xmlns:a16="http://schemas.microsoft.com/office/drawing/2014/main" id="{246B16FB-83CB-977E-9168-2409B67575B2}"/>
              </a:ext>
            </a:extLst>
          </p:cNvPr>
          <p:cNvPicPr>
            <a:picLocks noChangeAspect="1"/>
          </p:cNvPicPr>
          <p:nvPr/>
        </p:nvPicPr>
        <p:blipFill>
          <a:blip r:embed="rId4"/>
          <a:stretch>
            <a:fillRect/>
          </a:stretch>
        </p:blipFill>
        <p:spPr>
          <a:xfrm>
            <a:off x="2051778" y="694764"/>
            <a:ext cx="5040444" cy="3753971"/>
          </a:xfrm>
          <a:prstGeom prst="rect">
            <a:avLst/>
          </a:prstGeom>
        </p:spPr>
      </p:pic>
    </p:spTree>
    <p:extLst>
      <p:ext uri="{BB962C8B-B14F-4D97-AF65-F5344CB8AC3E}">
        <p14:creationId xmlns:p14="http://schemas.microsoft.com/office/powerpoint/2010/main" val="3802806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7</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Bounded Context — Les frontières du domaine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Dans une application, le même mot peut avoir des significations différentes selon le contexte.</a:t>
            </a:r>
            <a:endParaRPr lang="en-US" sz="1400" dirty="0"/>
          </a:p>
        </p:txBody>
      </p:sp>
      <p:sp>
        <p:nvSpPr>
          <p:cNvPr id="7" name="Shape 5"/>
          <p:cNvSpPr/>
          <p:nvPr/>
        </p:nvSpPr>
        <p:spPr>
          <a:xfrm>
            <a:off x="548640" y="1554480"/>
            <a:ext cx="54864" cy="502920"/>
          </a:xfrm>
          <a:prstGeom prst="rect">
            <a:avLst/>
          </a:prstGeom>
          <a:solidFill>
            <a:srgbClr val="1E90FF"/>
          </a:solidFill>
          <a:ln/>
        </p:spPr>
        <p:txBody>
          <a:bodyPr/>
          <a:lstStyle/>
          <a:p>
            <a:endParaRPr lang="en-US"/>
          </a:p>
        </p:txBody>
      </p:sp>
      <p:sp>
        <p:nvSpPr>
          <p:cNvPr id="8" name="Text 6"/>
          <p:cNvSpPr/>
          <p:nvPr/>
        </p:nvSpPr>
        <p:spPr>
          <a:xfrm>
            <a:off x="822960" y="155448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Authentification </a:t>
            </a:r>
            <a:r>
              <a:rPr lang="en-US" sz="1300" dirty="0">
                <a:solidFill>
                  <a:srgbClr val="E8ECF4"/>
                </a:solidFill>
                <a:latin typeface="Calibri" pitchFamily="34" charset="0"/>
                <a:ea typeface="Calibri" pitchFamily="34" charset="-122"/>
                <a:cs typeface="Calibri" pitchFamily="34" charset="-120"/>
              </a:rPr>
              <a:t>c'est un email et un mot de passe.</a:t>
            </a:r>
            <a:endParaRPr lang="en-US" sz="1300" dirty="0"/>
          </a:p>
        </p:txBody>
      </p:sp>
      <p:sp>
        <p:nvSpPr>
          <p:cNvPr id="9" name="Shape 7"/>
          <p:cNvSpPr/>
          <p:nvPr/>
        </p:nvSpPr>
        <p:spPr>
          <a:xfrm>
            <a:off x="548640" y="2194560"/>
            <a:ext cx="54864" cy="502920"/>
          </a:xfrm>
          <a:prstGeom prst="rect">
            <a:avLst/>
          </a:prstGeom>
          <a:solidFill>
            <a:srgbClr val="1E90FF"/>
          </a:solidFill>
          <a:ln/>
        </p:spPr>
        <p:txBody>
          <a:bodyPr/>
          <a:lstStyle/>
          <a:p>
            <a:endParaRPr lang="en-US"/>
          </a:p>
        </p:txBody>
      </p:sp>
      <p:sp>
        <p:nvSpPr>
          <p:cNvPr id="10" name="Text 8"/>
          <p:cNvSpPr/>
          <p:nvPr/>
        </p:nvSpPr>
        <p:spPr>
          <a:xfrm>
            <a:off x="822960" y="219456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Facturation </a:t>
            </a:r>
            <a:r>
              <a:rPr lang="en-US" sz="1300" dirty="0">
                <a:solidFill>
                  <a:srgbClr val="E8ECF4"/>
                </a:solidFill>
                <a:latin typeface="Calibri" pitchFamily="34" charset="0"/>
                <a:ea typeface="Calibri" pitchFamily="34" charset="-122"/>
                <a:cs typeface="Calibri" pitchFamily="34" charset="-120"/>
              </a:rPr>
              <a:t>c'est un nom, une adresse et un IBAN.</a:t>
            </a:r>
            <a:endParaRPr lang="en-US" sz="1300" dirty="0"/>
          </a:p>
        </p:txBody>
      </p:sp>
      <p:sp>
        <p:nvSpPr>
          <p:cNvPr id="11" name="Shape 9"/>
          <p:cNvSpPr/>
          <p:nvPr/>
        </p:nvSpPr>
        <p:spPr>
          <a:xfrm>
            <a:off x="548640" y="2834640"/>
            <a:ext cx="54864" cy="502920"/>
          </a:xfrm>
          <a:prstGeom prst="rect">
            <a:avLst/>
          </a:prstGeom>
          <a:solidFill>
            <a:srgbClr val="1E90FF"/>
          </a:solidFill>
          <a:ln/>
        </p:spPr>
        <p:txBody>
          <a:bodyPr/>
          <a:lstStyle/>
          <a:p>
            <a:endParaRPr lang="en-US"/>
          </a:p>
        </p:txBody>
      </p:sp>
      <p:sp>
        <p:nvSpPr>
          <p:cNvPr id="12" name="Text 10"/>
          <p:cNvSpPr/>
          <p:nvPr/>
        </p:nvSpPr>
        <p:spPr>
          <a:xfrm>
            <a:off x="822960" y="283464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Support </a:t>
            </a:r>
            <a:r>
              <a:rPr lang="en-US" sz="1300" dirty="0">
                <a:solidFill>
                  <a:srgbClr val="E8ECF4"/>
                </a:solidFill>
                <a:latin typeface="Calibri" pitchFamily="34" charset="0"/>
                <a:ea typeface="Calibri" pitchFamily="34" charset="-122"/>
                <a:cs typeface="Calibri" pitchFamily="34" charset="-120"/>
              </a:rPr>
              <a:t>c'est un historique de tickets et un niveau de priorité.</a:t>
            </a:r>
            <a:endParaRPr lang="en-US" sz="1300" dirty="0"/>
          </a:p>
        </p:txBody>
      </p:sp>
      <p:sp>
        <p:nvSpPr>
          <p:cNvPr id="13" name="Shape 11"/>
          <p:cNvSpPr/>
          <p:nvPr/>
        </p:nvSpPr>
        <p:spPr>
          <a:xfrm>
            <a:off x="548640" y="356616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566160"/>
            <a:ext cx="54864" cy="914400"/>
          </a:xfrm>
          <a:prstGeom prst="rect">
            <a:avLst/>
          </a:prstGeom>
          <a:solidFill>
            <a:srgbClr val="FF6B35"/>
          </a:solidFill>
          <a:ln/>
        </p:spPr>
        <p:txBody>
          <a:bodyPr/>
          <a:lstStyle/>
          <a:p>
            <a:endParaRPr lang="en-US"/>
          </a:p>
        </p:txBody>
      </p:sp>
      <p:sp>
        <p:nvSpPr>
          <p:cNvPr id="15" name="Text 13"/>
          <p:cNvSpPr/>
          <p:nvPr/>
        </p:nvSpPr>
        <p:spPr>
          <a:xfrm>
            <a:off x="822960" y="3657600"/>
            <a:ext cx="7498080" cy="7315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Si on essaie de tout mettre dans une seule classe User, on se retrouve avec un objet monstre de 40 propriétés dont chaque endpoint n'utilise que 5.</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48640" y="1188720"/>
            <a:ext cx="8046720" cy="20116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280160"/>
            <a:ext cx="7498080" cy="73152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Un Bounded Context est une frontière explicite à l'intérieur de laquelle un modèle de domaine a un sens précis et cohérent.</a:t>
            </a:r>
            <a:endParaRPr lang="en-US" sz="1600" dirty="0"/>
          </a:p>
        </p:txBody>
      </p:sp>
      <p:sp>
        <p:nvSpPr>
          <p:cNvPr id="8" name="Text 6"/>
          <p:cNvSpPr/>
          <p:nvPr/>
        </p:nvSpPr>
        <p:spPr>
          <a:xfrm>
            <a:off x="822960" y="2103120"/>
            <a:ext cx="7498080" cy="9144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Chaque contexte a son propre vocabulaire, ses propres entités, ses propres règles. Le même concept du monde réel peut avoir des représentations différentes dans des </a:t>
            </a:r>
            <a:r>
              <a:rPr lang="en-US" sz="1400" dirty="0" err="1">
                <a:solidFill>
                  <a:srgbClr val="E8ECF4"/>
                </a:solidFill>
                <a:latin typeface="Calibri" pitchFamily="34" charset="0"/>
                <a:ea typeface="Calibri" pitchFamily="34" charset="-122"/>
                <a:cs typeface="Calibri" pitchFamily="34" charset="-120"/>
              </a:rPr>
              <a:t>contextes</a:t>
            </a:r>
            <a:r>
              <a:rPr lang="en-US" sz="1400" dirty="0">
                <a:solidFill>
                  <a:srgbClr val="E8ECF4"/>
                </a:solidFill>
                <a:latin typeface="Calibri" pitchFamily="34" charset="0"/>
                <a:ea typeface="Calibri" pitchFamily="34" charset="-122"/>
                <a:cs typeface="Calibri" pitchFamily="34" charset="-120"/>
              </a:rPr>
              <a:t> </a:t>
            </a:r>
            <a:r>
              <a:rPr lang="en-US" sz="1400" dirty="0" err="1">
                <a:solidFill>
                  <a:srgbClr val="E8ECF4"/>
                </a:solidFill>
                <a:latin typeface="Calibri" pitchFamily="34" charset="0"/>
                <a:ea typeface="Calibri" pitchFamily="34" charset="-122"/>
                <a:cs typeface="Calibri" pitchFamily="34" charset="-120"/>
              </a:rPr>
              <a:t>différents</a:t>
            </a:r>
            <a:r>
              <a:rPr lang="en-US" sz="1400" dirty="0">
                <a:solidFill>
                  <a:srgbClr val="E8ECF4"/>
                </a:solidFill>
                <a:latin typeface="Calibri" pitchFamily="34" charset="0"/>
                <a:ea typeface="Calibri" pitchFamily="34" charset="-122"/>
                <a:cs typeface="Calibri" pitchFamily="34" charset="-120"/>
              </a:rPr>
              <a:t> et c'est voulu.</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Exemple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Prenons un e-commerce. Le concept "Produit" existe partout, mais il ne veut pas dire la même chose :</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2202492747"/>
              </p:ext>
            </p:extLst>
          </p:nvPr>
        </p:nvGraphicFramePr>
        <p:xfrm>
          <a:off x="624392" y="1539240"/>
          <a:ext cx="7895216" cy="1295400"/>
        </p:xfrm>
        <a:graphic>
          <a:graphicData uri="http://schemas.openxmlformats.org/drawingml/2006/table">
            <a:tbl>
              <a:tblPr/>
              <a:tblGrid>
                <a:gridCol w="1828800">
                  <a:extLst>
                    <a:ext uri="{9D8B030D-6E8A-4147-A177-3AD203B41FA5}">
                      <a16:colId xmlns:a16="http://schemas.microsoft.com/office/drawing/2014/main" val="20000"/>
                    </a:ext>
                  </a:extLst>
                </a:gridCol>
                <a:gridCol w="2036781">
                  <a:extLst>
                    <a:ext uri="{9D8B030D-6E8A-4147-A177-3AD203B41FA5}">
                      <a16:colId xmlns:a16="http://schemas.microsoft.com/office/drawing/2014/main" val="20001"/>
                    </a:ext>
                  </a:extLst>
                </a:gridCol>
                <a:gridCol w="4029635">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Bounded Context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Ce que "Produit" signifie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Propriétés qui comptent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Catalogue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 article à afficher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Nom, description, photos, catégorie, prix affiché</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Commande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ligne dans un panier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Référence produit (ID), quantité, prix unitaire au moment de l'achat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Stock</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unité à gérer physiquement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SKU, quantité disponible, seuil de réappro, emplacement entrepôt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Facturation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ligne de facture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Libellé, montant HT, taux de TVA, montant TTC</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ça se traduit dans le code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47</a:t>
            </a:r>
            <a:endParaRPr lang="en-US" sz="900" dirty="0"/>
          </a:p>
        </p:txBody>
      </p:sp>
      <p:sp>
        <p:nvSpPr>
          <p:cNvPr id="6" name="Shape 4"/>
          <p:cNvSpPr/>
          <p:nvPr/>
        </p:nvSpPr>
        <p:spPr>
          <a:xfrm>
            <a:off x="548640" y="109728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54864" cy="548640"/>
          </a:xfrm>
          <a:prstGeom prst="rect">
            <a:avLst/>
          </a:prstGeom>
          <a:solidFill>
            <a:srgbClr val="1E90FF"/>
          </a:solidFill>
          <a:ln/>
        </p:spPr>
        <p:txBody>
          <a:bodyPr/>
          <a:lstStyle/>
          <a:p>
            <a:endParaRPr lang="en-US"/>
          </a:p>
        </p:txBody>
      </p:sp>
      <p:sp>
        <p:nvSpPr>
          <p:cNvPr id="8" name="Text 6"/>
          <p:cNvSpPr/>
          <p:nvPr/>
        </p:nvSpPr>
        <p:spPr>
          <a:xfrm>
            <a:off x="822960" y="109728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Bounded Context correspond à un module dans le projet.</a:t>
            </a:r>
            <a:endParaRPr lang="en-US" sz="1200" dirty="0"/>
          </a:p>
        </p:txBody>
      </p:sp>
      <p:sp>
        <p:nvSpPr>
          <p:cNvPr id="9" name="Shape 7"/>
          <p:cNvSpPr/>
          <p:nvPr/>
        </p:nvSpPr>
        <p:spPr>
          <a:xfrm>
            <a:off x="548640" y="173736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1737360"/>
            <a:ext cx="54864" cy="548640"/>
          </a:xfrm>
          <a:prstGeom prst="rect">
            <a:avLst/>
          </a:prstGeom>
          <a:solidFill>
            <a:srgbClr val="1E90FF"/>
          </a:solidFill>
          <a:ln/>
        </p:spPr>
        <p:txBody>
          <a:bodyPr/>
          <a:lstStyle/>
          <a:p>
            <a:endParaRPr lang="en-US"/>
          </a:p>
        </p:txBody>
      </p:sp>
      <p:sp>
        <p:nvSpPr>
          <p:cNvPr id="11" name="Text 9"/>
          <p:cNvSpPr/>
          <p:nvPr/>
        </p:nvSpPr>
        <p:spPr>
          <a:xfrm>
            <a:off x="822960" y="173736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module a son propre domaine, ses propres entités, ses propres Value Objects.</a:t>
            </a:r>
            <a:endParaRPr lang="en-US" sz="1200" dirty="0"/>
          </a:p>
        </p:txBody>
      </p:sp>
      <p:sp>
        <p:nvSpPr>
          <p:cNvPr id="12" name="Shape 10"/>
          <p:cNvSpPr/>
          <p:nvPr/>
        </p:nvSpPr>
        <p:spPr>
          <a:xfrm>
            <a:off x="548640" y="237744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3" name="Shape 11"/>
          <p:cNvSpPr/>
          <p:nvPr/>
        </p:nvSpPr>
        <p:spPr>
          <a:xfrm>
            <a:off x="548640" y="2377440"/>
            <a:ext cx="54864" cy="548640"/>
          </a:xfrm>
          <a:prstGeom prst="rect">
            <a:avLst/>
          </a:prstGeom>
          <a:solidFill>
            <a:srgbClr val="1E90FF"/>
          </a:solidFill>
          <a:ln/>
        </p:spPr>
        <p:txBody>
          <a:bodyPr/>
          <a:lstStyle/>
          <a:p>
            <a:endParaRPr lang="en-US"/>
          </a:p>
        </p:txBody>
      </p:sp>
      <p:sp>
        <p:nvSpPr>
          <p:cNvPr id="14" name="Text 12"/>
          <p:cNvSpPr/>
          <p:nvPr/>
        </p:nvSpPr>
        <p:spPr>
          <a:xfrm>
            <a:off x="822960" y="237744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Les modules communiquent entre eux par ID ou par événements — jamais par référence directe à une entité d'un autre contexte.</a:t>
            </a:r>
            <a:endParaRPr lang="en-US" sz="1200" dirty="0"/>
          </a:p>
        </p:txBody>
      </p:sp>
      <p:pic>
        <p:nvPicPr>
          <p:cNvPr id="17" name="Picture 16" descr="A screenshot of a computer&#10;&#10;AI-generated content may be incorrect.">
            <a:extLst>
              <a:ext uri="{FF2B5EF4-FFF2-40B4-BE49-F238E27FC236}">
                <a16:creationId xmlns:a16="http://schemas.microsoft.com/office/drawing/2014/main" id="{08463F09-ED32-6123-2CC5-F7CD91C9532B}"/>
              </a:ext>
            </a:extLst>
          </p:cNvPr>
          <p:cNvPicPr>
            <a:picLocks noChangeAspect="1"/>
          </p:cNvPicPr>
          <p:nvPr/>
        </p:nvPicPr>
        <p:blipFill>
          <a:blip r:embed="rId4"/>
          <a:stretch>
            <a:fillRect/>
          </a:stretch>
        </p:blipFill>
        <p:spPr>
          <a:xfrm>
            <a:off x="5340096" y="1097280"/>
            <a:ext cx="3596535" cy="261097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Communication entre contextes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Les Bounded Contexts ne s'appellent pas directement. Deux mécanismes :</a:t>
            </a:r>
            <a:endParaRPr lang="en-US" sz="1400" dirty="0"/>
          </a:p>
        </p:txBody>
      </p:sp>
      <p:sp>
        <p:nvSpPr>
          <p:cNvPr id="7" name="Shape 5"/>
          <p:cNvSpPr/>
          <p:nvPr/>
        </p:nvSpPr>
        <p:spPr>
          <a:xfrm>
            <a:off x="548640" y="15544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3840480" cy="457200"/>
          </a:xfrm>
          <a:prstGeom prst="rect">
            <a:avLst/>
          </a:prstGeom>
          <a:solidFill>
            <a:srgbClr val="1E90FF">
              <a:alpha val="40000"/>
            </a:srgbClr>
          </a:solidFill>
          <a:ln/>
        </p:spPr>
        <p:txBody>
          <a:bodyPr/>
          <a:lstStyle/>
          <a:p>
            <a:endParaRPr lang="en-US"/>
          </a:p>
        </p:txBody>
      </p:sp>
      <p:sp>
        <p:nvSpPr>
          <p:cNvPr id="9" name="Text 7"/>
          <p:cNvSpPr/>
          <p:nvPr/>
        </p:nvSpPr>
        <p:spPr>
          <a:xfrm>
            <a:off x="731520" y="16002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PAR ID</a:t>
            </a:r>
            <a:endParaRPr lang="en-US" sz="1400" dirty="0"/>
          </a:p>
        </p:txBody>
      </p:sp>
      <p:sp>
        <p:nvSpPr>
          <p:cNvPr id="10" name="Text 8"/>
          <p:cNvSpPr/>
          <p:nvPr/>
        </p:nvSpPr>
        <p:spPr>
          <a:xfrm>
            <a:off x="731520" y="2103120"/>
            <a:ext cx="3474720" cy="18288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Le contexte Commande stocke un customerId: string, pas une référence à l'entité User du contexte Auth. Si le use case a besoin d'infos sur le client, il appelle le module concerné via une interface.</a:t>
            </a:r>
            <a:endParaRPr lang="en-US" sz="1100" dirty="0"/>
          </a:p>
        </p:txBody>
      </p:sp>
      <p:sp>
        <p:nvSpPr>
          <p:cNvPr id="11" name="Shape 9"/>
          <p:cNvSpPr/>
          <p:nvPr/>
        </p:nvSpPr>
        <p:spPr>
          <a:xfrm>
            <a:off x="4754880" y="15544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4754880" y="1554480"/>
            <a:ext cx="3840480" cy="457200"/>
          </a:xfrm>
          <a:prstGeom prst="rect">
            <a:avLst/>
          </a:prstGeom>
          <a:solidFill>
            <a:srgbClr val="00BFFF">
              <a:alpha val="40000"/>
            </a:srgbClr>
          </a:solidFill>
          <a:ln/>
        </p:spPr>
        <p:txBody>
          <a:bodyPr/>
          <a:lstStyle/>
          <a:p>
            <a:endParaRPr lang="en-US"/>
          </a:p>
        </p:txBody>
      </p:sp>
      <p:sp>
        <p:nvSpPr>
          <p:cNvPr id="13" name="Text 11"/>
          <p:cNvSpPr/>
          <p:nvPr/>
        </p:nvSpPr>
        <p:spPr>
          <a:xfrm>
            <a:off x="4937760" y="16002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PAR ÉVÉNEMENTS</a:t>
            </a:r>
            <a:endParaRPr lang="en-US" sz="1400" dirty="0"/>
          </a:p>
        </p:txBody>
      </p:sp>
      <p:sp>
        <p:nvSpPr>
          <p:cNvPr id="14" name="Text 12"/>
          <p:cNvSpPr/>
          <p:nvPr/>
        </p:nvSpPr>
        <p:spPr>
          <a:xfrm>
            <a:off x="4937760" y="2103120"/>
            <a:ext cx="3474720" cy="18288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Quand une commande est confirmée, le contexte Commande émet un OrderConfirmedEvent. Le contexte Stock écoute et décrémente les quantités. Le contexte Facturation génère une facture. Chaque contexte réagit avec ses propres règles, sans couplage.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L'Ubiquitous Language par contexte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49</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Bounded Context a son propre vocabulaire. Le mot "Commande" n'a pas besoin d'exister dans le contexte Stock — là-bas on parle de "Mouvement de stock" ou de "Réservation". Cette séparation du langage est saine.</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3748785341"/>
              </p:ext>
            </p:extLst>
          </p:nvPr>
        </p:nvGraphicFramePr>
        <p:xfrm>
          <a:off x="548640" y="1783080"/>
          <a:ext cx="7955280" cy="1051560"/>
        </p:xfrm>
        <a:graphic>
          <a:graphicData uri="http://schemas.openxmlformats.org/drawingml/2006/table">
            <a:tbl>
              <a:tblPr/>
              <a:tblGrid>
                <a:gridCol w="1729409">
                  <a:extLst>
                    <a:ext uri="{9D8B030D-6E8A-4147-A177-3AD203B41FA5}">
                      <a16:colId xmlns:a16="http://schemas.microsoft.com/office/drawing/2014/main" val="20000"/>
                    </a:ext>
                  </a:extLst>
                </a:gridCol>
                <a:gridCol w="3571422">
                  <a:extLst>
                    <a:ext uri="{9D8B030D-6E8A-4147-A177-3AD203B41FA5}">
                      <a16:colId xmlns:a16="http://schemas.microsoft.com/office/drawing/2014/main" val="20001"/>
                    </a:ext>
                  </a:extLst>
                </a:gridCol>
                <a:gridCol w="2654449">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Contexte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On dit</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On ne dit pas</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Commande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Order, OrderItem, confirmer, annuler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Stock, SKU, entrepôt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Stock</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StockItem, réserver, réapprovisionner, mouvement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Commande, panier, prix</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Facturation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Invoice, InvoiceLine, émettre, avoir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Panier, stock, catalogue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identifier les Bounded Contexts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50</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Trois signaux qui indiquent qu'on a besoin de séparer en contextes :</a:t>
            </a:r>
            <a:endParaRPr lang="en-US" sz="1400" dirty="0"/>
          </a:p>
        </p:txBody>
      </p:sp>
      <p:sp>
        <p:nvSpPr>
          <p:cNvPr id="7" name="Shape 5"/>
          <p:cNvSpPr/>
          <p:nvPr/>
        </p:nvSpPr>
        <p:spPr>
          <a:xfrm>
            <a:off x="548640" y="155448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783080"/>
            <a:ext cx="365760" cy="365760"/>
          </a:xfrm>
          <a:prstGeom prst="ellipse">
            <a:avLst/>
          </a:prstGeom>
          <a:solidFill>
            <a:srgbClr val="1E90FF">
              <a:alpha val="80000"/>
            </a:srgbClr>
          </a:solidFill>
          <a:ln/>
        </p:spPr>
        <p:txBody>
          <a:bodyPr/>
          <a:lstStyle/>
          <a:p>
            <a:endParaRPr lang="en-US"/>
          </a:p>
        </p:txBody>
      </p:sp>
      <p:sp>
        <p:nvSpPr>
          <p:cNvPr id="9" name="Text 7"/>
          <p:cNvSpPr/>
          <p:nvPr/>
        </p:nvSpPr>
        <p:spPr>
          <a:xfrm>
            <a:off x="68580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88720" y="164592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Le même mot a des significations différentes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"Produit" pour le marketing ≠ "Produit" pour la logistique.</a:t>
            </a:r>
            <a:endParaRPr lang="en-US" sz="1400" dirty="0"/>
          </a:p>
        </p:txBody>
      </p:sp>
      <p:sp>
        <p:nvSpPr>
          <p:cNvPr id="11" name="Shape 9"/>
          <p:cNvSpPr/>
          <p:nvPr/>
        </p:nvSpPr>
        <p:spPr>
          <a:xfrm>
            <a:off x="548640" y="260604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834640"/>
            <a:ext cx="365760" cy="365760"/>
          </a:xfrm>
          <a:prstGeom prst="ellipse">
            <a:avLst/>
          </a:prstGeom>
          <a:solidFill>
            <a:srgbClr val="1E90FF">
              <a:alpha val="80000"/>
            </a:srgbClr>
          </a:solidFill>
          <a:ln/>
        </p:spPr>
        <p:txBody>
          <a:bodyPr/>
          <a:lstStyle/>
          <a:p>
            <a:endParaRPr lang="en-US"/>
          </a:p>
        </p:txBody>
      </p:sp>
      <p:sp>
        <p:nvSpPr>
          <p:cNvPr id="13" name="Text 11"/>
          <p:cNvSpPr/>
          <p:nvPr/>
        </p:nvSpPr>
        <p:spPr>
          <a:xfrm>
            <a:off x="685800" y="28346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88720" y="269748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Des équipes différentes travaillent sur des parties différentes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L'équipe paiement n'a pas besoin de toucher au catalogue.</a:t>
            </a:r>
            <a:endParaRPr lang="en-US" sz="1400" dirty="0"/>
          </a:p>
        </p:txBody>
      </p:sp>
      <p:sp>
        <p:nvSpPr>
          <p:cNvPr id="15" name="Shape 13"/>
          <p:cNvSpPr/>
          <p:nvPr/>
        </p:nvSpPr>
        <p:spPr>
          <a:xfrm>
            <a:off x="548640" y="365760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886200"/>
            <a:ext cx="365760" cy="365760"/>
          </a:xfrm>
          <a:prstGeom prst="ellipse">
            <a:avLst/>
          </a:prstGeom>
          <a:solidFill>
            <a:srgbClr val="1E90FF">
              <a:alpha val="80000"/>
            </a:srgbClr>
          </a:solidFill>
          <a:ln/>
        </p:spPr>
        <p:txBody>
          <a:bodyPr/>
          <a:lstStyle/>
          <a:p>
            <a:endParaRPr lang="en-US"/>
          </a:p>
        </p:txBody>
      </p:sp>
      <p:sp>
        <p:nvSpPr>
          <p:cNvPr id="17" name="Text 15"/>
          <p:cNvSpPr/>
          <p:nvPr/>
        </p:nvSpPr>
        <p:spPr>
          <a:xfrm>
            <a:off x="685800" y="38862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188720" y="374904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Les cycles de vie sont différents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Le catalogue change tous les jours. Les commandes passées ne changent plus. Les factures sont immuables légalement.</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piège du monolithe de domaine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48640" y="118872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188720"/>
            <a:ext cx="54864" cy="1371600"/>
          </a:xfrm>
          <a:prstGeom prst="rect">
            <a:avLst/>
          </a:prstGeom>
          <a:solidFill>
            <a:srgbClr val="FF6B35"/>
          </a:solidFill>
          <a:ln/>
        </p:spPr>
        <p:txBody>
          <a:bodyPr/>
          <a:lstStyle/>
          <a:p>
            <a:endParaRPr lang="en-US"/>
          </a:p>
        </p:txBody>
      </p:sp>
      <p:sp>
        <p:nvSpPr>
          <p:cNvPr id="8" name="Text 6"/>
          <p:cNvSpPr/>
          <p:nvPr/>
        </p:nvSpPr>
        <p:spPr>
          <a:xfrm>
            <a:off x="822960" y="1280160"/>
            <a:ext cx="7498080" cy="11887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Sans Bounded Contexts, on finit avec une seule entité Product qui contient les propriétés du catalogue, du stock, de la facturation et de la commande. 40 propriétés, des dépendances dans tous les sens, et chaque modification risque de casser un contexte qui n'a rien à voir.</a:t>
            </a:r>
            <a:endParaRPr lang="en-US" sz="1300" dirty="0"/>
          </a:p>
        </p:txBody>
      </p:sp>
      <p:sp>
        <p:nvSpPr>
          <p:cNvPr id="9" name="Shape 7"/>
          <p:cNvSpPr/>
          <p:nvPr/>
        </p:nvSpPr>
        <p:spPr>
          <a:xfrm>
            <a:off x="548640" y="283464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834640"/>
            <a:ext cx="54864" cy="1371600"/>
          </a:xfrm>
          <a:prstGeom prst="rect">
            <a:avLst/>
          </a:prstGeom>
          <a:solidFill>
            <a:srgbClr val="1E90FF"/>
          </a:solidFill>
          <a:ln/>
        </p:spPr>
        <p:txBody>
          <a:bodyPr/>
          <a:lstStyle/>
          <a:p>
            <a:endParaRPr lang="en-US"/>
          </a:p>
        </p:txBody>
      </p:sp>
      <p:sp>
        <p:nvSpPr>
          <p:cNvPr id="11" name="Text 9"/>
          <p:cNvSpPr/>
          <p:nvPr/>
        </p:nvSpPr>
        <p:spPr>
          <a:xfrm>
            <a:off x="822960" y="2926080"/>
            <a:ext cx="7498080" cy="11887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Bounded Context, c'est accepter que la duplication contrôlée entre contextes est préférable au couplage. Avoir un CatalogProduct et un ProductRef séparés, c'est quelques lignes de code en plus mais une indépendance totale entre les modules.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2019748"/>
            <a:ext cx="6400800" cy="9144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Le Bounded Context trace la </a:t>
            </a:r>
            <a:r>
              <a:rPr lang="en-US" sz="1600" dirty="0" err="1">
                <a:solidFill>
                  <a:srgbClr val="FFFFFF"/>
                </a:solidFill>
                <a:latin typeface="Calibri" pitchFamily="34" charset="0"/>
                <a:ea typeface="Calibri" pitchFamily="34" charset="-122"/>
                <a:cs typeface="Calibri" pitchFamily="34" charset="-120"/>
              </a:rPr>
              <a:t>frontière</a:t>
            </a:r>
            <a:r>
              <a:rPr lang="en-US" sz="1600" dirty="0">
                <a:solidFill>
                  <a:srgbClr val="FFFFFF"/>
                </a:solidFill>
                <a:latin typeface="Calibri" pitchFamily="34" charset="0"/>
                <a:ea typeface="Calibri" pitchFamily="34" charset="-122"/>
                <a:cs typeface="Calibri" pitchFamily="34" charset="-120"/>
              </a:rPr>
              <a:t>. </a:t>
            </a:r>
          </a:p>
          <a:p>
            <a:pPr marL="0" indent="0" algn="ctr">
              <a:buNone/>
            </a:pPr>
            <a:r>
              <a:rPr lang="en-US" sz="1600" dirty="0">
                <a:solidFill>
                  <a:srgbClr val="FFFFFF"/>
                </a:solidFill>
                <a:latin typeface="Calibri" pitchFamily="34" charset="0"/>
                <a:ea typeface="Calibri" pitchFamily="34" charset="-122"/>
                <a:cs typeface="Calibri" pitchFamily="34" charset="-120"/>
              </a:rPr>
              <a:t>A l'intérieur, un modèle cohérent avec un vocabulaire précis. À l'extérieur, un autre monde avec ses propres règles.</a:t>
            </a:r>
            <a:endParaRPr lang="en-US" sz="1600" dirty="0"/>
          </a:p>
        </p:txBody>
      </p:sp>
      <p:sp>
        <p:nvSpPr>
          <p:cNvPr id="5" name="Text 3"/>
          <p:cNvSpPr/>
          <p:nvPr/>
        </p:nvSpPr>
        <p:spPr>
          <a:xfrm>
            <a:off x="1371600" y="3025588"/>
            <a:ext cx="6400800" cy="548640"/>
          </a:xfrm>
          <a:prstGeom prst="rect">
            <a:avLst/>
          </a:prstGeom>
          <a:noFill/>
          <a:ln/>
        </p:spPr>
        <p:txBody>
          <a:bodyPr wrap="square" rtlCol="0" anchor="ctr"/>
          <a:lstStyle/>
          <a:p>
            <a:pPr marL="0" indent="0" algn="ctr">
              <a:buNone/>
            </a:pPr>
            <a:r>
              <a:rPr lang="en-US" sz="1400" b="1" dirty="0">
                <a:solidFill>
                  <a:srgbClr val="00BFFF"/>
                </a:solidFill>
                <a:latin typeface="Calibri" pitchFamily="34" charset="0"/>
                <a:ea typeface="Calibri" pitchFamily="34" charset="-122"/>
                <a:cs typeface="Calibri" pitchFamily="34" charset="-120"/>
              </a:rPr>
              <a:t>Les contextes communiquent par ID et par événements, jamais par références directes.</a:t>
            </a:r>
            <a:endParaRPr lang="en-US" sz="14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8</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Go / No-Go du DDD</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coût honnête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Rappel des chiffres : un simple CRUD passe de ~2 fichiers à ~15 fichiers avec le DDD complet.</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Coût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Détail</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Fichiers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×8 plus de fichiers pour un même scénario</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Justifié si logique métier complexe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Mémoire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VO wrappent des primitives, Mappers copient entre couches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Négligeable sur un serveur Node.js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Courbe d'apprentissage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L'équipe doit intégrer les patterns et conventions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Investissement rentable à moyen terme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Vitesse initiale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Plus lent au démarrage (structure à poser)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S'inverse après quelques sprints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 — Quand utiliser le DDD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48640" y="1234440"/>
            <a:ext cx="228600" cy="228600"/>
          </a:xfrm>
          <a:prstGeom prst="rect">
            <a:avLst/>
          </a:prstGeom>
          <a:solidFill>
            <a:srgbClr val="22C55E"/>
          </a:solidFill>
          <a:ln/>
        </p:spPr>
        <p:txBody>
          <a:bodyPr/>
          <a:lstStyle/>
          <a:p>
            <a:endParaRPr lang="en-US"/>
          </a:p>
        </p:txBody>
      </p:sp>
      <p:sp>
        <p:nvSpPr>
          <p:cNvPr id="7" name="Text 5"/>
          <p:cNvSpPr/>
          <p:nvPr/>
        </p:nvSpPr>
        <p:spPr>
          <a:xfrm>
            <a:off x="960120" y="10972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Logique métier complexe avec des règles, des conditions, des calculs croisés</a:t>
            </a:r>
            <a:endParaRPr lang="en-US" sz="1300" dirty="0"/>
          </a:p>
        </p:txBody>
      </p:sp>
      <p:sp>
        <p:nvSpPr>
          <p:cNvPr id="8" name="Shape 6"/>
          <p:cNvSpPr/>
          <p:nvPr/>
        </p:nvSpPr>
        <p:spPr>
          <a:xfrm>
            <a:off x="548640" y="1828800"/>
            <a:ext cx="228600" cy="228600"/>
          </a:xfrm>
          <a:prstGeom prst="rect">
            <a:avLst/>
          </a:prstGeom>
          <a:solidFill>
            <a:srgbClr val="22C55E"/>
          </a:solidFill>
          <a:ln/>
        </p:spPr>
        <p:txBody>
          <a:bodyPr/>
          <a:lstStyle/>
          <a:p>
            <a:endParaRPr lang="en-US"/>
          </a:p>
        </p:txBody>
      </p:sp>
      <p:sp>
        <p:nvSpPr>
          <p:cNvPr id="9" name="Text 7"/>
          <p:cNvSpPr/>
          <p:nvPr/>
        </p:nvSpPr>
        <p:spPr>
          <a:xfrm>
            <a:off x="960120" y="169164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domaine évolue souvent (nouvelles règles, changement de comportement)</a:t>
            </a:r>
            <a:endParaRPr lang="en-US" sz="1300" dirty="0"/>
          </a:p>
        </p:txBody>
      </p:sp>
      <p:sp>
        <p:nvSpPr>
          <p:cNvPr id="10" name="Shape 8"/>
          <p:cNvSpPr/>
          <p:nvPr/>
        </p:nvSpPr>
        <p:spPr>
          <a:xfrm>
            <a:off x="548640" y="2423160"/>
            <a:ext cx="228600" cy="228600"/>
          </a:xfrm>
          <a:prstGeom prst="rect">
            <a:avLst/>
          </a:prstGeom>
          <a:solidFill>
            <a:srgbClr val="22C55E"/>
          </a:solidFill>
          <a:ln/>
        </p:spPr>
        <p:txBody>
          <a:bodyPr/>
          <a:lstStyle/>
          <a:p>
            <a:endParaRPr lang="en-US"/>
          </a:p>
        </p:txBody>
      </p:sp>
      <p:sp>
        <p:nvSpPr>
          <p:cNvPr id="11" name="Text 9"/>
          <p:cNvSpPr/>
          <p:nvPr/>
        </p:nvSpPr>
        <p:spPr>
          <a:xfrm>
            <a:off x="960120" y="228600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Application critique où les bugs métier ont un coût élevé (fintech, santé, juridique)</a:t>
            </a:r>
            <a:endParaRPr lang="en-US" sz="1300" dirty="0"/>
          </a:p>
        </p:txBody>
      </p:sp>
      <p:sp>
        <p:nvSpPr>
          <p:cNvPr id="12" name="Shape 10"/>
          <p:cNvSpPr/>
          <p:nvPr/>
        </p:nvSpPr>
        <p:spPr>
          <a:xfrm>
            <a:off x="548640" y="3017520"/>
            <a:ext cx="228600" cy="228600"/>
          </a:xfrm>
          <a:prstGeom prst="rect">
            <a:avLst/>
          </a:prstGeom>
          <a:solidFill>
            <a:srgbClr val="22C55E"/>
          </a:solidFill>
          <a:ln/>
        </p:spPr>
        <p:txBody>
          <a:bodyPr/>
          <a:lstStyle/>
          <a:p>
            <a:endParaRPr lang="en-US"/>
          </a:p>
        </p:txBody>
      </p:sp>
      <p:sp>
        <p:nvSpPr>
          <p:cNvPr id="13" name="Text 11"/>
          <p:cNvSpPr/>
          <p:nvPr/>
        </p:nvSpPr>
        <p:spPr>
          <a:xfrm>
            <a:off x="960120" y="288036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Plusieurs développeurs travaillent en parallèle sur le même domaine</a:t>
            </a:r>
            <a:endParaRPr lang="en-US" sz="1300" dirty="0"/>
          </a:p>
        </p:txBody>
      </p:sp>
      <p:sp>
        <p:nvSpPr>
          <p:cNvPr id="14" name="Shape 12"/>
          <p:cNvSpPr/>
          <p:nvPr/>
        </p:nvSpPr>
        <p:spPr>
          <a:xfrm>
            <a:off x="548640" y="3611880"/>
            <a:ext cx="228600" cy="228600"/>
          </a:xfrm>
          <a:prstGeom prst="rect">
            <a:avLst/>
          </a:prstGeom>
          <a:solidFill>
            <a:srgbClr val="22C55E"/>
          </a:solidFill>
          <a:ln/>
        </p:spPr>
        <p:txBody>
          <a:bodyPr/>
          <a:lstStyle/>
          <a:p>
            <a:endParaRPr lang="en-US"/>
          </a:p>
        </p:txBody>
      </p:sp>
      <p:sp>
        <p:nvSpPr>
          <p:cNvPr id="15" name="Text 13"/>
          <p:cNvSpPr/>
          <p:nvPr/>
        </p:nvSpPr>
        <p:spPr>
          <a:xfrm>
            <a:off x="960120" y="347472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Besoin de tests unitaires solides et rapides</a:t>
            </a:r>
            <a:endParaRPr lang="en-US" sz="1300" dirty="0"/>
          </a:p>
        </p:txBody>
      </p:sp>
      <p:sp>
        <p:nvSpPr>
          <p:cNvPr id="16" name="Shape 14"/>
          <p:cNvSpPr/>
          <p:nvPr/>
        </p:nvSpPr>
        <p:spPr>
          <a:xfrm>
            <a:off x="548640" y="4206240"/>
            <a:ext cx="228600" cy="228600"/>
          </a:xfrm>
          <a:prstGeom prst="rect">
            <a:avLst/>
          </a:prstGeom>
          <a:solidFill>
            <a:srgbClr val="22C55E"/>
          </a:solidFill>
          <a:ln/>
        </p:spPr>
        <p:txBody>
          <a:bodyPr/>
          <a:lstStyle/>
          <a:p>
            <a:endParaRPr lang="en-US"/>
          </a:p>
        </p:txBody>
      </p:sp>
      <p:sp>
        <p:nvSpPr>
          <p:cNvPr id="17" name="Text 15"/>
          <p:cNvSpPr/>
          <p:nvPr/>
        </p:nvSpPr>
        <p:spPr>
          <a:xfrm>
            <a:off x="960120" y="40690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projet va vivre longtemps (2+ ans)</a:t>
            </a:r>
            <a:endParaRPr lang="en-US" sz="1300" dirty="0"/>
          </a:p>
        </p:txBody>
      </p:sp>
      <p:sp>
        <p:nvSpPr>
          <p:cNvPr id="18" name="Text 16"/>
          <p:cNvSpPr/>
          <p:nvPr/>
        </p:nvSpPr>
        <p:spPr>
          <a:xfrm>
            <a:off x="548640" y="4663440"/>
            <a:ext cx="8046720" cy="274320"/>
          </a:xfrm>
          <a:prstGeom prst="rect">
            <a:avLst/>
          </a:prstGeom>
          <a:noFill/>
          <a:ln/>
        </p:spPr>
        <p:txBody>
          <a:bodyPr wrap="square" rtlCol="0" anchor="ctr"/>
          <a:lstStyle/>
          <a:p>
            <a:pPr marL="0" indent="0">
              <a:buNone/>
            </a:pPr>
            <a:r>
              <a:rPr lang="en-US" sz="1100" i="1" dirty="0">
                <a:solidFill>
                  <a:srgbClr val="8B99B8"/>
                </a:solidFill>
                <a:latin typeface="Calibri" pitchFamily="34" charset="0"/>
                <a:ea typeface="Calibri" pitchFamily="34" charset="-122"/>
                <a:cs typeface="Calibri" pitchFamily="34" charset="-120"/>
              </a:rPr>
              <a:t>Exemples concrets : système de paiement, moteur de tarification, workflow d'approbation, facturation avec TVA/avoirs, gestion de risques.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NO-GO — Quand éviter le DDD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56</a:t>
            </a:r>
            <a:endParaRPr lang="en-US" sz="900" dirty="0"/>
          </a:p>
        </p:txBody>
      </p:sp>
      <p:sp>
        <p:nvSpPr>
          <p:cNvPr id="6" name="Shape 4"/>
          <p:cNvSpPr/>
          <p:nvPr/>
        </p:nvSpPr>
        <p:spPr>
          <a:xfrm>
            <a:off x="548640" y="1234440"/>
            <a:ext cx="228600" cy="228600"/>
          </a:xfrm>
          <a:prstGeom prst="rect">
            <a:avLst/>
          </a:prstGeom>
          <a:solidFill>
            <a:srgbClr val="EF4444"/>
          </a:solidFill>
          <a:ln/>
        </p:spPr>
        <p:txBody>
          <a:bodyPr/>
          <a:lstStyle/>
          <a:p>
            <a:endParaRPr lang="en-US"/>
          </a:p>
        </p:txBody>
      </p:sp>
      <p:sp>
        <p:nvSpPr>
          <p:cNvPr id="7" name="Text 5"/>
          <p:cNvSpPr/>
          <p:nvPr/>
        </p:nvSpPr>
        <p:spPr>
          <a:xfrm>
            <a:off x="960120" y="10972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Simple CRUD sans logique métier (créer, lire, modifier, supprimer)</a:t>
            </a:r>
            <a:endParaRPr lang="en-US" sz="1300" dirty="0"/>
          </a:p>
        </p:txBody>
      </p:sp>
      <p:sp>
        <p:nvSpPr>
          <p:cNvPr id="8" name="Shape 6"/>
          <p:cNvSpPr/>
          <p:nvPr/>
        </p:nvSpPr>
        <p:spPr>
          <a:xfrm>
            <a:off x="548640" y="1828800"/>
            <a:ext cx="228600" cy="228600"/>
          </a:xfrm>
          <a:prstGeom prst="rect">
            <a:avLst/>
          </a:prstGeom>
          <a:solidFill>
            <a:srgbClr val="EF4444"/>
          </a:solidFill>
          <a:ln/>
        </p:spPr>
        <p:txBody>
          <a:bodyPr/>
          <a:lstStyle/>
          <a:p>
            <a:endParaRPr lang="en-US"/>
          </a:p>
        </p:txBody>
      </p:sp>
      <p:sp>
        <p:nvSpPr>
          <p:cNvPr id="9" name="Text 7"/>
          <p:cNvSpPr/>
          <p:nvPr/>
        </p:nvSpPr>
        <p:spPr>
          <a:xfrm>
            <a:off x="960120" y="169164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Prototype ou MVP à valider rapidement</a:t>
            </a:r>
            <a:endParaRPr lang="en-US" sz="1300" dirty="0"/>
          </a:p>
        </p:txBody>
      </p:sp>
      <p:sp>
        <p:nvSpPr>
          <p:cNvPr id="10" name="Shape 8"/>
          <p:cNvSpPr/>
          <p:nvPr/>
        </p:nvSpPr>
        <p:spPr>
          <a:xfrm>
            <a:off x="548640" y="2423160"/>
            <a:ext cx="228600" cy="228600"/>
          </a:xfrm>
          <a:prstGeom prst="rect">
            <a:avLst/>
          </a:prstGeom>
          <a:solidFill>
            <a:srgbClr val="EF4444"/>
          </a:solidFill>
          <a:ln/>
        </p:spPr>
        <p:txBody>
          <a:bodyPr/>
          <a:lstStyle/>
          <a:p>
            <a:endParaRPr lang="en-US"/>
          </a:p>
        </p:txBody>
      </p:sp>
      <p:sp>
        <p:nvSpPr>
          <p:cNvPr id="11" name="Text 9"/>
          <p:cNvSpPr/>
          <p:nvPr/>
        </p:nvSpPr>
        <p:spPr>
          <a:xfrm>
            <a:off x="960120" y="228600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Microservice de lecture seule (pas de mutation → pas besoin d'aggregates)</a:t>
            </a:r>
            <a:endParaRPr lang="en-US" sz="1300" dirty="0"/>
          </a:p>
        </p:txBody>
      </p:sp>
      <p:sp>
        <p:nvSpPr>
          <p:cNvPr id="12" name="Shape 10"/>
          <p:cNvSpPr/>
          <p:nvPr/>
        </p:nvSpPr>
        <p:spPr>
          <a:xfrm>
            <a:off x="548640" y="3017520"/>
            <a:ext cx="228600" cy="228600"/>
          </a:xfrm>
          <a:prstGeom prst="rect">
            <a:avLst/>
          </a:prstGeom>
          <a:solidFill>
            <a:srgbClr val="EF4444"/>
          </a:solidFill>
          <a:ln/>
        </p:spPr>
        <p:txBody>
          <a:bodyPr/>
          <a:lstStyle/>
          <a:p>
            <a:endParaRPr lang="en-US"/>
          </a:p>
        </p:txBody>
      </p:sp>
      <p:sp>
        <p:nvSpPr>
          <p:cNvPr id="13" name="Text 11"/>
          <p:cNvSpPr/>
          <p:nvPr/>
        </p:nvSpPr>
        <p:spPr>
          <a:xfrm>
            <a:off x="960120" y="288036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Script ou outil interne jetable (durée de vie courte)</a:t>
            </a:r>
            <a:endParaRPr lang="en-US" sz="1300" dirty="0"/>
          </a:p>
        </p:txBody>
      </p:sp>
      <p:sp>
        <p:nvSpPr>
          <p:cNvPr id="14" name="Shape 12"/>
          <p:cNvSpPr/>
          <p:nvPr/>
        </p:nvSpPr>
        <p:spPr>
          <a:xfrm>
            <a:off x="548640" y="3611880"/>
            <a:ext cx="228600" cy="228600"/>
          </a:xfrm>
          <a:prstGeom prst="rect">
            <a:avLst/>
          </a:prstGeom>
          <a:solidFill>
            <a:srgbClr val="EF4444"/>
          </a:solidFill>
          <a:ln/>
        </p:spPr>
        <p:txBody>
          <a:bodyPr/>
          <a:lstStyle/>
          <a:p>
            <a:endParaRPr lang="en-US"/>
          </a:p>
        </p:txBody>
      </p:sp>
      <p:sp>
        <p:nvSpPr>
          <p:cNvPr id="15" name="Text 13"/>
          <p:cNvSpPr/>
          <p:nvPr/>
        </p:nvSpPr>
        <p:spPr>
          <a:xfrm>
            <a:off x="960120" y="3474720"/>
            <a:ext cx="7635240" cy="502920"/>
          </a:xfrm>
          <a:prstGeom prst="rect">
            <a:avLst/>
          </a:prstGeom>
          <a:noFill/>
          <a:ln/>
        </p:spPr>
        <p:txBody>
          <a:bodyPr wrap="square" rtlCol="0" anchor="ctr"/>
          <a:lstStyle/>
          <a:p>
            <a:pPr marL="0" indent="0">
              <a:buNone/>
            </a:pPr>
            <a:r>
              <a:rPr lang="en-US" sz="1300" dirty="0">
                <a:solidFill>
                  <a:srgbClr val="EF4344"/>
                </a:solidFill>
                <a:latin typeface="Calibri" pitchFamily="34" charset="0"/>
                <a:ea typeface="Calibri" pitchFamily="34" charset="-122"/>
                <a:cs typeface="Calibri" pitchFamily="34" charset="-120"/>
              </a:rPr>
              <a:t>Équipe junior sans accompagnement (le DDD mal compris fait plus de mal que de bien)</a:t>
            </a:r>
            <a:endParaRPr lang="en-US" sz="1300" dirty="0">
              <a:solidFill>
                <a:srgbClr val="EF4344"/>
              </a:solidFill>
            </a:endParaRPr>
          </a:p>
        </p:txBody>
      </p:sp>
      <p:sp>
        <p:nvSpPr>
          <p:cNvPr id="16" name="Shape 14"/>
          <p:cNvSpPr/>
          <p:nvPr/>
        </p:nvSpPr>
        <p:spPr>
          <a:xfrm>
            <a:off x="548640" y="4206240"/>
            <a:ext cx="228600" cy="228600"/>
          </a:xfrm>
          <a:prstGeom prst="rect">
            <a:avLst/>
          </a:prstGeom>
          <a:solidFill>
            <a:srgbClr val="EF4444"/>
          </a:solidFill>
          <a:ln/>
        </p:spPr>
        <p:txBody>
          <a:bodyPr/>
          <a:lstStyle/>
          <a:p>
            <a:endParaRPr lang="en-US"/>
          </a:p>
        </p:txBody>
      </p:sp>
      <p:sp>
        <p:nvSpPr>
          <p:cNvPr id="17" name="Text 15"/>
          <p:cNvSpPr/>
          <p:nvPr/>
        </p:nvSpPr>
        <p:spPr>
          <a:xfrm>
            <a:off x="960120" y="40690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Deadline serrée sans possibilité de refactorer ensuite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L'approche pragmatique : le DDD sélectif</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57</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On n'est pas obligé de mettre du DDD partout. Dans un projet, certains modules sont des CRUD simples et d'autres ont une logique métier riche.</a:t>
            </a:r>
            <a:endParaRPr lang="en-US" sz="1400" dirty="0"/>
          </a:p>
        </p:txBody>
      </p:sp>
      <p:sp>
        <p:nvSpPr>
          <p:cNvPr id="7" name="Shape 5"/>
          <p:cNvSpPr/>
          <p:nvPr/>
        </p:nvSpPr>
        <p:spPr>
          <a:xfrm>
            <a:off x="548640" y="1737360"/>
            <a:ext cx="8046720" cy="10972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Text 6"/>
          <p:cNvSpPr/>
          <p:nvPr/>
        </p:nvSpPr>
        <p:spPr>
          <a:xfrm>
            <a:off x="822960" y="1828800"/>
            <a:ext cx="7498080" cy="91440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La règle : </a:t>
            </a:r>
            <a:r>
              <a:rPr lang="en-US" sz="1500" dirty="0">
                <a:solidFill>
                  <a:srgbClr val="E8ECF4"/>
                </a:solidFill>
                <a:latin typeface="Calibri" pitchFamily="34" charset="0"/>
                <a:ea typeface="Calibri" pitchFamily="34" charset="-122"/>
                <a:cs typeface="Calibri" pitchFamily="34" charset="-120"/>
              </a:rPr>
              <a:t>identifier les modules avec une vraie logique métier et appliquer le DDD uniquement sur ceux-là.</a:t>
            </a:r>
            <a:endParaRPr lang="en-US" sz="1500" dirty="0"/>
          </a:p>
          <a:p>
            <a:pPr marL="0" indent="0">
              <a:buNone/>
            </a:pP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Le reste reste en CRUD classique !!!</a:t>
            </a:r>
            <a:endParaRPr lang="en-US" sz="1500" dirty="0"/>
          </a:p>
        </p:txBody>
      </p:sp>
      <p:sp>
        <p:nvSpPr>
          <p:cNvPr id="9" name="Shape 7"/>
          <p:cNvSpPr/>
          <p:nvPr/>
        </p:nvSpPr>
        <p:spPr>
          <a:xfrm>
            <a:off x="548640" y="3108960"/>
            <a:ext cx="384048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3108960"/>
            <a:ext cx="3840480" cy="365760"/>
          </a:xfrm>
          <a:prstGeom prst="rect">
            <a:avLst/>
          </a:prstGeom>
          <a:solidFill>
            <a:srgbClr val="22C55E">
              <a:alpha val="40000"/>
            </a:srgbClr>
          </a:solidFill>
          <a:ln/>
        </p:spPr>
        <p:txBody>
          <a:bodyPr/>
          <a:lstStyle/>
          <a:p>
            <a:endParaRPr lang="en-US"/>
          </a:p>
        </p:txBody>
      </p:sp>
      <p:sp>
        <p:nvSpPr>
          <p:cNvPr id="11" name="Text 9"/>
          <p:cNvSpPr/>
          <p:nvPr/>
        </p:nvSpPr>
        <p:spPr>
          <a:xfrm>
            <a:off x="731520" y="3127248"/>
            <a:ext cx="34747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DDD</a:t>
            </a:r>
            <a:endParaRPr lang="en-US" sz="1200" dirty="0"/>
          </a:p>
        </p:txBody>
      </p:sp>
      <p:sp>
        <p:nvSpPr>
          <p:cNvPr id="12" name="Text 10"/>
          <p:cNvSpPr/>
          <p:nvPr/>
        </p:nvSpPr>
        <p:spPr>
          <a:xfrm>
            <a:off x="731520" y="3566160"/>
            <a:ext cx="3474720" cy="8229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Modules avec logique métier riche</a:t>
            </a:r>
            <a:endParaRPr lang="en-US" sz="1200" dirty="0"/>
          </a:p>
          <a:p>
            <a:pPr marL="0" indent="0">
              <a:buNone/>
            </a:pPr>
            <a:r>
              <a:rPr lang="en-US" sz="1200" dirty="0">
                <a:solidFill>
                  <a:srgbClr val="E8ECF4"/>
                </a:solidFill>
                <a:latin typeface="Calibri" pitchFamily="34" charset="0"/>
                <a:ea typeface="Calibri" pitchFamily="34" charset="-122"/>
                <a:cs typeface="Calibri" pitchFamily="34" charset="-120"/>
              </a:rPr>
              <a:t>(paiement, tarification, workflow)</a:t>
            </a:r>
            <a:endParaRPr lang="en-US" sz="1200" dirty="0"/>
          </a:p>
        </p:txBody>
      </p:sp>
      <p:sp>
        <p:nvSpPr>
          <p:cNvPr id="13" name="Shape 11"/>
          <p:cNvSpPr/>
          <p:nvPr/>
        </p:nvSpPr>
        <p:spPr>
          <a:xfrm>
            <a:off x="4754880" y="3108960"/>
            <a:ext cx="384048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4754880" y="3108960"/>
            <a:ext cx="3840480" cy="365760"/>
          </a:xfrm>
          <a:prstGeom prst="rect">
            <a:avLst/>
          </a:prstGeom>
          <a:solidFill>
            <a:srgbClr val="8B99B8">
              <a:alpha val="40000"/>
            </a:srgbClr>
          </a:solidFill>
          <a:ln/>
        </p:spPr>
        <p:txBody>
          <a:bodyPr/>
          <a:lstStyle/>
          <a:p>
            <a:endParaRPr lang="en-US">
              <a:solidFill>
                <a:schemeClr val="accent2"/>
              </a:solidFill>
            </a:endParaRPr>
          </a:p>
        </p:txBody>
      </p:sp>
      <p:sp>
        <p:nvSpPr>
          <p:cNvPr id="15" name="Text 13"/>
          <p:cNvSpPr/>
          <p:nvPr/>
        </p:nvSpPr>
        <p:spPr>
          <a:xfrm>
            <a:off x="4937760" y="3127248"/>
            <a:ext cx="34747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CRUD</a:t>
            </a:r>
            <a:endParaRPr lang="en-US" sz="1200" dirty="0"/>
          </a:p>
        </p:txBody>
      </p:sp>
      <p:sp>
        <p:nvSpPr>
          <p:cNvPr id="16" name="Text 14"/>
          <p:cNvSpPr/>
          <p:nvPr/>
        </p:nvSpPr>
        <p:spPr>
          <a:xfrm>
            <a:off x="4937760" y="3566160"/>
            <a:ext cx="3474720" cy="8229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Modules simples sans logique</a:t>
            </a:r>
            <a:endParaRPr lang="en-US" sz="1200" dirty="0"/>
          </a:p>
          <a:p>
            <a:pPr marL="0" indent="0">
              <a:buNone/>
            </a:pPr>
            <a:r>
              <a:rPr lang="en-US" sz="1200" dirty="0">
                <a:solidFill>
                  <a:srgbClr val="E8ECF4"/>
                </a:solidFill>
                <a:latin typeface="Calibri" pitchFamily="34" charset="0"/>
                <a:ea typeface="Calibri" pitchFamily="34" charset="-122"/>
                <a:cs typeface="Calibri" pitchFamily="34" charset="-120"/>
              </a:rPr>
              <a:t>(paramètres, logs, notifications)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737360"/>
            <a:ext cx="6400800" cy="7315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Le DDD n'est pas une religion.</a:t>
            </a:r>
            <a:endParaRPr lang="en-US" sz="2800" dirty="0"/>
          </a:p>
        </p:txBody>
      </p:sp>
      <p:sp>
        <p:nvSpPr>
          <p:cNvPr id="5" name="Text 3"/>
          <p:cNvSpPr/>
          <p:nvPr/>
        </p:nvSpPr>
        <p:spPr>
          <a:xfrm>
            <a:off x="1371600" y="2560320"/>
            <a:ext cx="6400800" cy="731520"/>
          </a:xfrm>
          <a:prstGeom prst="rect">
            <a:avLst/>
          </a:prstGeom>
          <a:noFill/>
          <a:ln/>
        </p:spPr>
        <p:txBody>
          <a:bodyPr wrap="square" rtlCol="0" anchor="ctr"/>
          <a:lstStyle/>
          <a:p>
            <a:pPr marL="0" indent="0" algn="ctr">
              <a:buNone/>
            </a:pPr>
            <a:r>
              <a:rPr lang="en-US" sz="1800" dirty="0">
                <a:solidFill>
                  <a:srgbClr val="00BFFF"/>
                </a:solidFill>
                <a:latin typeface="Calibri" pitchFamily="34" charset="0"/>
                <a:ea typeface="Calibri" pitchFamily="34" charset="-122"/>
                <a:cs typeface="Calibri" pitchFamily="34" charset="-120"/>
              </a:rPr>
              <a:t>C'est un outil. On l'utilise là où il apporte de la valeur, et on le laisse de côté ailleurs.</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33972B-281C-6CE5-C558-9CCEA4D00A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379766-936C-20EA-2345-78F5187AA6FC}"/>
              </a:ext>
            </a:extLst>
          </p:cNvPr>
          <p:cNvSpPr/>
          <p:nvPr/>
        </p:nvSpPr>
        <p:spPr>
          <a:xfrm>
            <a:off x="0" y="202311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Questions</a:t>
            </a:r>
            <a:endParaRPr lang="en-US" sz="6000" dirty="0"/>
          </a:p>
        </p:txBody>
      </p:sp>
      <p:sp>
        <p:nvSpPr>
          <p:cNvPr id="3" name="Text 1">
            <a:extLst>
              <a:ext uri="{FF2B5EF4-FFF2-40B4-BE49-F238E27FC236}">
                <a16:creationId xmlns:a16="http://schemas.microsoft.com/office/drawing/2014/main" id="{BB081A5C-10DE-CECD-E285-5BB62C11CC8D}"/>
              </a:ext>
            </a:extLst>
          </p:cNvPr>
          <p:cNvSpPr/>
          <p:nvPr/>
        </p:nvSpPr>
        <p:spPr>
          <a:xfrm>
            <a:off x="914400" y="2560320"/>
            <a:ext cx="7315200" cy="731520"/>
          </a:xfrm>
          <a:prstGeom prst="rect">
            <a:avLst/>
          </a:prstGeom>
          <a:noFill/>
          <a:ln/>
        </p:spPr>
        <p:txBody>
          <a:bodyPr wrap="square" rtlCol="0" anchor="ctr"/>
          <a:lstStyle/>
          <a:p>
            <a:pPr marL="0" indent="0" algn="ctr">
              <a:buNone/>
            </a:pPr>
            <a:endParaRPr lang="en-US" sz="2400" dirty="0"/>
          </a:p>
        </p:txBody>
      </p:sp>
      <p:sp>
        <p:nvSpPr>
          <p:cNvPr id="5" name="Text 3">
            <a:extLst>
              <a:ext uri="{FF2B5EF4-FFF2-40B4-BE49-F238E27FC236}">
                <a16:creationId xmlns:a16="http://schemas.microsoft.com/office/drawing/2014/main" id="{CAC02CA5-9FCA-ADC7-4313-7C20B93AE02D}"/>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extLst>
      <p:ext uri="{BB962C8B-B14F-4D97-AF65-F5344CB8AC3E}">
        <p14:creationId xmlns:p14="http://schemas.microsoft.com/office/powerpoint/2010/main" val="639618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115F776-E835-CD61-5129-6FCF1C9AC4D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EEC051-FBB6-547E-66EC-AB5E9C3CAA24}"/>
              </a:ext>
            </a:extLst>
          </p:cNvPr>
          <p:cNvSpPr/>
          <p:nvPr/>
        </p:nvSpPr>
        <p:spPr>
          <a:xfrm>
            <a:off x="0" y="202311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Merci</a:t>
            </a:r>
            <a:endParaRPr lang="en-US" sz="6000" dirty="0"/>
          </a:p>
        </p:txBody>
      </p:sp>
      <p:sp>
        <p:nvSpPr>
          <p:cNvPr id="3" name="Text 1">
            <a:extLst>
              <a:ext uri="{FF2B5EF4-FFF2-40B4-BE49-F238E27FC236}">
                <a16:creationId xmlns:a16="http://schemas.microsoft.com/office/drawing/2014/main" id="{7C7098F6-488C-ADED-03A5-4D216528F4A0}"/>
              </a:ext>
            </a:extLst>
          </p:cNvPr>
          <p:cNvSpPr/>
          <p:nvPr/>
        </p:nvSpPr>
        <p:spPr>
          <a:xfrm>
            <a:off x="914400" y="2560320"/>
            <a:ext cx="7315200" cy="731520"/>
          </a:xfrm>
          <a:prstGeom prst="rect">
            <a:avLst/>
          </a:prstGeom>
          <a:noFill/>
          <a:ln/>
        </p:spPr>
        <p:txBody>
          <a:bodyPr wrap="square" rtlCol="0" anchor="ctr"/>
          <a:lstStyle/>
          <a:p>
            <a:pPr marL="0" indent="0" algn="ctr">
              <a:buNone/>
            </a:pPr>
            <a:endParaRPr lang="en-US" sz="2400" dirty="0"/>
          </a:p>
        </p:txBody>
      </p:sp>
      <p:sp>
        <p:nvSpPr>
          <p:cNvPr id="5" name="Text 3">
            <a:extLst>
              <a:ext uri="{FF2B5EF4-FFF2-40B4-BE49-F238E27FC236}">
                <a16:creationId xmlns:a16="http://schemas.microsoft.com/office/drawing/2014/main" id="{4CDC8D5E-1A2D-1562-3FF3-25E3BA5D52D3}"/>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extLst>
      <p:ext uri="{BB962C8B-B14F-4D97-AF65-F5344CB8AC3E}">
        <p14:creationId xmlns:p14="http://schemas.microsoft.com/office/powerpoint/2010/main" val="359128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TotalTime>
  <Words>3182</Words>
  <Application>Microsoft Macintosh PowerPoint</Application>
  <PresentationFormat>On-screen Show (16:9)</PresentationFormat>
  <Paragraphs>467</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Teck Talk - Initiation au DDD et à la Clean Architecture</dc:title>
  <dc:subject>PptxGenJS Presentation</dc:subject>
  <dc:creator>Jeremy Fleury</dc:creator>
  <cp:lastModifiedBy>Jérémy Fleury</cp:lastModifiedBy>
  <cp:revision>3</cp:revision>
  <dcterms:created xsi:type="dcterms:W3CDTF">2026-02-17T10:33:10Z</dcterms:created>
  <dcterms:modified xsi:type="dcterms:W3CDTF">2026-02-17T16:37:30Z</dcterms:modified>
</cp:coreProperties>
</file>